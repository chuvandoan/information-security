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9144000"/>
  <p:notesSz cx="7102475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gtiFt7a9Z1OlLQJbEDTaWXjkkr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9" name="Google Shape;229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" name="Google Shape;23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5" name="Google Shape;255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8c5e933e9_0_66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118c5e933e9_0_66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2" name="Google Shape;292;g118c5e933e9_0_6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6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3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9" name="Google Shape;349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8" name="Google Shape;358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4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3" name="Google Shape;403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4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2" name="Google Shape;412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0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0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0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0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38200" y="2282825"/>
            <a:ext cx="7772400" cy="2200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ИББД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Лекция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91" name="Google Shape;91;p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400050" y="74918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Транзакции</a:t>
            </a:r>
            <a:endParaRPr b="0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400050" y="1290882"/>
            <a:ext cx="8343900" cy="22839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lnSpcReduction="10000"/>
          </a:bodyPr>
          <a:lstStyle/>
          <a:p>
            <a:pPr indent="-161925" lvl="0" marL="257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Транзакция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–неделимая с точки зрения воздействия на БД последовательность операторов манипулирования данными (чтения, удаления, вставки, модификации), такая, что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либо результаты всех операторов, входящих в транзакцию, отображаются в БД;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либо воздействие всех операторов полностью отсутствует.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or nothing approach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00" name="Google Shape;100;p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577075" y="74611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Свойства транзакций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439152" y="1734850"/>
            <a:ext cx="7549816" cy="23611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257175" lvl="0" marL="257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Атомарность</a:t>
            </a:r>
            <a:endParaRPr/>
          </a:p>
          <a:p>
            <a:pPr indent="-257175" lvl="0" marL="25717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Согласованность</a:t>
            </a:r>
            <a:endParaRPr/>
          </a:p>
          <a:p>
            <a:pPr indent="-257175" lvl="0" marL="25717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Изолированность</a:t>
            </a:r>
            <a:endParaRPr/>
          </a:p>
          <a:p>
            <a:pPr indent="-257175" lvl="0" marL="25717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Надежность</a:t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1742" y="1734851"/>
            <a:ext cx="48006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110" name="Google Shape;110;p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61626" y="75861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Аномалии. Потерянное обновление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61626" y="1406377"/>
            <a:ext cx="8245490" cy="10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257175" lvl="0" marL="257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Потерянное обновление (Lost update)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Множественное изменение одного блока приводит к сохранению только последнего изменения.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2813" y="2545847"/>
            <a:ext cx="6538577" cy="2783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120" name="Google Shape;120;p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435473" y="60633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9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Аномалии. Грязное чтение</a:t>
            </a:r>
            <a:endParaRPr b="0" i="0" sz="10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435473" y="974852"/>
            <a:ext cx="6896100" cy="1064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257175" lvl="0" marL="257175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«Грязное» чтение (Dirty read)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Чтение данных, которые впоследствии отменяются (откатываются).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406" y="2118627"/>
            <a:ext cx="6667187" cy="3232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130" name="Google Shape;130;p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386050" y="47664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Аномалии. Неповторяющееся чтение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06952" y="913415"/>
            <a:ext cx="7810500" cy="10941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257175" lvl="0" marL="257175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Неповторяющееся чтение (Non-repeatable read)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Получение разных данных при повторном чтении в рамках одной транзакции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698" y="1829832"/>
            <a:ext cx="4939009" cy="3489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140" name="Google Shape;140;p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577074" y="454246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Аномалии. Фантомное чтение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710938" y="757862"/>
            <a:ext cx="7378700" cy="8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fontScale="92500" lnSpcReduction="10000"/>
          </a:bodyPr>
          <a:lstStyle/>
          <a:p>
            <a:pPr indent="-257206" lvl="0" marL="257175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Фантомное чтение (Phantom reads)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32"/>
              </a:spcBef>
              <a:spcAft>
                <a:spcPts val="0"/>
              </a:spcAft>
              <a:buNone/>
            </a:pPr>
            <a:r>
              <a:rPr b="0" i="0" lang="ru-RU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Получение в рамках одной транзакции разного набора строк с использованием одного и того же условия выборки.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847" y="1893751"/>
            <a:ext cx="4764881" cy="3378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5534" y="1876745"/>
            <a:ext cx="4568006" cy="24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151" name="Google Shape;151;p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577074" y="81007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Уровни изоляции транзакций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5629667" y="3690733"/>
            <a:ext cx="2250000" cy="55397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Чтение неподтверждённых данных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5459435" y="3272589"/>
            <a:ext cx="2250000" cy="55397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Чтение подтверждённых данных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5230010" y="2810045"/>
            <a:ext cx="2250000" cy="34622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Повторяющееся чтение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4756367" y="1877552"/>
            <a:ext cx="2250000" cy="34622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Сериализация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5037598" y="2368258"/>
            <a:ext cx="2250000" cy="34622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Снимок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164" name="Google Shape;164;p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561626" y="42811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Чтение неподтвержденных данных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561626" y="3906896"/>
            <a:ext cx="8245490" cy="26040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Разрешено чтение неподтвержденных данных (данные незавершившихся транзакций);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Изменения одних и тех же данных, выполняемые параллельно, на самом деле выполняются последовательно (выстраиваются в очередь).</a:t>
            </a:r>
            <a:endParaRPr/>
          </a:p>
          <a:p>
            <a:pPr indent="-1397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711" y="805182"/>
            <a:ext cx="6538577" cy="2783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174" name="Google Shape;174;p1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548542" y="297293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Чтение подтвержденных данных</a:t>
            </a:r>
            <a:endParaRPr b="0" i="0" sz="2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642" y="719283"/>
            <a:ext cx="6667187" cy="323228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1"/>
          <p:cNvSpPr txBox="1"/>
          <p:nvPr/>
        </p:nvSpPr>
        <p:spPr>
          <a:xfrm>
            <a:off x="548542" y="4020449"/>
            <a:ext cx="8245490" cy="26040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Разрешено чтение своих изменений;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Разрешено чтение только зафиксированных/подтвержденных данных параллельно работающих транзакций;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Уровень изоляции реализуется за счет блокировки не только операций по изменению данных в целевом блоке, но и за счет блокировки операций чтения данных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184" name="Google Shape;184;p1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397066" y="325756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Повторяющееся чтение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666750" y="5292411"/>
            <a:ext cx="7810500" cy="10941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После прочтения блока данных транзакцией – блок данных блокируется (данный блок параллельная транзакция прочитать не сможет)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3132" y="851525"/>
            <a:ext cx="4939009" cy="3489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194" name="Google Shape;194;p1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397066" y="325756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Снимок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259265" y="4695147"/>
            <a:ext cx="8719481" cy="13774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Создает снимок БД (или части, над которой выполняется преобразование);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Прочитанные данные остаются доступны для изменения параллельным транзакциям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3132" y="785424"/>
            <a:ext cx="4939009" cy="3489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204" name="Google Shape;204;p1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77074" y="33624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Сериализация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538429" y="4626928"/>
            <a:ext cx="8258454" cy="8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Все транзакции выполняются не параллельно, а последовательно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983" y="928279"/>
            <a:ext cx="4764881" cy="3378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214" name="Google Shape;214;p2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77074" y="660326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Уровни изоляции транзакций как защита от аномалий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951" y="1734851"/>
            <a:ext cx="6548099" cy="2531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23" name="Google Shape;223;p2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29424" y="64604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Виды блокировок. Диспетчер блокировок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800100" y="1290882"/>
            <a:ext cx="8134580" cy="24750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61925" lvl="0" marL="257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эксклюзивная блокировка;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совместная блокировка</a:t>
            </a:r>
            <a:endParaRPr/>
          </a:p>
          <a:p>
            <a:pPr indent="-101600" lvl="0" marL="2286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Возможная проблема подхода: взаимная блокировка (deadlock)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32" name="Google Shape;232;p2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429424" y="64604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Версионность данных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429424" y="1290882"/>
            <a:ext cx="8505256" cy="4019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Параллельные транзакции могут модифицировать одни и те же данные в одно и то же время;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Каждая транзакция работает с собственной копией (версией/слепком) данных.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две транзакции изменяют одни и те же данные, то принимается только одна из модификаций, другая будет отклонена, а сделавшая её транзакция будет откачена/перезапущена.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Преимущества:</a:t>
            </a:r>
            <a:b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Транзакции чтением данных не блокируют процесс записи, и наоборот.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Диспетчер блокировок может работать медленно при большом количестве транзакций.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41" name="Google Shape;241;p2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429424" y="64604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Диспетчер логов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429424" y="1290882"/>
            <a:ext cx="8505256" cy="4019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Способ ведения логов: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b="1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Теневые копии/страницы </a:t>
            </a: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создается копия БД для каждой транзакции. В случае отката транзакции, копия удаляется. Если транзакция успешно завершилась, то актуальная БД в памяти «подменяется» теневой копией.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b="1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 транзакции </a:t>
            </a:r>
            <a:r>
              <a:rPr b="0" i="0" lang="ru-RU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специальное хранилище, в которое помещается информация об изменениях перед каждой записью на диск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154723" y="306393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Способы ведения журналов транзакций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512" y="881351"/>
            <a:ext cx="7718976" cy="4015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58" name="Google Shape;258;p2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259266" y="569813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Правила опережающей записи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450169" y="1031463"/>
            <a:ext cx="8429426" cy="49406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Write-ahead logging, WAL – </a:t>
            </a:r>
            <a:r>
              <a:rPr b="0" i="0" lang="ru-RU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журнал содержит значения, которые данные имели до и после их изменения транзакцией.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Каждая операция (добавления/изменения/удаления) во время выполнения транзакции ведет к появлению записи в логе. Запись имеет следующую структуру: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Уникальный номер записи;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Идентификатор транзакции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Номер страницы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Ссылка на предыдущую запись в логе (созданную той же транзакцией)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Запись UNDO (способ отката операции)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Запись REDO (способ повтора операции)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267" name="Google Shape;267;p1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561626" y="66032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Типы журнальных записей</a:t>
            </a:r>
            <a:endParaRPr b="1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561626" y="1154691"/>
            <a:ext cx="8245490" cy="36907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BEGIN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COMMIT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ROLLBACK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UNDO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REDO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CHECKPOINT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154723" y="306393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Стратегии ведения журнала (записи в журнал)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5" y="717300"/>
            <a:ext cx="641985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517794" y="4738833"/>
            <a:ext cx="8271100" cy="18127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fontScale="5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Steal</a:t>
            </a:r>
            <a:r>
              <a:rPr b="0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результаты выполнения транзакции могут быть отправлены на диск с момента старта транзакции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steal </a:t>
            </a:r>
            <a:r>
              <a:rPr b="0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результаты выполнения транзакции могут быть отправлены только в случае, если транзакция подтверждена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Force</a:t>
            </a:r>
            <a:r>
              <a:rPr b="0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данные транзакции должны быть отправлены на диск не позже коммита (данные сразу отправляются на диск)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force </a:t>
            </a:r>
            <a:r>
              <a:rPr b="0" i="0" lang="ru-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данные транзакции могут быть отправлены на диск даже после коммита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154723" y="45292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Стратегии ведения журнала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259266" y="903375"/>
            <a:ext cx="3640769" cy="12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 / NO FORCE. 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STEAL / NO STEAL. 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4231115" y="295275"/>
            <a:ext cx="4566655" cy="37402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Стратегии ведения журнальных записей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FORCE + NO STEAL.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FORCE + STEAL.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FORCE + NO STEAL. 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FORCE + STEAL. </a:t>
            </a:r>
            <a:endParaRPr/>
          </a:p>
        </p:txBody>
      </p:sp>
      <p:pic>
        <p:nvPicPr>
          <p:cNvPr id="288" name="Google Shape;2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90" y="3008184"/>
            <a:ext cx="7296150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18c5e933e9_0_661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95" name="Google Shape;295;g118c5e933e9_0_66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96" name="Google Shape;296;g118c5e933e9_0_661"/>
          <p:cNvSpPr txBox="1"/>
          <p:nvPr/>
        </p:nvSpPr>
        <p:spPr>
          <a:xfrm>
            <a:off x="440441" y="88231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Обеспечение сохранности данных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118c5e933e9_0_661"/>
          <p:cNvSpPr txBox="1"/>
          <p:nvPr/>
        </p:nvSpPr>
        <p:spPr>
          <a:xfrm>
            <a:off x="789083" y="1290882"/>
            <a:ext cx="8112546" cy="22839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61925" lvl="0" marL="257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Индивидуальные откаты транзакций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Мягкий сбой системы (отказ ПО, сервера)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Жесткий сбой системы (отказ аппаратуры, разрушение энергонезависимых носителей информации)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304" name="Google Shape;304;p1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489184" y="348333"/>
            <a:ext cx="6731684" cy="574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Индивидуальный откат транзакции</a:t>
            </a:r>
            <a:endParaRPr b="1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882650" y="1154691"/>
            <a:ext cx="7378700" cy="8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75" lvl="0" marL="257175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Анализируем список журнальных записей, сделанных транзакцией (от последнего изменения к первому)</a:t>
            </a:r>
            <a:endParaRPr/>
          </a:p>
          <a:p>
            <a:pPr indent="-257175" lvl="0" marL="257175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Выполняем обратную операцию для каждой операции транзакции</a:t>
            </a:r>
            <a:endParaRPr/>
          </a:p>
          <a:p>
            <a:pPr indent="0" lvl="1" marL="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* вместо insert выполняем delete</a:t>
            </a:r>
            <a:endParaRPr/>
          </a:p>
          <a:p>
            <a:pPr indent="0" lvl="1" marL="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* вместо delete выполняем insert</a:t>
            </a:r>
            <a:endParaRPr/>
          </a:p>
          <a:p>
            <a:pPr indent="0" lvl="1" marL="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* вместо update выполняем обратный update</a:t>
            </a:r>
            <a:endParaRPr/>
          </a:p>
          <a:p>
            <a:pPr indent="-457200" lvl="1" marL="45720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Любая из обратных операций также журналируется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45720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 завершении отката также вносим в журнал информацию о конце транзакции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313" name="Google Shape;313;p2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14" name="Google Shape;314;p28"/>
          <p:cNvSpPr txBox="1"/>
          <p:nvPr/>
        </p:nvSpPr>
        <p:spPr>
          <a:xfrm>
            <a:off x="489184" y="224279"/>
            <a:ext cx="6731684" cy="574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Мягкий сбой. Журнальные записи</a:t>
            </a:r>
            <a:endParaRPr b="1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3722" y="799157"/>
            <a:ext cx="5430971" cy="370319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 txBox="1"/>
          <p:nvPr/>
        </p:nvSpPr>
        <p:spPr>
          <a:xfrm>
            <a:off x="970784" y="4502350"/>
            <a:ext cx="7378700" cy="19360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75" lvl="0" marL="257175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 – не требует действий</a:t>
            </a:r>
            <a:endParaRPr/>
          </a:p>
          <a:p>
            <a:pPr indent="-257175" lvl="0" marL="257175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 – повторяем транзакцию</a:t>
            </a:r>
            <a:endParaRPr/>
          </a:p>
          <a:p>
            <a:pPr indent="-257175" lvl="0" marL="257175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T3 – откатываем транзакцию</a:t>
            </a:r>
            <a:endParaRPr/>
          </a:p>
          <a:p>
            <a:pPr indent="-257175" lvl="0" marL="257175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T4 – повторяем транзакцию</a:t>
            </a:r>
            <a:endParaRPr/>
          </a:p>
          <a:p>
            <a:pPr indent="-257175" lvl="0" marL="257175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T5 – восстановлению не подлежит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323" name="Google Shape;323;p2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489183" y="224279"/>
            <a:ext cx="7988991" cy="574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Мягкий сбой. Восстановление. Повторное выполнение и откат</a:t>
            </a:r>
            <a:endParaRPr b="1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184" y="722039"/>
            <a:ext cx="5430971" cy="370319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/>
        </p:nvSpPr>
        <p:spPr>
          <a:xfrm>
            <a:off x="970784" y="4502350"/>
            <a:ext cx="7378700" cy="19360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arenR"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Создаем список UNDO и REDO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arenR"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Если на момент контрольной точки транзакция не завершилась добавляем в UNDO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arenR"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Анализируем журнал с момента контрольной точки до момента отказа. Если встретили запись COMMIT, добавляем транзакцию в REDO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arenR"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Убираем из UNDO транзакции, которые есть в REDO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arenR"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Откатываем все транзакции в UNDO, повторяем все транзакции в REDO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333" name="Google Shape;333;p3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77504" y="321933"/>
            <a:ext cx="7988991" cy="574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Жесткий сбой. Восстановление. </a:t>
            </a:r>
            <a:endParaRPr b="1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77075" y="1018501"/>
            <a:ext cx="7892222" cy="26479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Возможно с использованием архивной копии базы данных и журнала транзакций, которые в лучшем случае должны физически находиться на других носителях (и периодически обновляться).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Алгоритм восстановления:</a:t>
            </a:r>
            <a:endParaRPr/>
          </a:p>
          <a:p>
            <a:pPr indent="0" lvl="3" marL="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Сначала восстанавливаются база данных и журнал из архивных копий</a:t>
            </a:r>
            <a:endParaRPr/>
          </a:p>
          <a:p>
            <a:pPr indent="0" lvl="3" marL="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Выполняется восстановление транзакций как при мягком сбое, начиная от  контрольной точки до момента создания архивной копии (базы данных и журнала)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342" name="Google Shape;342;p3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577504" y="321933"/>
            <a:ext cx="7988991" cy="574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Подходы к решению проблемы взаимных блокировок</a:t>
            </a:r>
            <a:endParaRPr b="1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577075" y="3761701"/>
            <a:ext cx="7892222" cy="191312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Оптимистичный подход </a:t>
            </a: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позволяем блокировкам происходить, в случае возникновения взаимной блокировки – откатываем одну из транзакций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Пессимистичный подход </a:t>
            </a: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не начинаем транзакции, если есть риск возникновения взаимной блокировки. Строим граф, если есть циклы, то при запуске транзакции это учитываем.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Двухфазная блокировка </a:t>
            </a: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транзакции перед стартом захватывают все необходимые им ресурсы.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2717" y="838486"/>
            <a:ext cx="4482488" cy="2257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52" name="Google Shape;352;p3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53" name="Google Shape;353;p36"/>
          <p:cNvSpPr txBox="1"/>
          <p:nvPr/>
        </p:nvSpPr>
        <p:spPr>
          <a:xfrm>
            <a:off x="410706" y="57655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Обеспечение сохранности данных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544" y="1181454"/>
            <a:ext cx="4266912" cy="4658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61" name="Google Shape;361;p3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62" name="Google Shape;362;p37"/>
          <p:cNvSpPr txBox="1"/>
          <p:nvPr/>
        </p:nvSpPr>
        <p:spPr>
          <a:xfrm>
            <a:off x="439152" y="66032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Преимущества и недостатки использования представлений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7"/>
          <p:cNvSpPr txBox="1"/>
          <p:nvPr/>
        </p:nvSpPr>
        <p:spPr>
          <a:xfrm>
            <a:off x="439152" y="1376675"/>
            <a:ext cx="8299268" cy="39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Преимущества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Упрощение выполнения запросов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Возможность построения простого и надежного API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Упрощение бизнес-логики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Минимум накладных расходов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Производительность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Безопасность</a:t>
            </a:r>
            <a:endParaRPr/>
          </a:p>
          <a:p>
            <a:pPr indent="-115252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Недостатки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Избыточность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Дополнительный код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Ограниченность возможностей</a:t>
            </a:r>
            <a:endParaRPr/>
          </a:p>
          <a:p>
            <a:pPr indent="-115252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370" name="Google Shape;370;p3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71" name="Google Shape;371;p38"/>
          <p:cNvSpPr txBox="1"/>
          <p:nvPr/>
        </p:nvSpPr>
        <p:spPr>
          <a:xfrm>
            <a:off x="446217" y="50131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Триггеры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5378" y="1154691"/>
            <a:ext cx="3093244" cy="4329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379" name="Google Shape;379;p3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80" name="Google Shape;380;p39"/>
          <p:cNvSpPr txBox="1"/>
          <p:nvPr/>
        </p:nvSpPr>
        <p:spPr>
          <a:xfrm>
            <a:off x="435472" y="75785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Применение триггеров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9"/>
          <p:cNvSpPr txBox="1"/>
          <p:nvPr/>
        </p:nvSpPr>
        <p:spPr>
          <a:xfrm>
            <a:off x="435472" y="1566857"/>
            <a:ext cx="8247641" cy="39914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организация каскадных операций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обновление данных;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обеспечение консистентности базы данных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контроль операций модификации данных;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контроль мощности связей;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контроль формата и значений данных.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388" name="Google Shape;388;p4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89" name="Google Shape;389;p42"/>
          <p:cNvSpPr txBox="1"/>
          <p:nvPr/>
        </p:nvSpPr>
        <p:spPr>
          <a:xfrm>
            <a:off x="499484" y="60908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Хранимые подпрограммы</a:t>
            </a:r>
            <a:endParaRPr b="1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506" y="1154691"/>
            <a:ext cx="7918789" cy="424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397" name="Google Shape;397;p4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98" name="Google Shape;398;p43"/>
          <p:cNvSpPr txBox="1"/>
          <p:nvPr/>
        </p:nvSpPr>
        <p:spPr>
          <a:xfrm>
            <a:off x="561627" y="102158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Преимущества и недостатки хранимых подпрограмм</a:t>
            </a:r>
            <a:endParaRPr b="1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3"/>
          <p:cNvSpPr txBox="1"/>
          <p:nvPr/>
        </p:nvSpPr>
        <p:spPr>
          <a:xfrm>
            <a:off x="473736" y="1734851"/>
            <a:ext cx="7378700" cy="8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Преимущества: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подпрограммы описаны один раз;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короткий вызов подпрограммы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читаемость кода;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подпрограмма работает на стороне СУБД.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Недостатки: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снижение производительности;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проблемы с безопасностью.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06" name="Google Shape;406;p4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07" name="Google Shape;407;p44"/>
          <p:cNvSpPr txBox="1"/>
          <p:nvPr/>
        </p:nvSpPr>
        <p:spPr>
          <a:xfrm>
            <a:off x="561627" y="102158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Управление доступом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4"/>
          <p:cNvSpPr txBox="1"/>
          <p:nvPr/>
        </p:nvSpPr>
        <p:spPr>
          <a:xfrm>
            <a:off x="577075" y="1521786"/>
            <a:ext cx="8299268" cy="39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Субъекты: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пользователи;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администратор.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Объекты: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таблицы;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Функции;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Представления.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Привилегии: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чтение;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запись</a:t>
            </a:r>
            <a:endParaRPr/>
          </a:p>
          <a:p>
            <a:pPr indent="-115252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15" name="Google Shape;415;p4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16" name="Google Shape;416;p45"/>
          <p:cNvSpPr txBox="1"/>
          <p:nvPr/>
        </p:nvSpPr>
        <p:spPr>
          <a:xfrm>
            <a:off x="561627" y="102158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Преимущества и недостатки использования представлений</a:t>
            </a:r>
            <a:endParaRPr b="1" i="0" sz="19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5"/>
          <p:cNvSpPr txBox="1"/>
          <p:nvPr/>
        </p:nvSpPr>
        <p:spPr>
          <a:xfrm>
            <a:off x="439152" y="1734850"/>
            <a:ext cx="8299268" cy="39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Ролевое разграничение доступов;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Разграничение доступа на основе аттрибутов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424" name="Google Shape;424;p4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25" name="Google Shape;425;p46"/>
          <p:cNvSpPr txBox="1"/>
          <p:nvPr/>
        </p:nvSpPr>
        <p:spPr>
          <a:xfrm>
            <a:off x="561627" y="102158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Функции ролей</a:t>
            </a:r>
            <a:endParaRPr b="1" i="0" sz="19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6"/>
          <p:cNvSpPr txBox="1"/>
          <p:nvPr/>
        </p:nvSpPr>
        <p:spPr>
          <a:xfrm>
            <a:off x="577075" y="1557297"/>
            <a:ext cx="8299268" cy="39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Роли применяются для представления различных функций: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Набор привилегий;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Пользователь базы данных.</a:t>
            </a:r>
            <a:endParaRPr/>
          </a:p>
          <a:p>
            <a:pPr indent="-9525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433" name="Google Shape;433;p4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34" name="Google Shape;434;p47"/>
          <p:cNvSpPr txBox="1"/>
          <p:nvPr/>
        </p:nvSpPr>
        <p:spPr>
          <a:xfrm>
            <a:off x="460888" y="784483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SQL синтаксис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7"/>
          <p:cNvSpPr txBox="1"/>
          <p:nvPr/>
        </p:nvSpPr>
        <p:spPr>
          <a:xfrm>
            <a:off x="577075" y="1549102"/>
            <a:ext cx="8247641" cy="39914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ROLE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 ROLE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 ROLE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USER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888" y="3655757"/>
            <a:ext cx="3489761" cy="82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0534" y="3655757"/>
            <a:ext cx="4262579" cy="120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444" name="Google Shape;444;p4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45" name="Google Shape;445;p48"/>
          <p:cNvSpPr txBox="1"/>
          <p:nvPr/>
        </p:nvSpPr>
        <p:spPr>
          <a:xfrm>
            <a:off x="561627" y="102158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Оператор GRANT</a:t>
            </a:r>
            <a:endParaRPr b="1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206" y="1715521"/>
            <a:ext cx="5033451" cy="45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70" y="2404515"/>
            <a:ext cx="5470483" cy="62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rPr b="1" lang="ru-RU" sz="1950">
                <a:solidFill>
                  <a:schemeClr val="lt1"/>
                </a:solidFill>
              </a:rPr>
              <a:t>Название данного слайда</a:t>
            </a:r>
            <a:endParaRPr/>
          </a:p>
        </p:txBody>
      </p:sp>
      <p:sp>
        <p:nvSpPr>
          <p:cNvPr id="454" name="Google Shape;454;p4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55" name="Google Shape;455;p49"/>
          <p:cNvSpPr txBox="1"/>
          <p:nvPr/>
        </p:nvSpPr>
        <p:spPr>
          <a:xfrm>
            <a:off x="561627" y="102158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Оператор REVOKE</a:t>
            </a:r>
            <a:endParaRPr b="1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891" y="1674880"/>
            <a:ext cx="5342634" cy="506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891" y="2384522"/>
            <a:ext cx="6026035" cy="61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4891" y="3123239"/>
            <a:ext cx="3355907" cy="611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2021-08-31T10:18:59Z</dcterms:created>
  <dc:creator>User</dc:creator>
</cp:coreProperties>
</file>