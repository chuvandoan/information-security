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7102475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zAvvSnJ4jWrVxfu/ifIloJXHW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995363" y="768350"/>
            <a:ext cx="5113337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2725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Times New Roman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2" name="Google Shape;82;p2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2725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Times New Roman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" name="Google Shape;97;p115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18c5e933e9_0_6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2725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Times New Roman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118c5e933e9_0_6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7" name="Google Shape;107;g118c5e933e9_0_643:notes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118c5e933e9_0_64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 txBox="1"/>
          <p:nvPr>
            <p:ph idx="1" type="body"/>
          </p:nvPr>
        </p:nvSpPr>
        <p:spPr>
          <a:xfrm>
            <a:off x="710225" y="4861425"/>
            <a:ext cx="568197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:notes"/>
          <p:cNvSpPr/>
          <p:nvPr>
            <p:ph idx="2" type="sldImg"/>
          </p:nvPr>
        </p:nvSpPr>
        <p:spPr>
          <a:xfrm>
            <a:off x="1183975" y="767575"/>
            <a:ext cx="47352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0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0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0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/>
        </p:nvSpPr>
        <p:spPr>
          <a:xfrm>
            <a:off x="838200" y="2282825"/>
            <a:ext cx="7772400" cy="2200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ИББД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Лекция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457199" y="711075"/>
            <a:ext cx="7467600" cy="57797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F6D"/>
              </a:buClr>
              <a:buSzPts val="3000"/>
              <a:buFont typeface="Times New Roman"/>
              <a:buNone/>
            </a:pPr>
            <a:r>
              <a:rPr b="0" i="0" lang="ru-RU" sz="3000" u="none" cap="none" strike="noStrike">
                <a:solidFill>
                  <a:srgbClr val="575F6D"/>
                </a:solidFill>
                <a:latin typeface="Arial"/>
                <a:ea typeface="Arial"/>
                <a:cs typeface="Arial"/>
                <a:sym typeface="Arial"/>
              </a:rPr>
              <a:t>Критерии для оценки подходов к шифрованию</a:t>
            </a:r>
            <a:endParaRPr b="0" i="0" sz="3000" u="none" cap="none" strike="noStrike">
              <a:solidFill>
                <a:srgbClr val="575F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457199" y="1674643"/>
            <a:ext cx="8466463" cy="260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8288" lvl="0" marL="2714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Как много данных мы шифруем с одним и тем же ключом?</a:t>
            </a:r>
            <a:endParaRPr/>
          </a:p>
          <a:p>
            <a:pPr indent="-268288" lvl="0" marL="2714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Какой алгоритм или режим шифрования мы используем?</a:t>
            </a:r>
            <a:endParaRPr/>
          </a:p>
          <a:p>
            <a:pPr indent="-268288" lvl="0" marL="2714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Где хранятся и как можно получить доступ к криптографическим ключам?</a:t>
            </a:r>
            <a:endParaRPr/>
          </a:p>
          <a:p>
            <a:pPr indent="-268288" lvl="0" marL="2714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fld id="{00000000-1234-1234-1234-123412341234}" type="slidenum">
              <a:rPr b="1" i="0" lang="ru-RU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type="title"/>
          </p:nvPr>
        </p:nvSpPr>
        <p:spPr>
          <a:xfrm>
            <a:off x="425369" y="430615"/>
            <a:ext cx="8293261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ru-RU" sz="2400"/>
              <a:t>Шифрование на уровне носителей информации</a:t>
            </a:r>
            <a:endParaRPr/>
          </a:p>
        </p:txBody>
      </p:sp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839" y="1036310"/>
            <a:ext cx="3725540" cy="53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5"/>
          <p:cNvSpPr txBox="1"/>
          <p:nvPr/>
        </p:nvSpPr>
        <p:spPr>
          <a:xfrm>
            <a:off x="457200" y="159374"/>
            <a:ext cx="7467600" cy="57797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F6D"/>
              </a:buClr>
              <a:buSzPts val="3000"/>
              <a:buFont typeface="Times New Roman"/>
              <a:buNone/>
            </a:pPr>
            <a:r>
              <a:rPr b="0" i="0" lang="ru-RU" sz="3000" u="none" cap="none" strike="noStrike">
                <a:solidFill>
                  <a:srgbClr val="575F6D"/>
                </a:solidFill>
                <a:latin typeface="Arial"/>
                <a:ea typeface="Arial"/>
                <a:cs typeface="Arial"/>
                <a:sym typeface="Arial"/>
              </a:rPr>
              <a:t>РЕЖИМЫ ШИФРОВАНИЯ - ECB</a:t>
            </a:r>
            <a:endParaRPr/>
          </a:p>
        </p:txBody>
      </p:sp>
      <p:sp>
        <p:nvSpPr>
          <p:cNvPr id="101" name="Google Shape;101;p115"/>
          <p:cNvSpPr txBox="1"/>
          <p:nvPr/>
        </p:nvSpPr>
        <p:spPr>
          <a:xfrm>
            <a:off x="693738" y="3602596"/>
            <a:ext cx="7467600" cy="260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82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1680"/>
              <a:buFont typeface="Noto Sans Symbols"/>
              <a:buChar char="🞆"/>
            </a:pPr>
            <a:r>
              <a:rPr b="0" i="0" lang="ru-RU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ECB (</a:t>
            </a:r>
            <a:r>
              <a:rPr b="0" i="1" lang="ru-RU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 Code Book – Режим электронной кодовой книги) </a:t>
            </a:r>
            <a:r>
              <a:rPr b="0" i="0" lang="ru-RU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прост в обращении, но не защищен от  атак с удалением и вставками. Ошибка в одном бите влияет на целый блок в расшифрованном тексте. Можно работать с блоками независимо и даже распараллелить вычисления.</a:t>
            </a:r>
            <a:endParaRPr/>
          </a:p>
          <a:p>
            <a:pPr indent="-268288" lvl="0" marL="2714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15"/>
          <p:cNvSpPr txBox="1"/>
          <p:nvPr/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fld id="{00000000-1234-1234-1234-123412341234}" type="slidenum">
              <a:rPr b="1" i="0" lang="ru-RU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1024968"/>
            <a:ext cx="7435850" cy="223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8c5e933e9_0_643"/>
          <p:cNvSpPr txBox="1"/>
          <p:nvPr/>
        </p:nvSpPr>
        <p:spPr>
          <a:xfrm>
            <a:off x="457200" y="237568"/>
            <a:ext cx="7467600" cy="61504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F6D"/>
              </a:buClr>
              <a:buSzPts val="3000"/>
              <a:buFont typeface="Times New Roman"/>
              <a:buNone/>
            </a:pPr>
            <a:r>
              <a:rPr b="0" i="0" lang="ru-RU" sz="3000" u="none" cap="none" strike="noStrike">
                <a:solidFill>
                  <a:srgbClr val="575F6D"/>
                </a:solidFill>
                <a:latin typeface="Arial"/>
                <a:ea typeface="Arial"/>
                <a:cs typeface="Arial"/>
                <a:sym typeface="Arial"/>
              </a:rPr>
              <a:t>РЕЖИМЫ ШИФРОВАНИЯ - CBC</a:t>
            </a:r>
            <a:endParaRPr/>
          </a:p>
        </p:txBody>
      </p:sp>
      <p:sp>
        <p:nvSpPr>
          <p:cNvPr id="111" name="Google Shape;111;g118c5e933e9_0_643"/>
          <p:cNvSpPr txBox="1"/>
          <p:nvPr/>
        </p:nvSpPr>
        <p:spPr>
          <a:xfrm>
            <a:off x="494270" y="992187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8288" lvl="0" marL="2714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88" lvl="0" marL="2714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88" lvl="0" marL="2714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88" lvl="0" marL="2714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88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288" lvl="0" marL="271463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5113" lvl="0" marL="26828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ts val="1680"/>
              <a:buFont typeface="Noto Sans Symbols"/>
              <a:buChar char="🞆"/>
            </a:pPr>
            <a:r>
              <a:rPr b="0" i="0" lang="ru-RU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CBC (</a:t>
            </a:r>
            <a:r>
              <a:rPr b="0" i="1" lang="ru-RU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 Block Chaining-Режим сцепления блоков)</a:t>
            </a:r>
            <a:r>
              <a:rPr b="0" i="0" lang="ru-RU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предотвращает потери при атаке со вставкой и удалением. Ошибки при шифровании и в открытом тексте дают ошибку не только в текущем блоке, но и портит следующие блоки.</a:t>
            </a:r>
            <a:endParaRPr/>
          </a:p>
          <a:p>
            <a:pPr indent="-268288" lvl="0" marL="2714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118c5e933e9_0_643"/>
          <p:cNvSpPr txBox="1"/>
          <p:nvPr/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fld id="{00000000-1234-1234-1234-123412341234}" type="slidenum">
              <a:rPr b="1" i="0" lang="ru-RU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g118c5e933e9_0_6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825" y="852616"/>
            <a:ext cx="7118350" cy="25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457199" y="274638"/>
            <a:ext cx="8293261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Шифрование на уровне СУБД</a:t>
            </a:r>
            <a:endParaRPr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575" y="877887"/>
            <a:ext cx="4514850" cy="57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457199" y="274638"/>
            <a:ext cx="8293261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Шифрование на уровне приложения</a:t>
            </a:r>
            <a:endParaRPr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1395" y="915987"/>
            <a:ext cx="4562475" cy="56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38" y="1518754"/>
            <a:ext cx="8822724" cy="363856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>
            <p:ph type="title"/>
          </p:nvPr>
        </p:nvSpPr>
        <p:spPr>
          <a:xfrm>
            <a:off x="457199" y="274638"/>
            <a:ext cx="8293261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Хранение криптографических ключей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4221" y="274638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Современные криптографические решения для БД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599" y="1476115"/>
            <a:ext cx="8686801" cy="3710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42110" y="202449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Гомоморфное шифрование</a:t>
            </a:r>
            <a:endParaRPr/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39" y="806116"/>
            <a:ext cx="4396800" cy="371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4936" y="3070415"/>
            <a:ext cx="5583907" cy="3797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42110" y="202449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Обеспечение целостности в СУБД</a:t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330867" y="610717"/>
            <a:ext cx="8482263" cy="5092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Целостность домена (соблюдение ограничений на типы атрибутов). – защита через триггеры, процедуры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Целостность связей между сущностями (соблюдение ограничений связи при обновлении, удалении, вставке новых данных) - </a:t>
            </a: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защита через триггеры, процедуры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Целостность (консистеность БД) при выполнении транзакций – за счет свойств транзакций атомарность, изоляция, консистентность БД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Защита целостности при НСД – защита: разграничение доступа, шифрование, способы аутентификации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Защита целостности после инцидентов ИБ – журналирование и способы восстановления.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Целостность данных при вставке авторизованными пользователями и (случайные или преднамеренные ошибки, человеческий фактор);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Целостность при программных и аппаратных ошибках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Целостность в случае потери большого количества данных – средства резервного копирования и восстановления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/>
        </p:nvSpPr>
        <p:spPr>
          <a:xfrm>
            <a:off x="330867" y="610717"/>
            <a:ext cx="8482263" cy="4715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Методы теории кодирования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Линейные коды (могут быстро исправить и обнаружить ошибку, но их легко обмануть)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Нелинейные коды (могут быстро обнаружить ошибку, обмануть сложнее, чем линейные, но возможно и достижимо)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Методы криптографии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*хэш функции (намного медленнее методов кодирования, могут только обнаружить ошибку, чтобы обмануть нужно подобрать коллизию)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Имитовставки (коды аутентификации) (аналогичны хэш функциями, однако, чтобы обмануть нужно еще и подобрать криптографический ключ)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Подпись (медленнее по сравнению с хэш-функцией, обман не сложнее хэш-функции, есть возможности по подтверждению авторства)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42110" y="202449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Как обнаружить и исправить ошибку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42109" y="394954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Как методы обеспечения целостности используются</a:t>
            </a:r>
            <a:endParaRPr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4407" y="1043990"/>
            <a:ext cx="3595186" cy="3963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1273" y="5137870"/>
            <a:ext cx="3981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8898" y="5604460"/>
            <a:ext cx="38862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42109" y="394954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Резервное копирование и восстановление</a:t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360" y="1005890"/>
            <a:ext cx="7153275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42109" y="394954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Резервное копирование и восстановление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39150" y="971665"/>
            <a:ext cx="8482263" cy="2337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Холодная копия (останавливаем БД, копируем)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Не подходит для работы с высоконагруженными БД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Включает все файлы, соответствующие времени выполнения копии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Горячая копия (не останавливает БД, копируем)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*подходит для работы с высоконагруженными БД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*возможны изменения во время бэкапа, которые не будут учтены</a:t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20" y="3898231"/>
            <a:ext cx="7585575" cy="115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42109" y="394954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Обеспечение целостности на аппаратном уровне</a:t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09" y="1915973"/>
            <a:ext cx="4387264" cy="295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526" y="1986908"/>
            <a:ext cx="4558362" cy="2814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42110" y="202449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SQL инъекции. Основные методы</a:t>
            </a:r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699" y="854242"/>
            <a:ext cx="8714601" cy="475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42110" y="202449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SQL инъекции. Примеры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601" y="908886"/>
            <a:ext cx="61150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601" y="1232736"/>
            <a:ext cx="74390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601" y="2515101"/>
            <a:ext cx="6477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601" y="2908017"/>
            <a:ext cx="77438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227096" y="601078"/>
            <a:ext cx="4344903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инъекции. Пример целевого запроса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100762" y="2169080"/>
            <a:ext cx="4982579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Пример инъекции и вид атакуемого запроса</a:t>
            </a:r>
            <a:endParaRPr/>
          </a:p>
        </p:txBody>
      </p:sp>
      <p:pic>
        <p:nvPicPr>
          <p:cNvPr id="202" name="Google Shape;20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9601" y="4037982"/>
            <a:ext cx="53911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419601" y="3626134"/>
            <a:ext cx="4663739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Получение данных из других таблиц</a:t>
            </a:r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765" y="4479918"/>
            <a:ext cx="460057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42110" y="202449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Слепая (bling) SQL инъекция</a:t>
            </a:r>
            <a:endParaRPr/>
          </a:p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261" y="1078329"/>
            <a:ext cx="1867402" cy="134137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2399547" y="1166562"/>
            <a:ext cx="4344903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Страница с приветствием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2399546" y="1917421"/>
            <a:ext cx="4344903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Страница с ошибкой</a:t>
            </a: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300" y="3106181"/>
            <a:ext cx="7352048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0" y="2695560"/>
            <a:ext cx="4344903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Попытка подобрать пароль</a:t>
            </a:r>
            <a:endParaRPr/>
          </a:p>
        </p:txBody>
      </p:sp>
      <p:pic>
        <p:nvPicPr>
          <p:cNvPr id="215" name="Google Shape;21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300" y="4367814"/>
            <a:ext cx="2957884" cy="103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/>
        </p:nvSpPr>
        <p:spPr>
          <a:xfrm>
            <a:off x="3232366" y="4374775"/>
            <a:ext cx="4344903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Нет задержки перед ответом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3232366" y="4992965"/>
            <a:ext cx="4344903" cy="31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Есть задержка перед ответом</a:t>
            </a:r>
            <a:endParaRPr/>
          </a:p>
        </p:txBody>
      </p:sp>
      <p:pic>
        <p:nvPicPr>
          <p:cNvPr id="218" name="Google Shape;2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300" y="5611155"/>
            <a:ext cx="6219825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type="title"/>
          </p:nvPr>
        </p:nvSpPr>
        <p:spPr>
          <a:xfrm>
            <a:off x="42110" y="202449"/>
            <a:ext cx="9059779" cy="408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ru-RU" sz="3200"/>
              <a:t>Способы защиты от SQL инъекций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600076" y="1263800"/>
            <a:ext cx="7533272" cy="1539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Валидация и санитизация пользовательских данных;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Использование параметризованных запросов;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Использование подготовленных запросов;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Хранимые процедуры.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2021-08-31T10:18:59Z</dcterms:created>
  <dc:creator>User</dc:creator>
</cp:coreProperties>
</file>