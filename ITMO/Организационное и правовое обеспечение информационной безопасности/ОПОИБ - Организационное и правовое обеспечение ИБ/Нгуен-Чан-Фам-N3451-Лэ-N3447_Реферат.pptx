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98" r:id="rId2"/>
  </p:sldMasterIdLst>
  <p:notesMasterIdLst>
    <p:notesMasterId r:id="rId17"/>
  </p:notesMasterIdLst>
  <p:handoutMasterIdLst>
    <p:handoutMasterId r:id="rId18"/>
  </p:handoutMasterIdLst>
  <p:sldIdLst>
    <p:sldId id="265" r:id="rId3"/>
    <p:sldId id="257" r:id="rId4"/>
    <p:sldId id="281" r:id="rId5"/>
    <p:sldId id="292" r:id="rId6"/>
    <p:sldId id="282" r:id="rId7"/>
    <p:sldId id="283" r:id="rId8"/>
    <p:sldId id="286" r:id="rId9"/>
    <p:sldId id="285" r:id="rId10"/>
    <p:sldId id="284" r:id="rId11"/>
    <p:sldId id="288" r:id="rId12"/>
    <p:sldId id="289" r:id="rId13"/>
    <p:sldId id="290" r:id="rId14"/>
    <p:sldId id="291" r:id="rId15"/>
    <p:sldId id="263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0" autoAdjust="0"/>
    <p:restoredTop sz="94672" autoAdjust="0"/>
  </p:normalViewPr>
  <p:slideViewPr>
    <p:cSldViewPr snapToGrid="0" snapToObjects="1" showGuides="1">
      <p:cViewPr varScale="1">
        <p:scale>
          <a:sx n="124" d="100"/>
          <a:sy n="124" d="100"/>
        </p:scale>
        <p:origin x="288" y="82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11/25/2020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Редактируемый элемент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799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4599335"/>
            <a:ext cx="6400800" cy="228599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12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Город и год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2926326"/>
            <a:ext cx="6400800" cy="705749"/>
          </a:xfrm>
        </p:spPr>
        <p:txBody>
          <a:bodyPr anchor="b">
            <a:normAutofit/>
          </a:bodyPr>
          <a:lstStyle>
            <a:lvl1pPr algn="ctr">
              <a:defRPr sz="3200" b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371600" y="3637205"/>
            <a:ext cx="6400800" cy="46290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600" baseline="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/>
              <a:t>Имя и контактные данные автора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45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4693" y="997421"/>
            <a:ext cx="5965438" cy="1488969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697" y="2571750"/>
            <a:ext cx="5965825" cy="165258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1600"/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ru-RU" dirty="0"/>
              <a:t>Имя и контактные данные автора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411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3140" y="927382"/>
            <a:ext cx="2713244" cy="1644368"/>
          </a:xfrm>
        </p:spPr>
        <p:txBody>
          <a:bodyPr anchor="t" anchorCtr="0">
            <a:normAutofit/>
          </a:bodyPr>
          <a:lstStyle>
            <a:lvl1pPr>
              <a:defRPr sz="2800" baseline="0">
                <a:solidFill>
                  <a:srgbClr val="FFFFFF"/>
                </a:solidFill>
              </a:defRPr>
            </a:lvl1pPr>
          </a:lstStyle>
          <a:p>
            <a:r>
              <a:rPr lang="ru-RU" dirty="0"/>
              <a:t>Место для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2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457200" y="2010279"/>
            <a:ext cx="8229600" cy="620483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Спасибо за внимание!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787704"/>
            <a:ext cx="8229600" cy="594122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FFFFFF"/>
                </a:solidFill>
              </a:defRPr>
            </a:lvl1pPr>
            <a:lvl2pPr marL="457200" indent="0" algn="ctr">
              <a:buFontTx/>
              <a:buNone/>
              <a:defRPr>
                <a:solidFill>
                  <a:srgbClr val="FFFFFF"/>
                </a:solidFill>
              </a:defRPr>
            </a:lvl2pPr>
            <a:lvl3pPr marL="914400" indent="0" algn="ctr">
              <a:buFontTx/>
              <a:buNone/>
              <a:defRPr>
                <a:solidFill>
                  <a:srgbClr val="FFFFFF"/>
                </a:solidFill>
              </a:defRPr>
            </a:lvl3pPr>
            <a:lvl4pPr marL="1371600" indent="0" algn="ctr">
              <a:buFontTx/>
              <a:buNone/>
              <a:defRPr>
                <a:solidFill>
                  <a:srgbClr val="FFFFFF"/>
                </a:solidFill>
              </a:defRPr>
            </a:lvl4pPr>
            <a:lvl5pPr marL="1828800" indent="0" algn="ctr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ru-RU" dirty="0"/>
              <a:t>Контактные данные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21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46133"/>
            <a:ext cx="6273934" cy="284849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284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1759937"/>
            <a:ext cx="4038600" cy="2834686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92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5659438" y="1759744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8" y="3288506"/>
            <a:ext cx="3027362" cy="1414463"/>
          </a:xfrm>
          <a:custGeom>
            <a:avLst/>
            <a:gdLst/>
            <a:ahLst/>
            <a:cxnLst/>
            <a:rect l="l" t="t" r="r" b="b"/>
            <a:pathLst>
              <a:path w="3027362" h="1885950">
                <a:moveTo>
                  <a:pt x="0" y="0"/>
                </a:moveTo>
                <a:lnTo>
                  <a:pt x="3027362" y="0"/>
                </a:lnTo>
                <a:lnTo>
                  <a:pt x="3027362" y="1063625"/>
                </a:lnTo>
                <a:lnTo>
                  <a:pt x="3026362" y="1063625"/>
                </a:lnTo>
                <a:lnTo>
                  <a:pt x="3023015" y="1129917"/>
                </a:lnTo>
                <a:cubicBezTo>
                  <a:pt x="2982765" y="1526260"/>
                  <a:pt x="2667672" y="1841353"/>
                  <a:pt x="2271329" y="1881603"/>
                </a:cubicBezTo>
                <a:lnTo>
                  <a:pt x="2205037" y="1884951"/>
                </a:lnTo>
                <a:lnTo>
                  <a:pt x="2205037" y="1885950"/>
                </a:lnTo>
                <a:lnTo>
                  <a:pt x="0" y="1885950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498"/>
            <a:ext cx="8229600" cy="620315"/>
          </a:xfrm>
        </p:spPr>
        <p:txBody>
          <a:bodyPr/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3025460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457201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3276149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6097917" y="3324086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8" name="Text Placehold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1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29" name="Text Placehold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3275819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30" name="Text Placehold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6085706" y="447276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3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International Students and Scholars Rock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57201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5"/>
          </p:nvPr>
        </p:nvSpPr>
        <p:spPr>
          <a:xfrm>
            <a:off x="3276149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icture Placeholder 10"/>
          <p:cNvSpPr>
            <a:spLocks noGrp="1"/>
          </p:cNvSpPr>
          <p:nvPr>
            <p:ph type="pic" sz="quarter" idx="16"/>
          </p:nvPr>
        </p:nvSpPr>
        <p:spPr>
          <a:xfrm>
            <a:off x="6097917" y="1759744"/>
            <a:ext cx="2588883" cy="1063056"/>
          </a:xfrm>
          <a:prstGeom prst="round1Rect">
            <a:avLst>
              <a:gd name="adj" fmla="val 37649"/>
            </a:avLst>
          </a:pr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899173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/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48200" y="3319723"/>
            <a:ext cx="4038600" cy="12749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9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927382"/>
            <a:ext cx="8229600" cy="62048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199" y="1759937"/>
            <a:ext cx="5018388" cy="294303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18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5659439" y="1770130"/>
            <a:ext cx="3036565" cy="2919036"/>
          </a:xfrm>
          <a:custGeom>
            <a:avLst/>
            <a:gdLst>
              <a:gd name="connsiteX0" fmla="*/ 0 w 3027362"/>
              <a:gd name="connsiteY0" fmla="*/ 0 h 1885950"/>
              <a:gd name="connsiteX1" fmla="*/ 2528981 w 3027362"/>
              <a:gd name="connsiteY1" fmla="*/ 0 h 1885950"/>
              <a:gd name="connsiteX2" fmla="*/ 3027362 w 3027362"/>
              <a:gd name="connsiteY2" fmla="*/ 498381 h 1885950"/>
              <a:gd name="connsiteX3" fmla="*/ 3027362 w 3027362"/>
              <a:gd name="connsiteY3" fmla="*/ 1885950 h 1885950"/>
              <a:gd name="connsiteX4" fmla="*/ 0 w 3027362"/>
              <a:gd name="connsiteY4" fmla="*/ 1885950 h 1885950"/>
              <a:gd name="connsiteX5" fmla="*/ 0 w 3027362"/>
              <a:gd name="connsiteY5" fmla="*/ 0 h 1885950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0 w 3036565"/>
              <a:gd name="connsiteY4" fmla="*/ 1885950 h 3892048"/>
              <a:gd name="connsiteX5" fmla="*/ 0 w 3036565"/>
              <a:gd name="connsiteY5" fmla="*/ 0 h 3892048"/>
              <a:gd name="connsiteX0" fmla="*/ 0 w 3036565"/>
              <a:gd name="connsiteY0" fmla="*/ 0 h 3892048"/>
              <a:gd name="connsiteX1" fmla="*/ 2528981 w 3036565"/>
              <a:gd name="connsiteY1" fmla="*/ 0 h 3892048"/>
              <a:gd name="connsiteX2" fmla="*/ 3027362 w 3036565"/>
              <a:gd name="connsiteY2" fmla="*/ 498381 h 3892048"/>
              <a:gd name="connsiteX3" fmla="*/ 3036565 w 3036565"/>
              <a:gd name="connsiteY3" fmla="*/ 3892048 h 3892048"/>
              <a:gd name="connsiteX4" fmla="*/ 9203 w 3036565"/>
              <a:gd name="connsiteY4" fmla="*/ 3892047 h 3892048"/>
              <a:gd name="connsiteX5" fmla="*/ 0 w 3036565"/>
              <a:gd name="connsiteY5" fmla="*/ 0 h 3892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36565" h="3892048">
                <a:moveTo>
                  <a:pt x="0" y="0"/>
                </a:moveTo>
                <a:lnTo>
                  <a:pt x="2528981" y="0"/>
                </a:lnTo>
                <a:cubicBezTo>
                  <a:pt x="2804229" y="0"/>
                  <a:pt x="3027362" y="223133"/>
                  <a:pt x="3027362" y="498381"/>
                </a:cubicBezTo>
                <a:cubicBezTo>
                  <a:pt x="3030430" y="1629603"/>
                  <a:pt x="3033497" y="2760826"/>
                  <a:pt x="3036565" y="3892048"/>
                </a:cubicBezTo>
                <a:lnTo>
                  <a:pt x="9203" y="3892047"/>
                </a:lnTo>
                <a:cubicBezTo>
                  <a:pt x="6135" y="2594698"/>
                  <a:pt x="3068" y="1297349"/>
                  <a:pt x="0" y="0"/>
                </a:cubicBez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1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185639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 cap="none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Колонтитул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8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030768" y="329462"/>
            <a:ext cx="465603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International Students and Scholars Rock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65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7" r:id="rId2"/>
    <p:sldLayoutId id="2147483692" r:id="rId3"/>
    <p:sldLayoutId id="2147483686" r:id="rId4"/>
    <p:sldLayoutId id="2147483689" r:id="rId5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8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27382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4948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Пятый уровень</a:t>
            </a:r>
          </a:p>
          <a:p>
            <a:pPr lvl="4"/>
            <a:r>
              <a:rPr lang="ru-RU" dirty="0"/>
              <a:t>Шестой уровень</a:t>
            </a:r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0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2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0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93571" y="1526060"/>
            <a:ext cx="7179277" cy="110747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 защиты государственной тайны во Вьетнаме</a:t>
            </a:r>
            <a:endParaRPr lang="en-US" sz="280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470836" y="2754147"/>
            <a:ext cx="6634811" cy="1824030"/>
          </a:xfrm>
        </p:spPr>
        <p:txBody>
          <a:bodyPr>
            <a:normAutofit fontScale="25000" lnSpcReduction="20000"/>
          </a:bodyPr>
          <a:lstStyle/>
          <a:p>
            <a:pPr algn="r">
              <a:lnSpc>
                <a:spcPct val="170000"/>
              </a:lnSpc>
            </a:pPr>
            <a:r>
              <a:rPr lang="ru-RU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Выполнили:</a:t>
            </a:r>
          </a:p>
          <a:p>
            <a:pPr algn="r">
              <a:lnSpc>
                <a:spcPct val="170000"/>
              </a:lnSpc>
            </a:pPr>
            <a:r>
              <a:rPr lang="ru-RU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Нгуен Туан Ань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N3451</a:t>
            </a:r>
            <a:endParaRPr lang="ru-RU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70000"/>
              </a:lnSpc>
            </a:pPr>
            <a:r>
              <a:rPr lang="ru-RU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Чан Тхи Хуен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N3451</a:t>
            </a:r>
          </a:p>
          <a:p>
            <a:pPr algn="r">
              <a:lnSpc>
                <a:spcPct val="170000"/>
              </a:lnSpc>
            </a:pPr>
            <a:r>
              <a:rPr lang="ru-RU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Фам Хю Хоанг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N3451  </a:t>
            </a:r>
          </a:p>
          <a:p>
            <a:pPr algn="r">
              <a:lnSpc>
                <a:spcPct val="170000"/>
              </a:lnSpc>
            </a:pPr>
            <a:r>
              <a:rPr lang="ru-RU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Лэ Куанг Ань </a:t>
            </a:r>
            <a:r>
              <a:rPr lang="en-US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N34</a:t>
            </a:r>
            <a:r>
              <a:rPr lang="ru-RU" sz="5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endParaRPr lang="en-US" sz="5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7" y="664268"/>
            <a:ext cx="7543682" cy="609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осударственная тайна как важный элемент информационных ресурсов государства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6237" y="1273579"/>
            <a:ext cx="7074125" cy="315013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современном мире информация рассматривается как один из наиболее ценных продуктов человеческой жизнедеятельности, а информационные ресурсы и технологии, которыми располагает государство, определяют его стратегический потенциал и влияние в мире. 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Важным элементом информационных ресурсов является государственная тайна, отнесенная по условиям правового режима к документированной информации ограниченного распространения. Правовой институт государственной тайны - признанный всеми странами институт регулирования информационных общественных отношений, в частности Вьетнаме. 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28	февраля 2020 года в Ханое Депутаты Вьетнамского парламента обсудили и подтверждили новый правовой институт защиты государтвенной тайны. 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064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7" y="664268"/>
            <a:ext cx="7543682" cy="609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Институт защиты государственной тайны во Вьетнаме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6237" y="1273579"/>
            <a:ext cx="7333617" cy="315013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соответствии с Законом «О государственной организации» от 19 июня 2015 г .;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соответствии с Законом о защите государственной тайны от 15 ноября 2018 г .;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Правительство публикует Постановление, детализирующее ряд статей Закона о защите государственной тайны номера 26/2020/NĐ-CP.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1. Сфера применения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этом Постановлении подробно описан ряд статей Закона о защите государственной тайны, касающиеся определения и конфиденциальности государственной тайны; копирование и фотографирование документов и контейнеров, содержащих государственную тайну; доставка и получение документов и контейнеров, составляющей государственную тайну; место, план защиты и использование средств и оборудования на конференциях, семинарах или собраниях, составляющих государственную тайну и т.д.</a:t>
            </a:r>
          </a:p>
        </p:txBody>
      </p:sp>
    </p:spTree>
    <p:extLst>
      <p:ext uri="{BB962C8B-B14F-4D97-AF65-F5344CB8AC3E}">
        <p14:creationId xmlns:p14="http://schemas.microsoft.com/office/powerpoint/2010/main" val="425769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58" y="855706"/>
            <a:ext cx="7413937" cy="4611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Постановление № </a:t>
            </a:r>
            <a:r>
              <a:rPr lang="en-US" sz="1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26/2020/NĐ-CP</a:t>
            </a:r>
            <a:r>
              <a:rPr lang="ru-RU" sz="1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детализирующее ряд статей Закона о защите государственной тайны (8 стр.) 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8111CA-F181-4BCB-8FC3-96203942C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75" y="1316829"/>
            <a:ext cx="4645950" cy="290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2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78712" y="890520"/>
            <a:ext cx="7333617" cy="3539377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ru-RU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2. Установление государственной тайны и уровни секретности</a:t>
            </a:r>
          </a:p>
          <a:p>
            <a:pPr algn="just">
              <a:lnSpc>
                <a:spcPct val="150000"/>
              </a:lnSpc>
            </a:pP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Лицо, составляющее и формирующее информацию по списку государственных тайн, должно предложить руководителю органа или организации по определению государственных </a:t>
            </a:r>
            <a:r>
              <a:rPr lang="ru-RU" sz="1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тайны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несут ответственность за защиту государственных секретов в процессе разработки и создания. </a:t>
            </a:r>
          </a:p>
          <a:p>
            <a:pPr algn="just">
              <a:lnSpc>
                <a:spcPct val="150000"/>
              </a:lnSpc>
            </a:pP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общественной безопасности устанавливает образец печати индекса конфиденциальности и образец документа, определяющего конфиденциальность государственной тайны.</a:t>
            </a:r>
          </a:p>
          <a:p>
            <a:pPr algn="just">
              <a:lnSpc>
                <a:spcPct val="150000"/>
              </a:lnSpc>
            </a:pPr>
            <a:r>
              <a:rPr lang="ru-RU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3. Копирование и ксерокопирование документов и контейнеров, содержащих государственную тайну</a:t>
            </a:r>
            <a:endParaRPr lang="vi-VN" sz="13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Копирование и ксерокопирование документов и контейнеров, содержащих государственные </a:t>
            </a:r>
            <a:r>
              <a:rPr lang="ru-RU" sz="1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тайн</a:t>
            </a: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ы, должно производиться в безопасных местах, определенных руководителем учреждения или организации, непосредственно управляющих государственной тайной. Копирование и ксерокопирование необходимо занести в «Книга копий и снятых государственных тайн».</a:t>
            </a:r>
          </a:p>
          <a:p>
            <a:pPr algn="just">
              <a:lnSpc>
                <a:spcPct val="150000"/>
              </a:lnSpc>
            </a:pPr>
            <a:r>
              <a:rPr lang="ru-RU" sz="1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Ксерокопирование конфиденциальности должны соответствовать закону о шифровании.</a:t>
            </a:r>
          </a:p>
          <a:p>
            <a:pPr algn="just">
              <a:lnSpc>
                <a:spcPct val="150000"/>
              </a:lnSpc>
            </a:pPr>
            <a:endParaRPr lang="vi-VN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5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78712" y="890520"/>
            <a:ext cx="7333617" cy="327988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4. Передача и получение документов и контейнеров, содержащих государственную тайну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Передача документов и контейнеров, составляющих государственную тайну, осуществляется в строгом порядке. Перед передачей документов и контейнеров, содержащих государственные тайны, они извлекаются только с согласия государства.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случае, если документы и контейнеры государственной тайны, относящиеся к уровню «совершенно секретно», должны быть защищены двумя слоями конвертов: на внутреннем конверте проставляется номер, символ документа, контейнер государственной тайны, имя получателя.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Министр общественной безопасности устанавливает форму документов приема, регистрации и передачи государственных тайн.</a:t>
            </a:r>
          </a:p>
          <a:p>
            <a:pPr algn="just">
              <a:lnSpc>
                <a:spcPct val="150000"/>
              </a:lnSpc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vi-V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57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78712" y="890520"/>
            <a:ext cx="7333617" cy="35393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5. Вынести из мест хранения документов и контейнеров, составляющих государственную тайну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Лица, выносящие документы и контейнеры, составляющие государственную тайну, из мест хранения для работы в стране или за рубежом, должны в соответствии с положениями пунктов 1 и 2 статьи 14 Закона защиты государственных тайн.</a:t>
            </a:r>
          </a:p>
          <a:p>
            <a:pPr algn="just">
              <a:lnSpc>
                <a:spcPct val="150000"/>
              </a:lnSpc>
            </a:pPr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6. Места, планы защиты и средства, оборудование, используемые на конференциях или собраниях, составляющих государственную тайну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Конференции, семинары и встречи, составляющие государственную тайну, проводятся в закрытых переговорных комнатах в рабочих кабинетах органов или организаций. Участникам не разрешается приносить оборудование, транслировать или записывать видео на конференциях, семинарах или собраниях с содержанием государственной тайны. </a:t>
            </a:r>
          </a:p>
          <a:p>
            <a:pPr algn="just">
              <a:lnSpc>
                <a:spcPct val="150000"/>
              </a:lnSpc>
            </a:pPr>
            <a:endParaRPr lang="vi-VN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ru-RU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04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78712" y="802061"/>
            <a:ext cx="7747450" cy="353937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7. Назначение лиц для выполнения задач по защите государственной тайны</a:t>
            </a:r>
          </a:p>
          <a:p>
            <a:pPr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Назначение лиц для выполнения штатных или частичных задач по защите государственных тайн осуществляется в соответствии с постановлениями министра национальной обороны и министра общественной безопасности. Лица, выполняющие задачи по защите государственной тайны, пользуются режимами в соответствии с положениями закона.</a:t>
            </a:r>
          </a:p>
          <a:p>
            <a:pPr algn="just">
              <a:lnSpc>
                <a:spcPct val="150000"/>
              </a:lnSpc>
            </a:pPr>
            <a:r>
              <a:rPr lang="ru-RU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8. Режим отчетности о защите государственной тайны</a:t>
            </a:r>
          </a:p>
          <a:p>
            <a:pPr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Руководители ведомств и организаций, определенных в пункте 1 статьи 7 настоящего Указа, должны отчитываться о защите государственной тайны в рамках своего управления и отправить их в Министерство общественной безопасности для обработка отчетов. Сообщить министру в следующие сроки:</a:t>
            </a:r>
          </a:p>
          <a:p>
            <a:pPr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а) Сводный отчет каждые пять лет и предварительный отчет один раз в год;</a:t>
            </a:r>
          </a:p>
          <a:p>
            <a:pPr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б) нерегулярные отчеты составляются сразу после обнаружения утечки или утраты государственной тайны или по запросу Министерства общественной безопасности;</a:t>
            </a:r>
          </a:p>
          <a:p>
            <a:pPr algn="just">
              <a:lnSpc>
                <a:spcPct val="150000"/>
              </a:lnSpc>
            </a:pPr>
            <a:r>
              <a:rPr lang="ru-RU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в) Срок представления годовых отчетов: Срок для агентств и организаций, указанных в пункте 1 статьи 7 настоящего Указа, для отправки годовых отчетов в Министерство общественной безопасности не позднее 20 декабря отчетного года.</a:t>
            </a:r>
            <a:endParaRPr lang="ru-RU" sz="11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76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78713" y="946127"/>
            <a:ext cx="6888656" cy="258790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 9. Эффект от реализации правового института защиты государственной тайны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Настоящее постановление вступает в силу 1 июля 2020 года.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Постановление правительства № 33/2002 / ND-CP от 28 марта 2002 г., детализирующее выполнение Указа о защите государственной тайны, утрачивает силу с даты вступления в силу этого Указа.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Министры, руководители соответствующих министерств органов, правительственные органы, председатели народных комитетов провинций и городов, а также соответствующие ведомства, организации и отдельные лица несут ответственность за реализация настоящего Указа.</a:t>
            </a:r>
            <a:endParaRPr lang="ru-RU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71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7" y="664268"/>
            <a:ext cx="7543682" cy="609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Степени «гриф» секретности Правительства Социалистической Республики Вьетнама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6238" y="1273580"/>
            <a:ext cx="7543682" cy="3100712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Социалистической Республике Вьетнама к секретным материалам относятся сведения о происшествиях, материалах, предметах, местонахождении, времени, заявлениях, имеющие важное содержание и относящиеся к таким сферам, как политика, национальная оборона, безопасность, внешняя политика, экономика, наука, технологии и другие и разглашение которых нанесет ущерб государства.</a:t>
            </a:r>
          </a:p>
          <a:p>
            <a:pPr algn="just">
              <a:lnSpc>
                <a:spcPct val="150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Установлены следующие степени секретности указанных сведений и соответствующие этим степеням «гриф» секретности:</a:t>
            </a:r>
          </a:p>
          <a:p>
            <a:pPr algn="just">
              <a:lnSpc>
                <a:spcPct val="150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а) "совершенно секретно":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стратегия государственной безопасности, планы обороны страны, планы мобилизации в случае войны, сведения о различных видах вооружений и военной техники, имеющие решающее значение для обороноспособности страны;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директивные установки по внешней и внутренней политике Коммунистической партии Вьетнама и Социалистической Республики Вьетнама, которые не подлежат разглашению или еще не обнародованы;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сведения, полученные из-за рубежа или переданные Социалистической Республике Вьетнама международными организациями и отнесенные государством к совершенно секретным; и др.</a:t>
            </a:r>
          </a:p>
          <a:p>
            <a:pPr algn="just">
              <a:lnSpc>
                <a:spcPct val="150000"/>
              </a:lnSpc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38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7" y="664268"/>
            <a:ext cx="7543682" cy="609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Степени «гриф» секретности Правительства Социалистической Республики Вьетнама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6237" y="1273579"/>
            <a:ext cx="7827887" cy="3143961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б) "сверхсекретно":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необнародованные сведения о переговорах и контактах на высшем уровне между Социалистической Республикой Вьетнама и другими государствами или международными организациями, относящиеся к таким сферам, как политика, национальная оборона, безопасность, внешняя политика, экономика, наука, технологии;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места хранения и объем запасов ценных металлов, драгоценных камней, валюты и других ценностей, принадлежащих государству;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информация и другие материалы, отнесенные Правительством Социалистической Республики Вьетнама к сверхсекретным;</a:t>
            </a:r>
          </a:p>
          <a:p>
            <a:pPr algn="just">
              <a:lnSpc>
                <a:spcPct val="150000"/>
              </a:lnSpc>
            </a:pPr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в) "секретно":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государственные секреты, не входящие в категории "совершенно секретно" и "сверхсекретно".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ведения, касающиеся деятельности предприятий, учреждений и организаций, содержащие служебную информацию ограниченного распространения, не составляющую государственной тайны, имеют ограничительный гриф "для внутреннего пользования".</a:t>
            </a:r>
          </a:p>
          <a:p>
            <a:pPr algn="just">
              <a:lnSpc>
                <a:spcPct val="150000"/>
              </a:lnSpc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17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7" y="664268"/>
            <a:ext cx="7543682" cy="609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Методы защиты государственной тайны во Вьетнаме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6238" y="1273580"/>
            <a:ext cx="7543682" cy="258172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Основными методами защиты государственной тайны во Вьетнаме являются следующие: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Скрытие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Ранжирование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Дробление</a:t>
            </a:r>
            <a:endParaRPr lang="ru-RU" sz="1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Морально-нравственные методы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Учет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Кодирование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Шифрование и др.</a:t>
            </a: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65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7" y="664268"/>
            <a:ext cx="7543682" cy="6093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Важность защиты государственной тайны во Вьетнаме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766238" y="1273580"/>
            <a:ext cx="7667248" cy="309453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Правовой интитут защита государственной тайны, состоящий из 9 главных статей, которые предусматривают ответственность и обязанности органов, организаций и частных лиц в области защиты государственной тайны. Действие закона распространяется на вьетнамские и иностранные физические и юридические лица, исключая случаи, когда международными договорами, к которым Вьетнам присоединился, установлены иные правила, чем предусмотренные данным законом. К государственной тайне относятся сведения, засекреченные компетентными органами или государством. </a:t>
            </a:r>
          </a:p>
          <a:p>
            <a:pPr algn="just">
              <a:lnSpc>
                <a:spcPct val="150000"/>
              </a:lnSpc>
            </a:pPr>
            <a:r>
              <a:rPr lang="ru-RU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Во Вьетнаме построение и защита страны является функцией и миссией всей политической системы под руководством партии и задачей государственного управления. Государство играет ведущую роль в организации, управлении и мобилизации всех ресурсов в обществе и осуществлении необходимых мероприятий для обеспечения состояния безопасности, стабильности, защита государственной тайны и поддержании порядка в обществе. </a:t>
            </a:r>
            <a:endParaRPr lang="en-US" sz="12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39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0037"/>
            <a:ext cx="8229600" cy="620483"/>
          </a:xfrm>
        </p:spPr>
        <p:txBody>
          <a:bodyPr/>
          <a:lstStyle/>
          <a:p>
            <a:r>
              <a:rPr lang="ru-RU" dirty="0"/>
              <a:t>Спасибо за внимание</a:t>
            </a:r>
            <a:r>
              <a:rPr lang="en-US" dirty="0"/>
              <a:t>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2490643"/>
            <a:ext cx="8229600" cy="594122"/>
          </a:xfrm>
        </p:spPr>
        <p:txBody>
          <a:bodyPr/>
          <a:lstStyle/>
          <a:p>
            <a:r>
              <a:rPr lang="en-US" dirty="0"/>
              <a:t>www.</a:t>
            </a:r>
            <a:r>
              <a:rPr lang="pl-PL" dirty="0"/>
              <a:t>ifmo.ru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over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5058</TotalTime>
  <Words>1337</Words>
  <Application>Microsoft Office PowerPoint</Application>
  <PresentationFormat>On-screen Show (16:9)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Cover</vt:lpstr>
      <vt:lpstr>1_Cover</vt:lpstr>
      <vt:lpstr>Институт защиты государственной тайны во Вьетнаме</vt:lpstr>
      <vt:lpstr>Государственная тайна как важный элемент информационных ресурсов государства</vt:lpstr>
      <vt:lpstr>Институт защиты государственной тайны во Вьетнаме</vt:lpstr>
      <vt:lpstr>Постановление № 26/2020/NĐ-CP, детализирующее ряд статей Закона о защите государственной тайны (8 стр.)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Степени «гриф» секретности Правительства Социалистической Республики Вьетнама</vt:lpstr>
      <vt:lpstr>Степени «гриф» секретности Правительства Социалистической Республики Вьетнама</vt:lpstr>
      <vt:lpstr>Методы защиты государственной тайны во Вьетнаме</vt:lpstr>
      <vt:lpstr>Важность защиты государственной тайны во Вьетнаме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Tuan_Anh Nguyen</cp:lastModifiedBy>
  <cp:revision>90</cp:revision>
  <dcterms:created xsi:type="dcterms:W3CDTF">2014-06-27T12:30:22Z</dcterms:created>
  <dcterms:modified xsi:type="dcterms:W3CDTF">2020-11-25T21:04:19Z</dcterms:modified>
</cp:coreProperties>
</file>