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90" roundtripDataSignature="AMtx7mjh5ks2vJEgk0Ja2o/zkK/tQRHZ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D154A0-517F-4B4A-82E1-0E76DB0E4BF0}">
  <a:tblStyle styleId="{1CD154A0-517F-4B4A-82E1-0E76DB0E4BF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49BDB534-CFB7-4940-8031-6A07CBDA9D41}"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0" Type="http://customschemas.google.com/relationships/presentationmetadata" Target="meta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7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7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8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8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85"/>
          <p:cNvSpPr/>
          <p:nvPr/>
        </p:nvSpPr>
        <p:spPr>
          <a:xfrm>
            <a:off x="304800" y="1371600"/>
            <a:ext cx="8382000" cy="22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85"/>
          <p:cNvSpPr txBox="1"/>
          <p:nvPr>
            <p:ph type="ctrTitle"/>
          </p:nvPr>
        </p:nvSpPr>
        <p:spPr>
          <a:xfrm>
            <a:off x="609600" y="1676402"/>
            <a:ext cx="79248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002060"/>
              </a:buClr>
              <a:buSzPts val="4400"/>
              <a:buFont typeface="Calibri"/>
              <a:buNone/>
              <a:defRPr sz="44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85"/>
          <p:cNvSpPr txBox="1"/>
          <p:nvPr>
            <p:ph idx="1" type="subTitle"/>
          </p:nvPr>
        </p:nvSpPr>
        <p:spPr>
          <a:xfrm>
            <a:off x="609600" y="3432175"/>
            <a:ext cx="7924800" cy="1752600"/>
          </a:xfrm>
          <a:prstGeom prst="rect">
            <a:avLst/>
          </a:prstGeom>
          <a:noFill/>
          <a:ln>
            <a:noFill/>
          </a:ln>
        </p:spPr>
        <p:txBody>
          <a:bodyPr anchorCtr="0" anchor="t" bIns="45700" lIns="91425" spcFirstLastPara="1" rIns="91425" wrap="square" tIns="45700">
            <a:normAutofit/>
          </a:bodyPr>
          <a:lstStyle>
            <a:lvl1pPr lvl="0" algn="ctr">
              <a:spcBef>
                <a:spcPts val="720"/>
              </a:spcBef>
              <a:spcAft>
                <a:spcPts val="0"/>
              </a:spcAft>
              <a:buClr>
                <a:srgbClr val="C00000"/>
              </a:buClr>
              <a:buSzPts val="1440"/>
              <a:buNone/>
              <a:defRPr b="0" sz="3600">
                <a:solidFill>
                  <a:srgbClr val="C00000"/>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1" name="Google Shape;21;p85"/>
          <p:cNvSpPr/>
          <p:nvPr/>
        </p:nvSpPr>
        <p:spPr>
          <a:xfrm>
            <a:off x="0" y="5791206"/>
            <a:ext cx="1455822" cy="1066797"/>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85"/>
          <p:cNvSpPr/>
          <p:nvPr/>
        </p:nvSpPr>
        <p:spPr>
          <a:xfrm>
            <a:off x="1475874" y="5791200"/>
            <a:ext cx="7668126" cy="10668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 name="Google Shape;23;p85"/>
          <p:cNvSpPr txBox="1"/>
          <p:nvPr>
            <p:ph idx="2" type="body"/>
          </p:nvPr>
        </p:nvSpPr>
        <p:spPr>
          <a:xfrm>
            <a:off x="1524000" y="5867400"/>
            <a:ext cx="7467600" cy="914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Clr>
                <a:schemeClr val="lt1"/>
              </a:buClr>
              <a:buSzPts val="800"/>
              <a:buNone/>
              <a:defRPr sz="20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8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4000"/>
              <a:buFont typeface="Calibri"/>
              <a:buNone/>
              <a:defRPr>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8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lvl1pPr indent="-274320" lvl="0" marL="457200" algn="l">
              <a:spcBef>
                <a:spcPts val="360"/>
              </a:spcBef>
              <a:spcAft>
                <a:spcPts val="0"/>
              </a:spcAft>
              <a:buClr>
                <a:schemeClr val="dk1"/>
              </a:buClr>
              <a:buSzPts val="72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8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8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87"/>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060"/>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8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8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 name="Google Shape;33;p8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88"/>
          <p:cNvSpPr txBox="1"/>
          <p:nvPr>
            <p:ph type="title"/>
          </p:nvPr>
        </p:nvSpPr>
        <p:spPr>
          <a:xfrm>
            <a:off x="304800" y="274638"/>
            <a:ext cx="85344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8"/>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299720" lvl="0" marL="457200" algn="l">
              <a:spcBef>
                <a:spcPts val="560"/>
              </a:spcBef>
              <a:spcAft>
                <a:spcPts val="0"/>
              </a:spcAft>
              <a:buClr>
                <a:schemeClr val="dk1"/>
              </a:buClr>
              <a:buSzPts val="112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88"/>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299720" lvl="0" marL="457200" algn="l">
              <a:spcBef>
                <a:spcPts val="560"/>
              </a:spcBef>
              <a:spcAft>
                <a:spcPts val="0"/>
              </a:spcAft>
              <a:buClr>
                <a:schemeClr val="dk1"/>
              </a:buClr>
              <a:buSzPts val="112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8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8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8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89"/>
          <p:cNvSpPr txBox="1"/>
          <p:nvPr>
            <p:ph type="title"/>
          </p:nvPr>
        </p:nvSpPr>
        <p:spPr>
          <a:xfrm>
            <a:off x="304800" y="274638"/>
            <a:ext cx="85344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8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96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8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289560" lvl="0" marL="457200" algn="l">
              <a:spcBef>
                <a:spcPts val="480"/>
              </a:spcBef>
              <a:spcAft>
                <a:spcPts val="0"/>
              </a:spcAft>
              <a:buClr>
                <a:schemeClr val="dk1"/>
              </a:buClr>
              <a:buSzPts val="96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89"/>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96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89"/>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289560" lvl="0" marL="457200" algn="l">
              <a:spcBef>
                <a:spcPts val="480"/>
              </a:spcBef>
              <a:spcAft>
                <a:spcPts val="0"/>
              </a:spcAft>
              <a:buClr>
                <a:schemeClr val="dk1"/>
              </a:buClr>
              <a:buSzPts val="96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8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90"/>
          <p:cNvSpPr txBox="1"/>
          <p:nvPr>
            <p:ph type="title"/>
          </p:nvPr>
        </p:nvSpPr>
        <p:spPr>
          <a:xfrm>
            <a:off x="304800" y="274638"/>
            <a:ext cx="85344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9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9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2"/>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060"/>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2"/>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09880" lvl="0" marL="457200" algn="l">
              <a:spcBef>
                <a:spcPts val="640"/>
              </a:spcBef>
              <a:spcAft>
                <a:spcPts val="0"/>
              </a:spcAft>
              <a:buClr>
                <a:schemeClr val="dk1"/>
              </a:buClr>
              <a:buSzPts val="128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4" name="Google Shape;64;p92"/>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56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9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9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060"/>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3"/>
          <p:cNvSpPr/>
          <p:nvPr>
            <p:ph idx="2" type="pic"/>
          </p:nvPr>
        </p:nvSpPr>
        <p:spPr>
          <a:xfrm>
            <a:off x="1792288" y="612775"/>
            <a:ext cx="5486400" cy="4114800"/>
          </a:xfrm>
          <a:prstGeom prst="rect">
            <a:avLst/>
          </a:prstGeom>
          <a:noFill/>
          <a:ln>
            <a:noFill/>
          </a:ln>
        </p:spPr>
      </p:sp>
      <p:sp>
        <p:nvSpPr>
          <p:cNvPr id="71" name="Google Shape;71;p9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56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2" name="Google Shape;72;p9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94"/>
          <p:cNvSpPr txBox="1"/>
          <p:nvPr>
            <p:ph type="title"/>
          </p:nvPr>
        </p:nvSpPr>
        <p:spPr>
          <a:xfrm>
            <a:off x="304800" y="274638"/>
            <a:ext cx="85344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4"/>
          <p:cNvSpPr txBox="1"/>
          <p:nvPr>
            <p:ph idx="1" type="body"/>
          </p:nvPr>
        </p:nvSpPr>
        <p:spPr>
          <a:xfrm rot="5400000">
            <a:off x="2309019" y="-404017"/>
            <a:ext cx="4525963" cy="8534400"/>
          </a:xfrm>
          <a:prstGeom prst="rect">
            <a:avLst/>
          </a:prstGeom>
          <a:noFill/>
          <a:ln>
            <a:noFill/>
          </a:ln>
        </p:spPr>
        <p:txBody>
          <a:bodyPr anchorCtr="0" anchor="t" bIns="45700" lIns="91425" spcFirstLastPara="1" rIns="91425" wrap="square" tIns="45700">
            <a:normAutofit/>
          </a:bodyPr>
          <a:lstStyle>
            <a:lvl1pPr indent="-274320" lvl="0" marL="457200" algn="l">
              <a:spcBef>
                <a:spcPts val="360"/>
              </a:spcBef>
              <a:spcAft>
                <a:spcPts val="0"/>
              </a:spcAft>
              <a:buClr>
                <a:schemeClr val="dk1"/>
              </a:buClr>
              <a:buSzPts val="72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9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95"/>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95"/>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274320" lvl="0" marL="457200" algn="l">
              <a:spcBef>
                <a:spcPts val="360"/>
              </a:spcBef>
              <a:spcAft>
                <a:spcPts val="0"/>
              </a:spcAft>
              <a:buClr>
                <a:schemeClr val="dk1"/>
              </a:buClr>
              <a:buSzPts val="72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9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4"/>
          <p:cNvSpPr txBox="1"/>
          <p:nvPr>
            <p:ph type="title"/>
          </p:nvPr>
        </p:nvSpPr>
        <p:spPr>
          <a:xfrm>
            <a:off x="304800" y="274638"/>
            <a:ext cx="85344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002060"/>
              </a:buClr>
              <a:buSzPts val="4000"/>
              <a:buFont typeface="Calibri"/>
              <a:buNone/>
              <a:defRPr b="1" i="0" sz="4000" u="none" cap="none" strike="noStrik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4"/>
          <p:cNvSpPr txBox="1"/>
          <p:nvPr>
            <p:ph idx="1" type="body"/>
          </p:nvPr>
        </p:nvSpPr>
        <p:spPr>
          <a:xfrm>
            <a:off x="304800" y="1600202"/>
            <a:ext cx="8534400" cy="4525963"/>
          </a:xfrm>
          <a:prstGeom prst="rect">
            <a:avLst/>
          </a:prstGeom>
          <a:noFill/>
          <a:ln>
            <a:noFill/>
          </a:ln>
        </p:spPr>
        <p:txBody>
          <a:bodyPr anchorCtr="0" anchor="t" bIns="45700" lIns="91425" spcFirstLastPara="1" rIns="91425" wrap="square" tIns="45700">
            <a:normAutofit/>
          </a:bodyPr>
          <a:lstStyle>
            <a:lvl1pPr indent="-309880" lvl="0" marL="457200" marR="0" rtl="0" algn="l">
              <a:spcBef>
                <a:spcPts val="640"/>
              </a:spcBef>
              <a:spcAft>
                <a:spcPts val="0"/>
              </a:spcAft>
              <a:buClr>
                <a:schemeClr val="dk1"/>
              </a:buClr>
              <a:buSzPts val="1280"/>
              <a:buFont typeface="Noto Sans Symbols"/>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84"/>
          <p:cNvSpPr/>
          <p:nvPr/>
        </p:nvSpPr>
        <p:spPr>
          <a:xfrm>
            <a:off x="457200" y="1402081"/>
            <a:ext cx="914400" cy="89834"/>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84"/>
          <p:cNvSpPr/>
          <p:nvPr/>
        </p:nvSpPr>
        <p:spPr>
          <a:xfrm>
            <a:off x="1391653" y="1402080"/>
            <a:ext cx="7295147" cy="89836"/>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381000" y="3330577"/>
            <a:ext cx="83820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2060"/>
              </a:buClr>
              <a:buSzPts val="4400"/>
              <a:buFont typeface="Calibri"/>
              <a:buNone/>
            </a:pPr>
            <a:r>
              <a:rPr lang="en-US"/>
              <a:t>LẬP TRÌNH HỢP NGỮ</a:t>
            </a:r>
            <a:endParaRPr/>
          </a:p>
        </p:txBody>
      </p:sp>
      <p:sp>
        <p:nvSpPr>
          <p:cNvPr id="92" name="Google Shape;92;p1"/>
          <p:cNvSpPr txBox="1"/>
          <p:nvPr>
            <p:ph idx="1" type="subTitle"/>
          </p:nvPr>
        </p:nvSpPr>
        <p:spPr>
          <a:xfrm>
            <a:off x="609600" y="4495800"/>
            <a:ext cx="7924800" cy="1295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C00000"/>
              </a:buClr>
              <a:buSzPts val="1440"/>
              <a:buNone/>
            </a:pPr>
            <a:r>
              <a:rPr lang="en-US"/>
              <a:t>Intel 8086</a:t>
            </a:r>
            <a:endParaRPr/>
          </a:p>
        </p:txBody>
      </p:sp>
      <p:sp>
        <p:nvSpPr>
          <p:cNvPr id="93" name="Google Shape;93;p1"/>
          <p:cNvSpPr txBox="1"/>
          <p:nvPr>
            <p:ph idx="2" type="body"/>
          </p:nvPr>
        </p:nvSpPr>
        <p:spPr>
          <a:xfrm>
            <a:off x="1524000" y="5867400"/>
            <a:ext cx="7467600"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560"/>
              <a:buNone/>
            </a:pPr>
            <a:r>
              <a:t/>
            </a:r>
            <a:endParaRPr sz="1400"/>
          </a:p>
        </p:txBody>
      </p:sp>
      <p:sp>
        <p:nvSpPr>
          <p:cNvPr id="94" name="Google Shape;94;p1"/>
          <p:cNvSpPr txBox="1"/>
          <p:nvPr/>
        </p:nvSpPr>
        <p:spPr>
          <a:xfrm>
            <a:off x="76200" y="5867400"/>
            <a:ext cx="7467600" cy="914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lt1"/>
              </a:buClr>
              <a:buSzPts val="800"/>
              <a:buFont typeface="Noto Sans Symbols"/>
              <a:buNone/>
            </a:pPr>
            <a:r>
              <a:t/>
            </a:r>
            <a:endParaRPr b="0" i="0" sz="2000" u="none" cap="none" strike="noStrike">
              <a:solidFill>
                <a:schemeClr val="lt1"/>
              </a:solidFill>
              <a:latin typeface="Calibri"/>
              <a:ea typeface="Calibri"/>
              <a:cs typeface="Calibri"/>
              <a:sym typeface="Calibri"/>
            </a:endParaRPr>
          </a:p>
        </p:txBody>
      </p:sp>
      <p:sp>
        <p:nvSpPr>
          <p:cNvPr id="95" name="Google Shape;95;p1"/>
          <p:cNvSpPr/>
          <p:nvPr/>
        </p:nvSpPr>
        <p:spPr>
          <a:xfrm>
            <a:off x="5029200" y="2971800"/>
            <a:ext cx="11430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6" name="Google Shape;96;p1"/>
          <p:cNvPicPr preferRelativeResize="0"/>
          <p:nvPr/>
        </p:nvPicPr>
        <p:blipFill rotWithShape="1">
          <a:blip r:embed="rId3">
            <a:alphaModFix/>
          </a:blip>
          <a:srcRect b="0" l="0" r="0" t="0"/>
          <a:stretch/>
        </p:blipFill>
        <p:spPr>
          <a:xfrm>
            <a:off x="99394" y="76200"/>
            <a:ext cx="8945217" cy="3429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Khái niệm</a:t>
            </a:r>
            <a:endParaRPr/>
          </a:p>
        </p:txBody>
      </p:sp>
      <p:sp>
        <p:nvSpPr>
          <p:cNvPr id="102" name="Google Shape;102;p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b="1" lang="en-US"/>
              <a:t>Ngôn ngữ máy (ML - Machine Language)</a:t>
            </a:r>
            <a:endParaRPr/>
          </a:p>
          <a:p>
            <a:pPr indent="-285750" lvl="1" marL="742950" rtl="0" algn="l">
              <a:spcBef>
                <a:spcPts val="560"/>
              </a:spcBef>
              <a:spcAft>
                <a:spcPts val="0"/>
              </a:spcAft>
              <a:buClr>
                <a:schemeClr val="dk1"/>
              </a:buClr>
              <a:buSzPts val="2800"/>
              <a:buChar char="•"/>
            </a:pPr>
            <a:r>
              <a:rPr lang="en-US"/>
              <a:t>CPU trực tiếp “hiểu” và thực thi được</a:t>
            </a:r>
            <a:endParaRPr/>
          </a:p>
          <a:p>
            <a:pPr indent="-285750" lvl="1" marL="742950" rtl="0" algn="l">
              <a:spcBef>
                <a:spcPts val="560"/>
              </a:spcBef>
              <a:spcAft>
                <a:spcPts val="0"/>
              </a:spcAft>
              <a:buClr>
                <a:schemeClr val="dk1"/>
              </a:buClr>
              <a:buSzPts val="2800"/>
              <a:buChar char="•"/>
            </a:pPr>
            <a:r>
              <a:rPr lang="en-US"/>
              <a:t>Dạng nhị phân</a:t>
            </a:r>
            <a:endParaRPr/>
          </a:p>
          <a:p>
            <a:pPr indent="-285750" lvl="1" marL="742950" rtl="0" algn="l">
              <a:spcBef>
                <a:spcPts val="560"/>
              </a:spcBef>
              <a:spcAft>
                <a:spcPts val="0"/>
              </a:spcAft>
              <a:buClr>
                <a:schemeClr val="dk1"/>
              </a:buClr>
              <a:buSzPts val="2800"/>
              <a:buChar char="•"/>
            </a:pPr>
            <a:r>
              <a:rPr lang="en-US"/>
              <a:t>Độ dài lệnh do CPU qui định</a:t>
            </a:r>
            <a:endParaRPr/>
          </a:p>
          <a:p>
            <a:pPr indent="-342900" lvl="0" marL="342900" rtl="0" algn="l">
              <a:spcBef>
                <a:spcPts val="640"/>
              </a:spcBef>
              <a:spcAft>
                <a:spcPts val="0"/>
              </a:spcAft>
              <a:buClr>
                <a:schemeClr val="dk1"/>
              </a:buClr>
              <a:buSzPts val="1280"/>
              <a:buChar char="❑"/>
            </a:pPr>
            <a:r>
              <a:rPr b="1" lang="en-US"/>
              <a:t>Hợp ngữ (Assembly Language)</a:t>
            </a:r>
            <a:endParaRPr/>
          </a:p>
          <a:p>
            <a:pPr indent="-285750" lvl="1" marL="742950" rtl="0" algn="l">
              <a:spcBef>
                <a:spcPts val="560"/>
              </a:spcBef>
              <a:spcAft>
                <a:spcPts val="0"/>
              </a:spcAft>
              <a:buClr>
                <a:schemeClr val="dk1"/>
              </a:buClr>
              <a:buSzPts val="2800"/>
              <a:buChar char="•"/>
            </a:pPr>
            <a:r>
              <a:rPr lang="en-US"/>
              <a:t>Giúp lập trình viên dễ viết hơn ngôn ngữ máy</a:t>
            </a:r>
            <a:endParaRPr/>
          </a:p>
          <a:p>
            <a:pPr indent="-285750" lvl="1" marL="742950" rtl="0" algn="l">
              <a:spcBef>
                <a:spcPts val="560"/>
              </a:spcBef>
              <a:spcAft>
                <a:spcPts val="0"/>
              </a:spcAft>
              <a:buClr>
                <a:schemeClr val="dk1"/>
              </a:buClr>
              <a:buSzPts val="2800"/>
              <a:buChar char="•"/>
            </a:pPr>
            <a:r>
              <a:rPr lang="en-US"/>
              <a:t>Thay thế lệnh dạng nhị phân bằng ký hiệu tượng trưng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Khái niệm</a:t>
            </a:r>
            <a:endParaRPr/>
          </a:p>
        </p:txBody>
      </p:sp>
      <p:sp>
        <p:nvSpPr>
          <p:cNvPr id="108" name="Google Shape;108;p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b="1" lang="en-US"/>
              <a:t>Ngôn ngữ cấp cao (High Level Language)</a:t>
            </a:r>
            <a:endParaRPr/>
          </a:p>
          <a:p>
            <a:pPr indent="-285750" lvl="1" marL="742950" rtl="0" algn="l">
              <a:spcBef>
                <a:spcPts val="560"/>
              </a:spcBef>
              <a:spcAft>
                <a:spcPts val="0"/>
              </a:spcAft>
              <a:buClr>
                <a:schemeClr val="dk1"/>
              </a:buClr>
              <a:buSzPts val="2800"/>
              <a:buChar char="•"/>
            </a:pPr>
            <a:r>
              <a:rPr lang="en-US"/>
              <a:t>Gần gũi với con người</a:t>
            </a:r>
            <a:endParaRPr/>
          </a:p>
          <a:p>
            <a:pPr indent="-342900" lvl="0" marL="342900" rtl="0" algn="l">
              <a:spcBef>
                <a:spcPts val="640"/>
              </a:spcBef>
              <a:spcAft>
                <a:spcPts val="0"/>
              </a:spcAft>
              <a:buClr>
                <a:schemeClr val="dk1"/>
              </a:buClr>
              <a:buSzPts val="1280"/>
              <a:buChar char="❑"/>
            </a:pPr>
            <a:r>
              <a:rPr lang="en-US"/>
              <a:t>ASM và HLL phải dịch về ML để thực hiện</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Tương đương logic giữa các ngôn ngữ</a:t>
            </a:r>
            <a:endParaRPr/>
          </a:p>
        </p:txBody>
      </p:sp>
      <p:sp>
        <p:nvSpPr>
          <p:cNvPr id="114" name="Google Shape;114;p4"/>
          <p:cNvSpPr/>
          <p:nvPr/>
        </p:nvSpPr>
        <p:spPr>
          <a:xfrm>
            <a:off x="533400" y="3505200"/>
            <a:ext cx="1752600" cy="609600"/>
          </a:xfrm>
          <a:prstGeom prst="roundRect">
            <a:avLst>
              <a:gd fmla="val 16667" name="adj"/>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HLL</a:t>
            </a:r>
            <a:endParaRPr/>
          </a:p>
        </p:txBody>
      </p:sp>
      <p:sp>
        <p:nvSpPr>
          <p:cNvPr id="115" name="Google Shape;115;p4"/>
          <p:cNvSpPr/>
          <p:nvPr/>
        </p:nvSpPr>
        <p:spPr>
          <a:xfrm>
            <a:off x="3505200" y="3505200"/>
            <a:ext cx="1752600" cy="609600"/>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ASM</a:t>
            </a:r>
            <a:endParaRPr/>
          </a:p>
        </p:txBody>
      </p:sp>
      <p:sp>
        <p:nvSpPr>
          <p:cNvPr id="116" name="Google Shape;116;p4"/>
          <p:cNvSpPr/>
          <p:nvPr/>
        </p:nvSpPr>
        <p:spPr>
          <a:xfrm>
            <a:off x="3525982" y="4343400"/>
            <a:ext cx="1752600" cy="609600"/>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ASM</a:t>
            </a:r>
            <a:endParaRPr/>
          </a:p>
        </p:txBody>
      </p:sp>
      <p:sp>
        <p:nvSpPr>
          <p:cNvPr id="117" name="Google Shape;117;p4"/>
          <p:cNvSpPr/>
          <p:nvPr/>
        </p:nvSpPr>
        <p:spPr>
          <a:xfrm>
            <a:off x="3505200" y="2667000"/>
            <a:ext cx="1752600" cy="609600"/>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ASM</a:t>
            </a:r>
            <a:endParaRPr/>
          </a:p>
        </p:txBody>
      </p:sp>
      <p:sp>
        <p:nvSpPr>
          <p:cNvPr id="118" name="Google Shape;118;p4"/>
          <p:cNvSpPr/>
          <p:nvPr/>
        </p:nvSpPr>
        <p:spPr>
          <a:xfrm>
            <a:off x="6532418" y="3505200"/>
            <a:ext cx="1752600" cy="609600"/>
          </a:xfrm>
          <a:prstGeom prst="roundRect">
            <a:avLst>
              <a:gd fmla="val 16667" name="adj"/>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ML</a:t>
            </a:r>
            <a:endParaRPr/>
          </a:p>
        </p:txBody>
      </p:sp>
      <p:sp>
        <p:nvSpPr>
          <p:cNvPr id="119" name="Google Shape;119;p4"/>
          <p:cNvSpPr/>
          <p:nvPr/>
        </p:nvSpPr>
        <p:spPr>
          <a:xfrm>
            <a:off x="6553200" y="4343400"/>
            <a:ext cx="1752600" cy="609600"/>
          </a:xfrm>
          <a:prstGeom prst="roundRect">
            <a:avLst>
              <a:gd fmla="val 16667" name="adj"/>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ML</a:t>
            </a:r>
            <a:endParaRPr/>
          </a:p>
        </p:txBody>
      </p:sp>
      <p:sp>
        <p:nvSpPr>
          <p:cNvPr id="120" name="Google Shape;120;p4"/>
          <p:cNvSpPr/>
          <p:nvPr/>
        </p:nvSpPr>
        <p:spPr>
          <a:xfrm>
            <a:off x="6532418" y="2667000"/>
            <a:ext cx="1752600" cy="609600"/>
          </a:xfrm>
          <a:prstGeom prst="roundRect">
            <a:avLst>
              <a:gd fmla="val 16667" name="adj"/>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ML</a:t>
            </a:r>
            <a:endParaRPr/>
          </a:p>
        </p:txBody>
      </p:sp>
      <p:cxnSp>
        <p:nvCxnSpPr>
          <p:cNvPr id="121" name="Google Shape;121;p4"/>
          <p:cNvCxnSpPr>
            <a:stCxn id="114" idx="3"/>
            <a:endCxn id="115" idx="1"/>
          </p:cNvCxnSpPr>
          <p:nvPr/>
        </p:nvCxnSpPr>
        <p:spPr>
          <a:xfrm>
            <a:off x="2286000" y="3810000"/>
            <a:ext cx="12192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122" name="Google Shape;122;p4"/>
          <p:cNvCxnSpPr>
            <a:stCxn id="114" idx="3"/>
            <a:endCxn id="116" idx="1"/>
          </p:cNvCxnSpPr>
          <p:nvPr/>
        </p:nvCxnSpPr>
        <p:spPr>
          <a:xfrm>
            <a:off x="2286000" y="3810000"/>
            <a:ext cx="1239900" cy="8382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123" name="Google Shape;123;p4"/>
          <p:cNvCxnSpPr>
            <a:stCxn id="114" idx="3"/>
            <a:endCxn id="117" idx="1"/>
          </p:cNvCxnSpPr>
          <p:nvPr/>
        </p:nvCxnSpPr>
        <p:spPr>
          <a:xfrm flipH="1" rot="10800000">
            <a:off x="2286000" y="2971800"/>
            <a:ext cx="1219200" cy="8382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124" name="Google Shape;124;p4"/>
          <p:cNvCxnSpPr/>
          <p:nvPr/>
        </p:nvCxnSpPr>
        <p:spPr>
          <a:xfrm>
            <a:off x="5292437" y="3810000"/>
            <a:ext cx="1219200" cy="0"/>
          </a:xfrm>
          <a:prstGeom prst="straightConnector1">
            <a:avLst/>
          </a:prstGeom>
          <a:noFill/>
          <a:ln cap="flat" cmpd="sng" w="38100">
            <a:solidFill>
              <a:schemeClr val="dk1"/>
            </a:solidFill>
            <a:prstDash val="solid"/>
            <a:round/>
            <a:headEnd len="med" w="med" type="triangle"/>
            <a:tailEnd len="med" w="med" type="triangle"/>
          </a:ln>
          <a:effectLst>
            <a:outerShdw blurRad="40000" rotWithShape="0" dir="5400000" dist="20000">
              <a:srgbClr val="000000">
                <a:alpha val="37647"/>
              </a:srgbClr>
            </a:outerShdw>
          </a:effectLst>
        </p:spPr>
      </p:cxnSp>
      <p:cxnSp>
        <p:nvCxnSpPr>
          <p:cNvPr id="125" name="Google Shape;125;p4"/>
          <p:cNvCxnSpPr/>
          <p:nvPr/>
        </p:nvCxnSpPr>
        <p:spPr>
          <a:xfrm>
            <a:off x="5299365" y="4648200"/>
            <a:ext cx="1219200" cy="0"/>
          </a:xfrm>
          <a:prstGeom prst="straightConnector1">
            <a:avLst/>
          </a:prstGeom>
          <a:noFill/>
          <a:ln cap="flat" cmpd="sng" w="38100">
            <a:solidFill>
              <a:schemeClr val="dk1"/>
            </a:solidFill>
            <a:prstDash val="solid"/>
            <a:round/>
            <a:headEnd len="med" w="med" type="triangle"/>
            <a:tailEnd len="med" w="med" type="triangle"/>
          </a:ln>
          <a:effectLst>
            <a:outerShdw blurRad="40000" rotWithShape="0" dir="5400000" dist="20000">
              <a:srgbClr val="000000">
                <a:alpha val="37647"/>
              </a:srgbClr>
            </a:outerShdw>
          </a:effectLst>
        </p:spPr>
      </p:cxnSp>
      <p:cxnSp>
        <p:nvCxnSpPr>
          <p:cNvPr id="126" name="Google Shape;126;p4"/>
          <p:cNvCxnSpPr/>
          <p:nvPr/>
        </p:nvCxnSpPr>
        <p:spPr>
          <a:xfrm>
            <a:off x="5278582" y="2971800"/>
            <a:ext cx="1219200" cy="0"/>
          </a:xfrm>
          <a:prstGeom prst="straightConnector1">
            <a:avLst/>
          </a:prstGeom>
          <a:noFill/>
          <a:ln cap="flat" cmpd="sng" w="38100">
            <a:solidFill>
              <a:schemeClr val="dk1"/>
            </a:solidFill>
            <a:prstDash val="solid"/>
            <a:round/>
            <a:headEnd len="med" w="med" type="triangle"/>
            <a:tailEnd len="med" w="med" type="triangle"/>
          </a:ln>
          <a:effectLst>
            <a:outerShdw blurRad="40000" rotWithShape="0" dir="5400000" dist="20000">
              <a:srgbClr val="000000">
                <a:alpha val="37647"/>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Tại sao phải lập trình hợp ngữ?</a:t>
            </a:r>
            <a:endParaRPr/>
          </a:p>
        </p:txBody>
      </p:sp>
      <p:sp>
        <p:nvSpPr>
          <p:cNvPr id="132" name="Google Shape;132;p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Chương trình nhanh, nhỏ gọn</a:t>
            </a:r>
            <a:endParaRPr/>
          </a:p>
          <a:p>
            <a:pPr indent="-342900" lvl="0" marL="342900" rtl="0" algn="l">
              <a:spcBef>
                <a:spcPts val="640"/>
              </a:spcBef>
              <a:spcAft>
                <a:spcPts val="0"/>
              </a:spcAft>
              <a:buClr>
                <a:schemeClr val="dk1"/>
              </a:buClr>
              <a:buSzPts val="1280"/>
              <a:buChar char="❑"/>
            </a:pPr>
            <a:r>
              <a:rPr lang="en-US"/>
              <a:t>Khai thác trực tiếp thiết bị</a:t>
            </a:r>
            <a:endParaRPr/>
          </a:p>
          <a:p>
            <a:pPr indent="-342900" lvl="0" marL="342900" rtl="0" algn="l">
              <a:spcBef>
                <a:spcPts val="640"/>
              </a:spcBef>
              <a:spcAft>
                <a:spcPts val="0"/>
              </a:spcAft>
              <a:buClr>
                <a:schemeClr val="dk1"/>
              </a:buClr>
              <a:buSzPts val="1280"/>
              <a:buChar char="❑"/>
            </a:pPr>
            <a:r>
              <a:rPr lang="en-US"/>
              <a:t>Làm việc ở cấp độ thấp</a:t>
            </a:r>
            <a:endParaRPr/>
          </a:p>
          <a:p>
            <a:pPr indent="-285750" lvl="1" marL="742950" rtl="0" algn="l">
              <a:spcBef>
                <a:spcPts val="560"/>
              </a:spcBef>
              <a:spcAft>
                <a:spcPts val="0"/>
              </a:spcAft>
              <a:buClr>
                <a:schemeClr val="dk1"/>
              </a:buClr>
              <a:buSzPts val="2800"/>
              <a:buChar char="•"/>
            </a:pPr>
            <a:r>
              <a:rPr lang="en-US"/>
              <a:t>Thiết kế máy tính</a:t>
            </a:r>
            <a:endParaRPr/>
          </a:p>
          <a:p>
            <a:pPr indent="-285750" lvl="1" marL="742950" rtl="0" algn="l">
              <a:spcBef>
                <a:spcPts val="560"/>
              </a:spcBef>
              <a:spcAft>
                <a:spcPts val="0"/>
              </a:spcAft>
              <a:buClr>
                <a:schemeClr val="dk1"/>
              </a:buClr>
              <a:buSzPts val="2800"/>
              <a:buChar char="•"/>
            </a:pPr>
            <a:r>
              <a:rPr lang="en-US"/>
              <a:t>Viết trình dịch (compiler), trình điều khiển thiết bị (driver)</a:t>
            </a:r>
            <a:endParaRPr/>
          </a:p>
          <a:p>
            <a:pPr indent="-285750" lvl="1" marL="742950" rtl="0" algn="l">
              <a:spcBef>
                <a:spcPts val="560"/>
              </a:spcBef>
              <a:spcAft>
                <a:spcPts val="0"/>
              </a:spcAft>
              <a:buClr>
                <a:schemeClr val="dk1"/>
              </a:buClr>
              <a:buSzPts val="2800"/>
              <a:buChar char="•"/>
            </a:pPr>
            <a:r>
              <a:rPr lang="en-US"/>
              <a:t>Reverse Engineering</a:t>
            </a:r>
            <a:endParaRPr/>
          </a:p>
          <a:p>
            <a:pPr indent="-342900" lvl="0" marL="342900" rtl="0" algn="l">
              <a:spcBef>
                <a:spcPts val="640"/>
              </a:spcBef>
              <a:spcAft>
                <a:spcPts val="0"/>
              </a:spcAft>
              <a:buClr>
                <a:schemeClr val="dk1"/>
              </a:buClr>
              <a:buSzPts val="1280"/>
              <a:buChar char="❑"/>
            </a:pPr>
            <a:r>
              <a:rPr lang="en-US"/>
              <a:t>Lập trình hệ thống nhúng (embedded system)</a:t>
            </a:r>
            <a:endParaRPr/>
          </a:p>
          <a:p>
            <a:pPr indent="-285750" lvl="1" marL="742950" rtl="0" algn="l">
              <a:spcBef>
                <a:spcPts val="560"/>
              </a:spcBef>
              <a:spcAft>
                <a:spcPts val="0"/>
              </a:spcAft>
              <a:buClr>
                <a:schemeClr val="dk1"/>
              </a:buClr>
              <a:buSzPts val="2800"/>
              <a:buChar char="•"/>
            </a:pPr>
            <a:r>
              <a:rPr lang="en-US"/>
              <a:t>Tài nguyên hạn chế</a:t>
            </a:r>
            <a:endParaRPr/>
          </a:p>
          <a:p>
            <a:pPr indent="-285750" lvl="1" marL="742950" rtl="0" algn="l">
              <a:spcBef>
                <a:spcPts val="560"/>
              </a:spcBef>
              <a:spcAft>
                <a:spcPts val="0"/>
              </a:spcAft>
              <a:buClr>
                <a:schemeClr val="dk1"/>
              </a:buClr>
              <a:buSzPts val="2800"/>
              <a:buChar char="•"/>
            </a:pPr>
            <a:r>
              <a:rPr lang="en-US"/>
              <a:t>Tối ưu phần mềm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Viết và chạy chương trình hợp ngữ</a:t>
            </a:r>
            <a:endParaRPr/>
          </a:p>
        </p:txBody>
      </p:sp>
      <p:grpSp>
        <p:nvGrpSpPr>
          <p:cNvPr id="138" name="Google Shape;138;p6"/>
          <p:cNvGrpSpPr/>
          <p:nvPr/>
        </p:nvGrpSpPr>
        <p:grpSpPr>
          <a:xfrm>
            <a:off x="1286187" y="2286000"/>
            <a:ext cx="6571631" cy="1371600"/>
            <a:chOff x="838200" y="3352800"/>
            <a:chExt cx="6571631" cy="1371600"/>
          </a:xfrm>
        </p:grpSpPr>
        <p:sp>
          <p:nvSpPr>
            <p:cNvPr id="139" name="Google Shape;139;p6"/>
            <p:cNvSpPr/>
            <p:nvPr/>
          </p:nvSpPr>
          <p:spPr>
            <a:xfrm>
              <a:off x="838200" y="3352800"/>
              <a:ext cx="1981200" cy="1371600"/>
            </a:xfrm>
            <a:prstGeom prst="rect">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Chương trình nguồn hợp ngữ</a:t>
              </a:r>
              <a:endParaRPr/>
            </a:p>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(plain text, .asm)</a:t>
              </a:r>
              <a:endParaRPr/>
            </a:p>
          </p:txBody>
        </p:sp>
        <p:sp>
          <p:nvSpPr>
            <p:cNvPr id="140" name="Google Shape;140;p6"/>
            <p:cNvSpPr/>
            <p:nvPr/>
          </p:nvSpPr>
          <p:spPr>
            <a:xfrm>
              <a:off x="2895600" y="3886200"/>
              <a:ext cx="2438400" cy="304800"/>
            </a:xfrm>
            <a:prstGeom prst="rightArrow">
              <a:avLst>
                <a:gd fmla="val 50000" name="adj1"/>
                <a:gd fmla="val 50000" name="adj2"/>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6"/>
            <p:cNvSpPr txBox="1"/>
            <p:nvPr/>
          </p:nvSpPr>
          <p:spPr>
            <a:xfrm>
              <a:off x="3540949" y="3523795"/>
              <a:ext cx="10310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Hợp dịch</a:t>
              </a:r>
              <a:endParaRPr/>
            </a:p>
          </p:txBody>
        </p:sp>
        <p:sp>
          <p:nvSpPr>
            <p:cNvPr id="142" name="Google Shape;142;p6"/>
            <p:cNvSpPr/>
            <p:nvPr/>
          </p:nvSpPr>
          <p:spPr>
            <a:xfrm>
              <a:off x="5428631" y="3352800"/>
              <a:ext cx="1981200" cy="1371600"/>
            </a:xfrm>
            <a:prstGeom prst="rect">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Chương trình ngôn ngữ máy</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(nhị phân)</a:t>
              </a:r>
              <a:endParaRPr/>
            </a:p>
          </p:txBody>
        </p:sp>
      </p:grpSp>
      <p:sp>
        <p:nvSpPr>
          <p:cNvPr id="143" name="Google Shape;143;p6"/>
          <p:cNvSpPr/>
          <p:nvPr/>
        </p:nvSpPr>
        <p:spPr>
          <a:xfrm>
            <a:off x="1286187" y="4724400"/>
            <a:ext cx="1838015" cy="914400"/>
          </a:xfrm>
          <a:prstGeom prst="wedgeRoundRectCallout">
            <a:avLst>
              <a:gd fmla="val -7265" name="adj1"/>
              <a:gd fmla="val -149621" name="adj2"/>
              <a:gd fmla="val 16667" name="adj3"/>
            </a:avLst>
          </a:prstGeom>
          <a:solidFill>
            <a:schemeClr val="l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Text editor, IDE</a:t>
            </a:r>
            <a:endParaRPr/>
          </a:p>
        </p:txBody>
      </p:sp>
      <p:sp>
        <p:nvSpPr>
          <p:cNvPr id="144" name="Google Shape;144;p6"/>
          <p:cNvSpPr/>
          <p:nvPr/>
        </p:nvSpPr>
        <p:spPr>
          <a:xfrm>
            <a:off x="3505200" y="4045527"/>
            <a:ext cx="2371416" cy="914400"/>
          </a:xfrm>
          <a:prstGeom prst="wedgeRoundRectCallout">
            <a:avLst>
              <a:gd fmla="val -14276" name="adj1"/>
              <a:gd fmla="val -145076" name="adj2"/>
              <a:gd fmla="val 16667" name="adj3"/>
            </a:avLst>
          </a:prstGeom>
          <a:solidFill>
            <a:schemeClr val="l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Turbo Assembler,</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Microsoft Assembler,</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Netwide Assembler,…</a:t>
            </a:r>
            <a:endParaRPr/>
          </a:p>
        </p:txBody>
      </p:sp>
      <p:sp>
        <p:nvSpPr>
          <p:cNvPr id="145" name="Google Shape;145;p6"/>
          <p:cNvSpPr/>
          <p:nvPr/>
        </p:nvSpPr>
        <p:spPr>
          <a:xfrm>
            <a:off x="6257618" y="4724400"/>
            <a:ext cx="1838015" cy="914400"/>
          </a:xfrm>
          <a:prstGeom prst="wedgeRoundRectCallout">
            <a:avLst>
              <a:gd fmla="val -7265" name="adj1"/>
              <a:gd fmla="val -149621" name="adj2"/>
              <a:gd fmla="val 16667" name="adj3"/>
            </a:avLst>
          </a:prstGeom>
          <a:solidFill>
            <a:schemeClr val="l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.EXE, .COM,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Biểu diễn dữ liệu trong bộ nhớ</a:t>
            </a:r>
            <a:endParaRPr/>
          </a:p>
        </p:txBody>
      </p:sp>
      <p:sp>
        <p:nvSpPr>
          <p:cNvPr id="151" name="Google Shape;151;p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Byte (8 bit)</a:t>
            </a:r>
            <a:endParaRPr/>
          </a:p>
          <a:p>
            <a:pPr indent="-285750" lvl="1" marL="742950" rtl="0" algn="l">
              <a:spcBef>
                <a:spcPts val="560"/>
              </a:spcBef>
              <a:spcAft>
                <a:spcPts val="0"/>
              </a:spcAft>
              <a:buClr>
                <a:schemeClr val="dk1"/>
              </a:buClr>
              <a:buSzPts val="2800"/>
              <a:buChar char="•"/>
            </a:pPr>
            <a:r>
              <a:rPr lang="en-US"/>
              <a:t>Giá trị: 0..255 hoặc -128..127</a:t>
            </a:r>
            <a:endParaRPr/>
          </a:p>
          <a:p>
            <a:pPr indent="-342900" lvl="0" marL="342900" rtl="0" algn="l">
              <a:spcBef>
                <a:spcPts val="640"/>
              </a:spcBef>
              <a:spcAft>
                <a:spcPts val="0"/>
              </a:spcAft>
              <a:buClr>
                <a:schemeClr val="dk1"/>
              </a:buClr>
              <a:buSzPts val="1280"/>
              <a:buChar char="❑"/>
            </a:pPr>
            <a:r>
              <a:rPr lang="en-US"/>
              <a:t>Word (16 bit)</a:t>
            </a:r>
            <a:endParaRPr/>
          </a:p>
          <a:p>
            <a:pPr indent="-285750" lvl="1" marL="742950" rtl="0" algn="l">
              <a:spcBef>
                <a:spcPts val="560"/>
              </a:spcBef>
              <a:spcAft>
                <a:spcPts val="0"/>
              </a:spcAft>
              <a:buClr>
                <a:schemeClr val="dk1"/>
              </a:buClr>
              <a:buSzPts val="2800"/>
              <a:buChar char="•"/>
            </a:pPr>
            <a:r>
              <a:rPr lang="en-US"/>
              <a:t>Giá trị: 0..65535 hoặc -32768..32767</a:t>
            </a:r>
            <a:endParaRPr/>
          </a:p>
          <a:p>
            <a:pPr indent="-285750" lvl="1" marL="742950" rtl="0" algn="l">
              <a:spcBef>
                <a:spcPts val="560"/>
              </a:spcBef>
              <a:spcAft>
                <a:spcPts val="0"/>
              </a:spcAft>
              <a:buClr>
                <a:schemeClr val="dk1"/>
              </a:buClr>
              <a:buSzPts val="2800"/>
              <a:buChar char="•"/>
            </a:pPr>
            <a:r>
              <a:rPr lang="en-US"/>
              <a:t>Lưu trữ trong bộ nhớ: byte cao lưu địa chỉ cao, byte thấp lưu địa chỉ thấp</a:t>
            </a:r>
            <a:endParaRPr/>
          </a:p>
          <a:p>
            <a:pPr indent="-285750" lvl="1" marL="742950" rtl="0" algn="l">
              <a:spcBef>
                <a:spcPts val="560"/>
              </a:spcBef>
              <a:spcAft>
                <a:spcPts val="0"/>
              </a:spcAft>
              <a:buClr>
                <a:schemeClr val="dk1"/>
              </a:buClr>
              <a:buSzPts val="2800"/>
              <a:buChar char="•"/>
            </a:pPr>
            <a:r>
              <a:rPr lang="en-US"/>
              <a:t>Ví dụ: (20400)</a:t>
            </a:r>
            <a:r>
              <a:rPr baseline="-25000" lang="en-US"/>
              <a:t>10</a:t>
            </a:r>
            <a:r>
              <a:rPr lang="en-US"/>
              <a:t> = (4FB0)</a:t>
            </a:r>
            <a:r>
              <a:rPr baseline="-25000" lang="en-US"/>
              <a:t>16</a:t>
            </a:r>
            <a:endParaRPr/>
          </a:p>
        </p:txBody>
      </p:sp>
      <p:graphicFrame>
        <p:nvGraphicFramePr>
          <p:cNvPr id="152" name="Google Shape;152;p7"/>
          <p:cNvGraphicFramePr/>
          <p:nvPr/>
        </p:nvGraphicFramePr>
        <p:xfrm>
          <a:off x="1676400" y="5410200"/>
          <a:ext cx="3000000" cy="3000000"/>
        </p:xfrm>
        <a:graphic>
          <a:graphicData uri="http://schemas.openxmlformats.org/drawingml/2006/table">
            <a:tbl>
              <a:tblPr bandRow="1" firstRow="1">
                <a:noFill/>
                <a:tableStyleId>{1CD154A0-517F-4B4A-82E1-0E76DB0E4BF0}</a:tableStyleId>
              </a:tblPr>
              <a:tblGrid>
                <a:gridCol w="1219200"/>
                <a:gridCol w="1828800"/>
              </a:tblGrid>
              <a:tr h="370850">
                <a:tc>
                  <a:txBody>
                    <a:bodyPr/>
                    <a:lstStyle/>
                    <a:p>
                      <a:pPr indent="0" lvl="0" marL="0" marR="0" rtl="0" algn="ctr">
                        <a:spcBef>
                          <a:spcPts val="0"/>
                        </a:spcBef>
                        <a:spcAft>
                          <a:spcPts val="0"/>
                        </a:spcAft>
                        <a:buNone/>
                      </a:pPr>
                      <a:r>
                        <a:rPr lang="en-US" sz="1800" u="none" cap="none" strike="noStrike"/>
                        <a:t>Địa chỉ</a:t>
                      </a:r>
                      <a:endParaRPr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Giá trị ô nhớ</a:t>
                      </a:r>
                      <a:endParaRPr sz="1800" u="none" cap="none" strike="noStrike"/>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i</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B0</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i + 1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4F</a:t>
                      </a:r>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Biểu diễn dữ liệu trong bộ nhớ (2)</a:t>
            </a:r>
            <a:endParaRPr/>
          </a:p>
        </p:txBody>
      </p:sp>
      <p:sp>
        <p:nvSpPr>
          <p:cNvPr id="158" name="Google Shape;158;p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Ký tự</a:t>
            </a:r>
            <a:endParaRPr/>
          </a:p>
          <a:p>
            <a:pPr indent="-285750" lvl="1" marL="742950" rtl="0" algn="l">
              <a:spcBef>
                <a:spcPts val="560"/>
              </a:spcBef>
              <a:spcAft>
                <a:spcPts val="0"/>
              </a:spcAft>
              <a:buClr>
                <a:schemeClr val="dk1"/>
              </a:buClr>
              <a:buSzPts val="2800"/>
              <a:buChar char="•"/>
            </a:pPr>
            <a:r>
              <a:rPr lang="en-US"/>
              <a:t>Cách viết: ‘a’, “a”</a:t>
            </a:r>
            <a:endParaRPr/>
          </a:p>
          <a:p>
            <a:pPr indent="-285750" lvl="1" marL="742950" rtl="0" algn="l">
              <a:spcBef>
                <a:spcPts val="560"/>
              </a:spcBef>
              <a:spcAft>
                <a:spcPts val="0"/>
              </a:spcAft>
              <a:buClr>
                <a:schemeClr val="dk1"/>
              </a:buClr>
              <a:buSzPts val="2800"/>
              <a:buChar char="•"/>
            </a:pPr>
            <a:r>
              <a:rPr lang="en-US"/>
              <a:t>Lưu trong bộ nhớ dạng mã ASCII 8 bit</a:t>
            </a:r>
            <a:endParaRPr/>
          </a:p>
          <a:p>
            <a:pPr indent="-285750" lvl="1" marL="742950" rtl="0" algn="l">
              <a:spcBef>
                <a:spcPts val="560"/>
              </a:spcBef>
              <a:spcAft>
                <a:spcPts val="0"/>
              </a:spcAft>
              <a:buClr>
                <a:schemeClr val="dk1"/>
              </a:buClr>
              <a:buSzPts val="2800"/>
              <a:buChar char="•"/>
            </a:pPr>
            <a:r>
              <a:rPr lang="en-US"/>
              <a:t>Ví dụ: ‘a’ 🡪   </a:t>
            </a:r>
            <a:endParaRPr/>
          </a:p>
          <a:p>
            <a:pPr indent="-342900" lvl="0" marL="342900" rtl="0" algn="l">
              <a:spcBef>
                <a:spcPts val="640"/>
              </a:spcBef>
              <a:spcAft>
                <a:spcPts val="0"/>
              </a:spcAft>
              <a:buClr>
                <a:schemeClr val="dk1"/>
              </a:buClr>
              <a:buSzPts val="1280"/>
              <a:buChar char="❑"/>
            </a:pPr>
            <a:r>
              <a:rPr lang="en-US"/>
              <a:t>Chuỗi</a:t>
            </a:r>
            <a:endParaRPr/>
          </a:p>
          <a:p>
            <a:pPr indent="-285750" lvl="1" marL="742950" rtl="0" algn="l">
              <a:spcBef>
                <a:spcPts val="560"/>
              </a:spcBef>
              <a:spcAft>
                <a:spcPts val="0"/>
              </a:spcAft>
              <a:buClr>
                <a:schemeClr val="dk1"/>
              </a:buClr>
              <a:buSzPts val="2800"/>
              <a:buChar char="•"/>
            </a:pPr>
            <a:r>
              <a:rPr lang="en-US"/>
              <a:t>Cách viết: ‘abc’, “abc”</a:t>
            </a:r>
            <a:endParaRPr/>
          </a:p>
          <a:p>
            <a:pPr indent="-285750" lvl="1" marL="742950" rtl="0" algn="l">
              <a:spcBef>
                <a:spcPts val="560"/>
              </a:spcBef>
              <a:spcAft>
                <a:spcPts val="0"/>
              </a:spcAft>
              <a:buClr>
                <a:schemeClr val="dk1"/>
              </a:buClr>
              <a:buSzPts val="2800"/>
              <a:buChar char="•"/>
            </a:pPr>
            <a:r>
              <a:rPr lang="en-US"/>
              <a:t>Lưu trong bộ nhớ dạng dãy ký tự</a:t>
            </a:r>
            <a:endParaRPr/>
          </a:p>
          <a:p>
            <a:pPr indent="-285750" lvl="1" marL="742950" rtl="0" algn="l">
              <a:spcBef>
                <a:spcPts val="560"/>
              </a:spcBef>
              <a:spcAft>
                <a:spcPts val="0"/>
              </a:spcAft>
              <a:buClr>
                <a:schemeClr val="dk1"/>
              </a:buClr>
              <a:buSzPts val="2800"/>
              <a:buChar char="•"/>
            </a:pPr>
            <a:r>
              <a:rPr lang="en-US"/>
              <a:t>Ví dụ: “abc”</a:t>
            </a:r>
            <a:endParaRPr/>
          </a:p>
          <a:p>
            <a:pPr indent="0" lvl="1" marL="457200" rtl="0" algn="l">
              <a:spcBef>
                <a:spcPts val="560"/>
              </a:spcBef>
              <a:spcAft>
                <a:spcPts val="0"/>
              </a:spcAft>
              <a:buClr>
                <a:schemeClr val="dk1"/>
              </a:buClr>
              <a:buSzPts val="2800"/>
              <a:buNone/>
            </a:pPr>
            <a:r>
              <a:rPr lang="en-US"/>
              <a:t>🡪 </a:t>
            </a:r>
            <a:endParaRPr/>
          </a:p>
        </p:txBody>
      </p:sp>
      <p:graphicFrame>
        <p:nvGraphicFramePr>
          <p:cNvPr id="159" name="Google Shape;159;p8"/>
          <p:cNvGraphicFramePr/>
          <p:nvPr/>
        </p:nvGraphicFramePr>
        <p:xfrm>
          <a:off x="1676400" y="5943600"/>
          <a:ext cx="3000000" cy="3000000"/>
        </p:xfrm>
        <a:graphic>
          <a:graphicData uri="http://schemas.openxmlformats.org/drawingml/2006/table">
            <a:tbl>
              <a:tblPr bandRow="1" firstRow="1">
                <a:noFill/>
                <a:tableStyleId>{1CD154A0-517F-4B4A-82E1-0E76DB0E4BF0}</a:tableStyleId>
              </a:tblPr>
              <a:tblGrid>
                <a:gridCol w="1117600"/>
                <a:gridCol w="1117600"/>
                <a:gridCol w="1117600"/>
              </a:tblGrid>
              <a:tr h="370850">
                <a:tc>
                  <a:txBody>
                    <a:bodyPr/>
                    <a:lstStyle/>
                    <a:p>
                      <a:pPr indent="0" lvl="0" marL="0" marR="0" rtl="0" algn="ctr">
                        <a:spcBef>
                          <a:spcPts val="0"/>
                        </a:spcBef>
                        <a:spcAft>
                          <a:spcPts val="0"/>
                        </a:spcAft>
                        <a:buNone/>
                      </a:pPr>
                      <a:r>
                        <a:rPr lang="en-US" sz="1800" u="none" cap="none" strike="noStrike"/>
                        <a:t>97</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98</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99</a:t>
                      </a:r>
                      <a:endParaRPr/>
                    </a:p>
                  </a:txBody>
                  <a:tcPr marT="45725" marB="45725" marR="91450" marL="91450"/>
                </a:tc>
              </a:tr>
            </a:tbl>
          </a:graphicData>
        </a:graphic>
      </p:graphicFrame>
      <p:graphicFrame>
        <p:nvGraphicFramePr>
          <p:cNvPr id="160" name="Google Shape;160;p8"/>
          <p:cNvGraphicFramePr/>
          <p:nvPr/>
        </p:nvGraphicFramePr>
        <p:xfrm>
          <a:off x="3124200" y="3276600"/>
          <a:ext cx="3000000" cy="3000000"/>
        </p:xfrm>
        <a:graphic>
          <a:graphicData uri="http://schemas.openxmlformats.org/drawingml/2006/table">
            <a:tbl>
              <a:tblPr bandRow="1" firstRow="1">
                <a:noFill/>
                <a:tableStyleId>{1CD154A0-517F-4B4A-82E1-0E76DB0E4BF0}</a:tableStyleId>
              </a:tblPr>
              <a:tblGrid>
                <a:gridCol w="1295400"/>
              </a:tblGrid>
              <a:tr h="370850">
                <a:tc>
                  <a:txBody>
                    <a:bodyPr/>
                    <a:lstStyle/>
                    <a:p>
                      <a:pPr indent="0" lvl="0" marL="0" marR="0" rtl="0" algn="ctr">
                        <a:spcBef>
                          <a:spcPts val="0"/>
                        </a:spcBef>
                        <a:spcAft>
                          <a:spcPts val="0"/>
                        </a:spcAft>
                        <a:buNone/>
                      </a:pPr>
                      <a:r>
                        <a:rPr lang="en-US" sz="1800" u="none" cap="none" strike="noStrike"/>
                        <a:t>97</a:t>
                      </a:r>
                      <a:endParaRPr/>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Biểu diễn dữ liệu trong bộ nhớ (3)</a:t>
            </a:r>
            <a:endParaRPr/>
          </a:p>
        </p:txBody>
      </p:sp>
      <p:sp>
        <p:nvSpPr>
          <p:cNvPr id="166" name="Google Shape;166;p9"/>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Số BCD</a:t>
            </a:r>
            <a:endParaRPr/>
          </a:p>
          <a:p>
            <a:pPr indent="-285750" lvl="1" marL="742950" rtl="0" algn="l">
              <a:spcBef>
                <a:spcPts val="560"/>
              </a:spcBef>
              <a:spcAft>
                <a:spcPts val="0"/>
              </a:spcAft>
              <a:buClr>
                <a:schemeClr val="dk1"/>
              </a:buClr>
              <a:buSzPts val="2800"/>
              <a:buChar char="•"/>
            </a:pPr>
            <a:r>
              <a:rPr lang="en-US"/>
              <a:t>Dùng 8 bit hoặc 4 bit biểu diễn cho 1 ký số hệ 10</a:t>
            </a:r>
            <a:endParaRPr/>
          </a:p>
          <a:p>
            <a:pPr indent="-285750" lvl="1" marL="742950" rtl="0" algn="l">
              <a:spcBef>
                <a:spcPts val="560"/>
              </a:spcBef>
              <a:spcAft>
                <a:spcPts val="0"/>
              </a:spcAft>
              <a:buClr>
                <a:schemeClr val="dk1"/>
              </a:buClr>
              <a:buSzPts val="2800"/>
              <a:buChar char="•"/>
            </a:pPr>
            <a:r>
              <a:rPr lang="en-US"/>
              <a:t>Ví dụ: 	(15)</a:t>
            </a:r>
            <a:r>
              <a:rPr baseline="-25000" lang="en-US"/>
              <a:t>10</a:t>
            </a:r>
            <a:r>
              <a:rPr lang="en-US"/>
              <a:t>	🡪 	(0001 0101)</a:t>
            </a:r>
            <a:r>
              <a:rPr baseline="-25000" lang="en-US"/>
              <a:t>BCD-4bit</a:t>
            </a:r>
            <a:r>
              <a:rPr lang="en-US"/>
              <a:t> </a:t>
            </a:r>
            <a:endParaRPr/>
          </a:p>
          <a:p>
            <a:pPr indent="0" lvl="1" marL="457200" rtl="0" algn="l">
              <a:spcBef>
                <a:spcPts val="560"/>
              </a:spcBef>
              <a:spcAft>
                <a:spcPts val="0"/>
              </a:spcAft>
              <a:buClr>
                <a:schemeClr val="dk1"/>
              </a:buClr>
              <a:buSzPts val="2800"/>
              <a:buNone/>
            </a:pPr>
            <a:r>
              <a:rPr lang="en-US"/>
              <a:t>			hoặc 	(00000001 00000101)</a:t>
            </a:r>
            <a:r>
              <a:rPr baseline="-25000" lang="en-US"/>
              <a:t>BCD-8bit</a:t>
            </a:r>
            <a:endParaRPr/>
          </a:p>
          <a:p>
            <a:pPr indent="-342900" lvl="0" marL="342900" rtl="0" algn="l">
              <a:spcBef>
                <a:spcPts val="640"/>
              </a:spcBef>
              <a:spcAft>
                <a:spcPts val="0"/>
              </a:spcAft>
              <a:buClr>
                <a:schemeClr val="dk1"/>
              </a:buClr>
              <a:buSzPts val="1280"/>
              <a:buChar char="❑"/>
            </a:pPr>
            <a:r>
              <a:rPr lang="en-US"/>
              <a:t>Số nguyên có dấu biểu diễn theo dạng bù 2</a:t>
            </a:r>
            <a:endParaRPr/>
          </a:p>
          <a:p>
            <a:pPr indent="-342900" lvl="0" marL="342900" rtl="0" algn="l">
              <a:spcBef>
                <a:spcPts val="640"/>
              </a:spcBef>
              <a:spcAft>
                <a:spcPts val="0"/>
              </a:spcAft>
              <a:buClr>
                <a:schemeClr val="dk1"/>
              </a:buClr>
              <a:buSzPts val="1280"/>
              <a:buChar char="❑"/>
            </a:pPr>
            <a:r>
              <a:rPr lang="en-US"/>
              <a:t>Qui ước</a:t>
            </a:r>
            <a:endParaRPr/>
          </a:p>
          <a:p>
            <a:pPr indent="0" lvl="0" marL="0" rtl="0" algn="l">
              <a:spcBef>
                <a:spcPts val="640"/>
              </a:spcBef>
              <a:spcAft>
                <a:spcPts val="0"/>
              </a:spcAft>
              <a:buClr>
                <a:schemeClr val="dk1"/>
              </a:buClr>
              <a:buSzPts val="1280"/>
              <a:buNone/>
            </a:pPr>
            <a:r>
              <a:t/>
            </a:r>
            <a:endParaRPr/>
          </a:p>
        </p:txBody>
      </p:sp>
      <p:graphicFrame>
        <p:nvGraphicFramePr>
          <p:cNvPr id="167" name="Google Shape;167;p9"/>
          <p:cNvGraphicFramePr/>
          <p:nvPr/>
        </p:nvGraphicFramePr>
        <p:xfrm>
          <a:off x="2438400" y="4572000"/>
          <a:ext cx="3000000" cy="3000000"/>
        </p:xfrm>
        <a:graphic>
          <a:graphicData uri="http://schemas.openxmlformats.org/drawingml/2006/table">
            <a:tbl>
              <a:tblPr bandRow="1" firstRow="1">
                <a:noFill/>
                <a:tableStyleId>{1CD154A0-517F-4B4A-82E1-0E76DB0E4BF0}</a:tableStyleId>
              </a:tblPr>
              <a:tblGrid>
                <a:gridCol w="1981200"/>
                <a:gridCol w="3048000"/>
              </a:tblGrid>
              <a:tr h="457200">
                <a:tc>
                  <a:txBody>
                    <a:bodyPr/>
                    <a:lstStyle/>
                    <a:p>
                      <a:pPr indent="0" lvl="0" marL="0" marR="0" rtl="0" algn="ctr">
                        <a:spcBef>
                          <a:spcPts val="0"/>
                        </a:spcBef>
                        <a:spcAft>
                          <a:spcPts val="0"/>
                        </a:spcAft>
                        <a:buNone/>
                      </a:pPr>
                      <a:r>
                        <a:rPr lang="en-US" sz="2000" u="none" cap="none" strike="noStrike"/>
                        <a:t>Hệ</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t>Cách viết</a:t>
                      </a:r>
                      <a:endParaRPr sz="2000" u="none" cap="none" strike="noStrike"/>
                    </a:p>
                  </a:txBody>
                  <a:tcPr marT="45725" marB="45725" marR="91450" marL="91450" anchor="ctr"/>
                </a:tc>
              </a:tr>
              <a:tr h="457200">
                <a:tc>
                  <a:txBody>
                    <a:bodyPr/>
                    <a:lstStyle/>
                    <a:p>
                      <a:pPr indent="0" lvl="0" marL="0" marR="0" rtl="0" algn="ctr">
                        <a:spcBef>
                          <a:spcPts val="0"/>
                        </a:spcBef>
                        <a:spcAft>
                          <a:spcPts val="0"/>
                        </a:spcAft>
                        <a:buNone/>
                      </a:pPr>
                      <a:r>
                        <a:rPr lang="en-US" sz="2000" u="none" cap="none" strike="noStrike"/>
                        <a:t>10</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t>255, 255d, 255D</a:t>
                      </a:r>
                      <a:endParaRPr/>
                    </a:p>
                  </a:txBody>
                  <a:tcPr marT="45725" marB="45725" marR="91450" marL="91450" anchor="ctr"/>
                </a:tc>
              </a:tr>
              <a:tr h="457200">
                <a:tc>
                  <a:txBody>
                    <a:bodyPr/>
                    <a:lstStyle/>
                    <a:p>
                      <a:pPr indent="0" lvl="0" marL="0" marR="0" rtl="0" algn="ctr">
                        <a:spcBef>
                          <a:spcPts val="0"/>
                        </a:spcBef>
                        <a:spcAft>
                          <a:spcPts val="0"/>
                        </a:spcAft>
                        <a:buNone/>
                      </a:pPr>
                      <a:r>
                        <a:rPr lang="en-US" sz="2000" u="none" cap="none" strike="noStrike"/>
                        <a:t>2</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t>10011b, 10011B</a:t>
                      </a:r>
                      <a:endParaRPr sz="2000" u="none" cap="none" strike="noStrike"/>
                    </a:p>
                  </a:txBody>
                  <a:tcPr marT="45725" marB="45725" marR="91450" marL="91450" anchor="ctr"/>
                </a:tc>
              </a:tr>
              <a:tr h="457200">
                <a:tc>
                  <a:txBody>
                    <a:bodyPr/>
                    <a:lstStyle/>
                    <a:p>
                      <a:pPr indent="0" lvl="0" marL="0" marR="0" rtl="0" algn="ctr">
                        <a:spcBef>
                          <a:spcPts val="0"/>
                        </a:spcBef>
                        <a:spcAft>
                          <a:spcPts val="0"/>
                        </a:spcAft>
                        <a:buNone/>
                      </a:pPr>
                      <a:r>
                        <a:rPr lang="en-US" sz="2000" u="none" cap="none" strike="noStrike"/>
                        <a:t>16</a:t>
                      </a:r>
                      <a:endParaRPr/>
                    </a:p>
                  </a:txBody>
                  <a:tcPr marT="45725" marB="45725" marR="91450" marL="91450" anchor="ctr"/>
                </a:tc>
                <a:tc>
                  <a:txBody>
                    <a:bodyPr/>
                    <a:lstStyle/>
                    <a:p>
                      <a:pPr indent="0" lvl="0" marL="0" marR="0" rtl="0" algn="ctr">
                        <a:spcBef>
                          <a:spcPts val="0"/>
                        </a:spcBef>
                        <a:spcAft>
                          <a:spcPts val="0"/>
                        </a:spcAft>
                        <a:buNone/>
                      </a:pPr>
                      <a:r>
                        <a:rPr lang="en-US" sz="2000" u="none" cap="none" strike="noStrike"/>
                        <a:t>3Fh, 3FH, 0C8h</a:t>
                      </a:r>
                      <a:endParaRPr/>
                    </a:p>
                  </a:txBody>
                  <a:tcPr marT="45725" marB="45725" marR="91450" marL="9145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Giới thiệu CPU Intel 8086/8088</a:t>
            </a:r>
            <a:endParaRPr/>
          </a:p>
        </p:txBody>
      </p:sp>
      <p:sp>
        <p:nvSpPr>
          <p:cNvPr id="173" name="Google Shape;173;p1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Được Intel sản xuất năm 1978</a:t>
            </a:r>
            <a:endParaRPr/>
          </a:p>
          <a:p>
            <a:pPr indent="-342900" lvl="0" marL="342900" rtl="0" algn="l">
              <a:spcBef>
                <a:spcPts val="640"/>
              </a:spcBef>
              <a:spcAft>
                <a:spcPts val="0"/>
              </a:spcAft>
              <a:buClr>
                <a:schemeClr val="dk1"/>
              </a:buClr>
              <a:buSzPts val="1280"/>
              <a:buChar char="❑"/>
            </a:pPr>
            <a:r>
              <a:rPr lang="en-US"/>
              <a:t>Sử dụng trong máy IBM-PC năm 1981</a:t>
            </a:r>
            <a:endParaRPr/>
          </a:p>
          <a:p>
            <a:pPr indent="-342900" lvl="0" marL="342900" rtl="0" algn="l">
              <a:spcBef>
                <a:spcPts val="640"/>
              </a:spcBef>
              <a:spcAft>
                <a:spcPts val="0"/>
              </a:spcAft>
              <a:buClr>
                <a:schemeClr val="dk1"/>
              </a:buClr>
              <a:buSzPts val="1280"/>
              <a:buChar char="❑"/>
            </a:pPr>
            <a:r>
              <a:rPr lang="en-US"/>
              <a:t>Phổ biến, phát triển thành họ kiến trúc x86</a:t>
            </a:r>
            <a:endParaRPr/>
          </a:p>
        </p:txBody>
      </p:sp>
      <p:sp>
        <p:nvSpPr>
          <p:cNvPr id="174" name="Google Shape;174;p10"/>
          <p:cNvSpPr/>
          <p:nvPr/>
        </p:nvSpPr>
        <p:spPr>
          <a:xfrm>
            <a:off x="1676400" y="3810000"/>
            <a:ext cx="1676400" cy="2057400"/>
          </a:xfrm>
          <a:prstGeom prst="roundRect">
            <a:avLst>
              <a:gd fmla="val 16667" name="adj"/>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CPU 8086</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16 bit</a:t>
            </a:r>
            <a:endParaRPr/>
          </a:p>
        </p:txBody>
      </p:sp>
      <p:sp>
        <p:nvSpPr>
          <p:cNvPr id="175" name="Google Shape;175;p10"/>
          <p:cNvSpPr/>
          <p:nvPr/>
        </p:nvSpPr>
        <p:spPr>
          <a:xfrm>
            <a:off x="5486400" y="3810000"/>
            <a:ext cx="1295400" cy="2057400"/>
          </a:xfrm>
          <a:prstGeom prst="rect">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Bộ nhớ</a:t>
            </a:r>
            <a:endParaRPr/>
          </a:p>
        </p:txBody>
      </p:sp>
      <p:sp>
        <p:nvSpPr>
          <p:cNvPr id="176" name="Google Shape;176;p10"/>
          <p:cNvSpPr/>
          <p:nvPr/>
        </p:nvSpPr>
        <p:spPr>
          <a:xfrm>
            <a:off x="3429000" y="4024829"/>
            <a:ext cx="1981200" cy="457200"/>
          </a:xfrm>
          <a:prstGeom prst="rightArrow">
            <a:avLst>
              <a:gd fmla="val 50000" name="adj1"/>
              <a:gd fmla="val 50000" name="adj2"/>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0"/>
          <p:cNvSpPr txBox="1"/>
          <p:nvPr/>
        </p:nvSpPr>
        <p:spPr>
          <a:xfrm>
            <a:off x="3758917" y="3810000"/>
            <a:ext cx="118974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Bus địa chỉ</a:t>
            </a:r>
            <a:endParaRPr/>
          </a:p>
        </p:txBody>
      </p:sp>
      <p:sp>
        <p:nvSpPr>
          <p:cNvPr id="178" name="Google Shape;178;p10"/>
          <p:cNvSpPr txBox="1"/>
          <p:nvPr/>
        </p:nvSpPr>
        <p:spPr>
          <a:xfrm>
            <a:off x="3992153" y="4376943"/>
            <a:ext cx="7232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20 bit</a:t>
            </a:r>
            <a:endParaRPr/>
          </a:p>
        </p:txBody>
      </p:sp>
      <p:sp>
        <p:nvSpPr>
          <p:cNvPr id="179" name="Google Shape;179;p10"/>
          <p:cNvSpPr/>
          <p:nvPr/>
        </p:nvSpPr>
        <p:spPr>
          <a:xfrm>
            <a:off x="3429000" y="5181600"/>
            <a:ext cx="1981200" cy="457200"/>
          </a:xfrm>
          <a:prstGeom prst="leftRightArrow">
            <a:avLst>
              <a:gd fmla="val 50000" name="adj1"/>
              <a:gd fmla="val 50000" name="adj2"/>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0"/>
          <p:cNvSpPr txBox="1"/>
          <p:nvPr/>
        </p:nvSpPr>
        <p:spPr>
          <a:xfrm>
            <a:off x="3797775" y="4964668"/>
            <a:ext cx="123142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Bus dữ liệu</a:t>
            </a:r>
            <a:endParaRPr/>
          </a:p>
        </p:txBody>
      </p:sp>
      <p:sp>
        <p:nvSpPr>
          <p:cNvPr id="181" name="Google Shape;181;p10"/>
          <p:cNvSpPr txBox="1"/>
          <p:nvPr/>
        </p:nvSpPr>
        <p:spPr>
          <a:xfrm>
            <a:off x="4077324" y="5514110"/>
            <a:ext cx="7232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16 bit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bộ nhớ</a:t>
            </a:r>
            <a:endParaRPr/>
          </a:p>
        </p:txBody>
      </p:sp>
      <p:sp>
        <p:nvSpPr>
          <p:cNvPr id="187" name="Google Shape;187;p1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Địa chỉ 20 bit 🡪 Bộ nhớ tối đa 1MB</a:t>
            </a:r>
            <a:endParaRPr/>
          </a:p>
          <a:p>
            <a:pPr indent="-342900" lvl="0" marL="342900" rtl="0" algn="l">
              <a:spcBef>
                <a:spcPts val="640"/>
              </a:spcBef>
              <a:spcAft>
                <a:spcPts val="0"/>
              </a:spcAft>
              <a:buClr>
                <a:schemeClr val="dk1"/>
              </a:buClr>
              <a:buSzPts val="1280"/>
              <a:buChar char="❑"/>
            </a:pPr>
            <a:r>
              <a:rPr lang="en-US"/>
              <a:t>Tổ chức bộ nhớ thành từng đoạn (segment), mỗi đoạn 64KB (2</a:t>
            </a:r>
            <a:r>
              <a:rPr baseline="30000" lang="en-US"/>
              <a:t>16</a:t>
            </a:r>
            <a:r>
              <a:rPr lang="en-US"/>
              <a:t>)</a:t>
            </a:r>
            <a:endParaRPr/>
          </a:p>
          <a:p>
            <a:pPr indent="-342900" lvl="0" marL="342900" rtl="0" algn="l">
              <a:spcBef>
                <a:spcPts val="640"/>
              </a:spcBef>
              <a:spcAft>
                <a:spcPts val="0"/>
              </a:spcAft>
              <a:buClr>
                <a:schemeClr val="dk1"/>
              </a:buClr>
              <a:buSzPts val="1280"/>
              <a:buChar char="❑"/>
            </a:pPr>
            <a:r>
              <a:rPr lang="en-US"/>
              <a:t>Lập trình truy xuất ô nhớ theo địa chỉ logic</a:t>
            </a:r>
            <a:endParaRPr/>
          </a:p>
          <a:p>
            <a:pPr indent="-285750" lvl="1" marL="742950" rtl="0" algn="l">
              <a:spcBef>
                <a:spcPts val="560"/>
              </a:spcBef>
              <a:spcAft>
                <a:spcPts val="0"/>
              </a:spcAft>
              <a:buClr>
                <a:schemeClr val="dk1"/>
              </a:buClr>
              <a:buSzPts val="2800"/>
              <a:buChar char="•"/>
            </a:pPr>
            <a:r>
              <a:rPr lang="en-US"/>
              <a:t>Dạng:	</a:t>
            </a:r>
            <a:r>
              <a:rPr b="1" lang="en-US"/>
              <a:t>segment:offset</a:t>
            </a:r>
            <a:endParaRPr/>
          </a:p>
          <a:p>
            <a:pPr indent="-285750" lvl="1" marL="742950" rtl="0" algn="l">
              <a:spcBef>
                <a:spcPts val="560"/>
              </a:spcBef>
              <a:spcAft>
                <a:spcPts val="0"/>
              </a:spcAft>
              <a:buClr>
                <a:schemeClr val="dk1"/>
              </a:buClr>
              <a:buSzPts val="2800"/>
              <a:buChar char="•"/>
            </a:pPr>
            <a:r>
              <a:rPr lang="en-US"/>
              <a:t>Segment, offset có kích thước 16 bit, viết dạng hex</a:t>
            </a:r>
            <a:endParaRPr/>
          </a:p>
          <a:p>
            <a:pPr indent="-342900" lvl="0" marL="342900" rtl="0" algn="l">
              <a:spcBef>
                <a:spcPts val="640"/>
              </a:spcBef>
              <a:spcAft>
                <a:spcPts val="0"/>
              </a:spcAft>
              <a:buClr>
                <a:schemeClr val="dk1"/>
              </a:buClr>
              <a:buSzPts val="1280"/>
              <a:buChar char="❑"/>
            </a:pPr>
            <a:r>
              <a:rPr lang="en-US"/>
              <a:t>Chuyển từ địa chỉ logic 🡪 địa chỉ vật lý (20bit)</a:t>
            </a:r>
            <a:endParaRPr/>
          </a:p>
          <a:p>
            <a:pPr indent="-285750" lvl="1" marL="742950" rtl="0" algn="l">
              <a:spcBef>
                <a:spcPts val="560"/>
              </a:spcBef>
              <a:spcAft>
                <a:spcPts val="0"/>
              </a:spcAft>
              <a:buClr>
                <a:schemeClr val="dk1"/>
              </a:buClr>
              <a:buSzPts val="2800"/>
              <a:buChar char="•"/>
            </a:pPr>
            <a:r>
              <a:rPr lang="en-US"/>
              <a:t>Segment * 16 + offset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bộ nhớ (2)</a:t>
            </a:r>
            <a:endParaRPr/>
          </a:p>
        </p:txBody>
      </p:sp>
      <p:sp>
        <p:nvSpPr>
          <p:cNvPr id="193" name="Google Shape;193;p1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 địa chỉ	A4FB:4872</a:t>
            </a:r>
            <a:endParaRPr/>
          </a:p>
          <a:p>
            <a:pPr indent="-285750" lvl="1" marL="742950" rtl="0" algn="l">
              <a:spcBef>
                <a:spcPts val="560"/>
              </a:spcBef>
              <a:spcAft>
                <a:spcPts val="0"/>
              </a:spcAft>
              <a:buClr>
                <a:schemeClr val="dk1"/>
              </a:buClr>
              <a:buSzPts val="2800"/>
              <a:buChar char="•"/>
            </a:pPr>
            <a:r>
              <a:rPr lang="en-US"/>
              <a:t>A4FB * 16 (10h) 🡪 A4FB0</a:t>
            </a:r>
            <a:endParaRPr/>
          </a:p>
          <a:p>
            <a:pPr indent="-285750" lvl="1" marL="742950" rtl="0" algn="l">
              <a:spcBef>
                <a:spcPts val="560"/>
              </a:spcBef>
              <a:spcAft>
                <a:spcPts val="0"/>
              </a:spcAft>
              <a:buClr>
                <a:schemeClr val="dk1"/>
              </a:buClr>
              <a:buSzPts val="2800"/>
              <a:buChar char="•"/>
            </a:pPr>
            <a:r>
              <a:rPr lang="en-US"/>
              <a:t>A4FB0 + 4872 = A9822h (20 bit)</a:t>
            </a:r>
            <a:endParaRPr/>
          </a:p>
          <a:p>
            <a:pPr indent="-342900" lvl="0" marL="342900" rtl="0" algn="l">
              <a:spcBef>
                <a:spcPts val="640"/>
              </a:spcBef>
              <a:spcAft>
                <a:spcPts val="0"/>
              </a:spcAft>
              <a:buClr>
                <a:schemeClr val="dk1"/>
              </a:buClr>
              <a:buSzPts val="1280"/>
              <a:buChar char="❑"/>
            </a:pPr>
            <a:r>
              <a:rPr lang="en-US"/>
              <a:t>Các đoạn có thể chồng lên nhau, cách nhau theo bội số 16 (0000:0000, 0001:0000,…)</a:t>
            </a:r>
            <a:endParaRPr/>
          </a:p>
          <a:p>
            <a:pPr indent="-342900" lvl="0" marL="342900" rtl="0" algn="l">
              <a:spcBef>
                <a:spcPts val="640"/>
              </a:spcBef>
              <a:spcAft>
                <a:spcPts val="0"/>
              </a:spcAft>
              <a:buClr>
                <a:schemeClr val="dk1"/>
              </a:buClr>
              <a:buSzPts val="1280"/>
              <a:buChar char="❑"/>
            </a:pPr>
            <a:r>
              <a:rPr lang="en-US"/>
              <a:t>Một địa chỉ vật lý có thể có nhiều địa chỉ logic (thuộc nhiều đoạn)</a:t>
            </a:r>
            <a:endParaRPr/>
          </a:p>
          <a:p>
            <a:pPr indent="-342900" lvl="0" marL="342900" rtl="0" algn="l">
              <a:spcBef>
                <a:spcPts val="640"/>
              </a:spcBef>
              <a:spcAft>
                <a:spcPts val="0"/>
              </a:spcAft>
              <a:buClr>
                <a:schemeClr val="dk1"/>
              </a:buClr>
              <a:buSzPts val="1280"/>
              <a:buChar char="❑"/>
            </a:pPr>
            <a:r>
              <a:rPr lang="en-US"/>
              <a:t>Ví dụ: 1256:000A, 1240:016A có cùng địa chỉ vật lý là 1256Ah</a:t>
            </a:r>
            <a:endParaRPr/>
          </a:p>
          <a:p>
            <a:pPr indent="-261620" lvl="0" marL="342900" rtl="0" algn="l">
              <a:spcBef>
                <a:spcPts val="640"/>
              </a:spcBef>
              <a:spcAft>
                <a:spcPts val="0"/>
              </a:spcAft>
              <a:buClr>
                <a:schemeClr val="dk1"/>
              </a:buClr>
              <a:buSzPts val="1280"/>
              <a:buNone/>
            </a:pPr>
            <a:r>
              <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a:t>
            </a:r>
            <a:endParaRPr/>
          </a:p>
        </p:txBody>
      </p:sp>
      <p:sp>
        <p:nvSpPr>
          <p:cNvPr id="199" name="Google Shape;199;p1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Có 14 thanh ghi 16 bit</a:t>
            </a:r>
            <a:endParaRPr/>
          </a:p>
          <a:p>
            <a:pPr indent="-342900" lvl="0" marL="342900" rtl="0" algn="l">
              <a:spcBef>
                <a:spcPts val="640"/>
              </a:spcBef>
              <a:spcAft>
                <a:spcPts val="0"/>
              </a:spcAft>
              <a:buClr>
                <a:schemeClr val="dk1"/>
              </a:buClr>
              <a:buSzPts val="1280"/>
              <a:buChar char="❑"/>
            </a:pPr>
            <a:r>
              <a:rPr lang="en-US"/>
              <a:t>Nhóm thanh ghi đoạn: </a:t>
            </a:r>
            <a:r>
              <a:rPr b="1" lang="en-US"/>
              <a:t>CS, DS, SS, ES</a:t>
            </a:r>
            <a:endParaRPr/>
          </a:p>
          <a:p>
            <a:pPr indent="-285750" lvl="1" marL="742950" rtl="0" algn="l">
              <a:spcBef>
                <a:spcPts val="560"/>
              </a:spcBef>
              <a:spcAft>
                <a:spcPts val="0"/>
              </a:spcAft>
              <a:buClr>
                <a:schemeClr val="dk1"/>
              </a:buClr>
              <a:buSzPts val="2800"/>
              <a:buChar char="•"/>
            </a:pPr>
            <a:r>
              <a:rPr lang="en-US"/>
              <a:t>CS (Code Segment): chứa địa chỉ segment của đoạn mã chương trình đang thực hiện</a:t>
            </a:r>
            <a:endParaRPr/>
          </a:p>
          <a:p>
            <a:pPr indent="-285750" lvl="1" marL="742950" rtl="0" algn="l">
              <a:spcBef>
                <a:spcPts val="560"/>
              </a:spcBef>
              <a:spcAft>
                <a:spcPts val="0"/>
              </a:spcAft>
              <a:buClr>
                <a:schemeClr val="dk1"/>
              </a:buClr>
              <a:buSzPts val="2800"/>
              <a:buChar char="•"/>
            </a:pPr>
            <a:r>
              <a:rPr lang="en-US"/>
              <a:t>DS (Data Segment): chứa địa chỉ segment đoạn dữ liệu chính của chương trình</a:t>
            </a:r>
            <a:endParaRPr/>
          </a:p>
          <a:p>
            <a:pPr indent="-285750" lvl="1" marL="742950" rtl="0" algn="l">
              <a:spcBef>
                <a:spcPts val="560"/>
              </a:spcBef>
              <a:spcAft>
                <a:spcPts val="0"/>
              </a:spcAft>
              <a:buClr>
                <a:schemeClr val="dk1"/>
              </a:buClr>
              <a:buSzPts val="2800"/>
              <a:buChar char="•"/>
            </a:pPr>
            <a:r>
              <a:rPr lang="en-US"/>
              <a:t>SS (Stack Segment): chứa địa chỉ segment đoạn stack của chương trình đang thực hiện</a:t>
            </a:r>
            <a:endParaRPr/>
          </a:p>
          <a:p>
            <a:pPr indent="-285750" lvl="1" marL="742950" rtl="0" algn="l">
              <a:spcBef>
                <a:spcPts val="560"/>
              </a:spcBef>
              <a:spcAft>
                <a:spcPts val="0"/>
              </a:spcAft>
              <a:buClr>
                <a:schemeClr val="dk1"/>
              </a:buClr>
              <a:buSzPts val="2800"/>
              <a:buChar char="•"/>
            </a:pPr>
            <a:r>
              <a:rPr lang="en-US"/>
              <a:t>ES (Extra Segment): đoạn dữ liệu bổ sung</a:t>
            </a:r>
            <a:endParaRPr/>
          </a:p>
          <a:p>
            <a:pPr indent="0" lvl="0" marL="0" rtl="0" algn="l">
              <a:spcBef>
                <a:spcPts val="640"/>
              </a:spcBef>
              <a:spcAft>
                <a:spcPts val="0"/>
              </a:spcAft>
              <a:buClr>
                <a:schemeClr val="dk1"/>
              </a:buClr>
              <a:buSzPts val="1280"/>
              <a:buNone/>
            </a:pPr>
            <a:r>
              <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(2)</a:t>
            </a:r>
            <a:endParaRPr/>
          </a:p>
        </p:txBody>
      </p:sp>
      <p:sp>
        <p:nvSpPr>
          <p:cNvPr id="205" name="Google Shape;205;p1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thanh ghi đa dụng: </a:t>
            </a:r>
            <a:r>
              <a:rPr b="1" lang="en-US"/>
              <a:t>AX, BX, CX, DX</a:t>
            </a:r>
            <a:endParaRPr/>
          </a:p>
          <a:p>
            <a:pPr indent="-285750" lvl="1" marL="742950" rtl="0" algn="l">
              <a:spcBef>
                <a:spcPts val="560"/>
              </a:spcBef>
              <a:spcAft>
                <a:spcPts val="0"/>
              </a:spcAft>
              <a:buClr>
                <a:schemeClr val="dk1"/>
              </a:buClr>
              <a:buSzPts val="2800"/>
              <a:buChar char="•"/>
            </a:pPr>
            <a:r>
              <a:rPr lang="en-US"/>
              <a:t>AX (Accumulator) - Thanh ghi tích lũy: thường lưu kết quả của các lệnh tính toán</a:t>
            </a:r>
            <a:endParaRPr/>
          </a:p>
          <a:p>
            <a:pPr indent="-285750" lvl="1" marL="742950" rtl="0" algn="l">
              <a:spcBef>
                <a:spcPts val="560"/>
              </a:spcBef>
              <a:spcAft>
                <a:spcPts val="0"/>
              </a:spcAft>
              <a:buClr>
                <a:schemeClr val="dk1"/>
              </a:buClr>
              <a:buSzPts val="2800"/>
              <a:buChar char="•"/>
            </a:pPr>
            <a:r>
              <a:rPr lang="en-US"/>
              <a:t>BX (Base) – Thanh ghi cơ sở: thường đùng định vị địa chỉ offset khi truy xuất bộ nhớ</a:t>
            </a:r>
            <a:endParaRPr/>
          </a:p>
          <a:p>
            <a:pPr indent="-285750" lvl="1" marL="742950" rtl="0" algn="l">
              <a:spcBef>
                <a:spcPts val="560"/>
              </a:spcBef>
              <a:spcAft>
                <a:spcPts val="0"/>
              </a:spcAft>
              <a:buClr>
                <a:schemeClr val="dk1"/>
              </a:buClr>
              <a:buSzPts val="2800"/>
              <a:buChar char="•"/>
            </a:pPr>
            <a:r>
              <a:rPr lang="en-US"/>
              <a:t>CX (Count) – Thanh ghi đếm: thường dùng xác định số lần lặp trong các lệnh lặp</a:t>
            </a:r>
            <a:endParaRPr/>
          </a:p>
          <a:p>
            <a:pPr indent="-285750" lvl="1" marL="742950" rtl="0" algn="l">
              <a:spcBef>
                <a:spcPts val="560"/>
              </a:spcBef>
              <a:spcAft>
                <a:spcPts val="0"/>
              </a:spcAft>
              <a:buClr>
                <a:schemeClr val="dk1"/>
              </a:buClr>
              <a:buSzPts val="2800"/>
              <a:buChar char="•"/>
            </a:pPr>
            <a:r>
              <a:rPr lang="en-US"/>
              <a:t>DX (Data) – Thanh ghi dữ liệu: thường dùng lưu dữ liệu trong các lệnh tính toán</a:t>
            </a:r>
            <a:endParaRPr/>
          </a:p>
          <a:p>
            <a:pPr indent="0" lvl="0" marL="0" rtl="0" algn="l">
              <a:spcBef>
                <a:spcPts val="640"/>
              </a:spcBef>
              <a:spcAft>
                <a:spcPts val="0"/>
              </a:spcAft>
              <a:buClr>
                <a:schemeClr val="dk1"/>
              </a:buClr>
              <a:buSzPts val="1280"/>
              <a:buNone/>
            </a:pPr>
            <a:r>
              <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(3)</a:t>
            </a:r>
            <a:endParaRPr/>
          </a:p>
        </p:txBody>
      </p:sp>
      <p:sp>
        <p:nvSpPr>
          <p:cNvPr id="211" name="Google Shape;211;p1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Mỗi thanh ghi đa dụng có thể tách thành 2 thanh ghi con 8 bit</a:t>
            </a:r>
            <a:endParaRPr/>
          </a:p>
          <a:p>
            <a:pPr indent="0" lvl="0" marL="0" rtl="0" algn="l">
              <a:spcBef>
                <a:spcPts val="640"/>
              </a:spcBef>
              <a:spcAft>
                <a:spcPts val="0"/>
              </a:spcAft>
              <a:buClr>
                <a:schemeClr val="dk1"/>
              </a:buClr>
              <a:buSzPts val="1280"/>
              <a:buNone/>
            </a:pPr>
            <a:r>
              <a:t/>
            </a:r>
            <a:endParaRPr/>
          </a:p>
          <a:p>
            <a:pPr indent="0" lvl="0" marL="0" rtl="0" algn="l">
              <a:spcBef>
                <a:spcPts val="640"/>
              </a:spcBef>
              <a:spcAft>
                <a:spcPts val="0"/>
              </a:spcAft>
              <a:buClr>
                <a:schemeClr val="dk1"/>
              </a:buClr>
              <a:buSzPts val="1280"/>
              <a:buNone/>
            </a:pPr>
            <a:r>
              <a:t/>
            </a:r>
            <a:endParaRPr/>
          </a:p>
          <a:p>
            <a:pPr indent="-261620" lvl="0" marL="342900" rtl="0" algn="l">
              <a:spcBef>
                <a:spcPts val="640"/>
              </a:spcBef>
              <a:spcAft>
                <a:spcPts val="0"/>
              </a:spcAft>
              <a:buClr>
                <a:schemeClr val="dk1"/>
              </a:buClr>
              <a:buSzPts val="1280"/>
              <a:buNone/>
            </a:pPr>
            <a:r>
              <a:t/>
            </a:r>
            <a:endParaRPr/>
          </a:p>
        </p:txBody>
      </p:sp>
      <p:graphicFrame>
        <p:nvGraphicFramePr>
          <p:cNvPr id="212" name="Google Shape;212;p15"/>
          <p:cNvGraphicFramePr/>
          <p:nvPr/>
        </p:nvGraphicFramePr>
        <p:xfrm>
          <a:off x="1143000" y="3048000"/>
          <a:ext cx="3000000" cy="3000000"/>
        </p:xfrm>
        <a:graphic>
          <a:graphicData uri="http://schemas.openxmlformats.org/drawingml/2006/table">
            <a:tbl>
              <a:tblPr bandRow="1" firstRow="1">
                <a:noFill/>
                <a:tableStyleId>{1CD154A0-517F-4B4A-82E1-0E76DB0E4BF0}</a:tableStyleId>
              </a:tblPr>
              <a:tblGrid>
                <a:gridCol w="1524000"/>
                <a:gridCol w="1447800"/>
              </a:tblGrid>
              <a:tr h="533400">
                <a:tc gridSpan="2">
                  <a:txBody>
                    <a:bodyPr/>
                    <a:lstStyle/>
                    <a:p>
                      <a:pPr indent="0" lvl="0" marL="0" marR="0" rtl="0" algn="ctr">
                        <a:spcBef>
                          <a:spcPts val="0"/>
                        </a:spcBef>
                        <a:spcAft>
                          <a:spcPts val="0"/>
                        </a:spcAft>
                        <a:buNone/>
                      </a:pPr>
                      <a:r>
                        <a:rPr lang="en-US" sz="2800" u="none" cap="none" strike="noStrike">
                          <a:solidFill>
                            <a:schemeClr val="dk1"/>
                          </a:solidFill>
                        </a:rPr>
                        <a:t>AX</a:t>
                      </a:r>
                      <a:endParaRPr/>
                    </a:p>
                  </a:txBody>
                  <a:tcPr marT="45725" marB="45725" marR="91450" marL="91450" anchor="ctr"/>
                </a:tc>
                <a:tc hMerge="1"/>
              </a:tr>
              <a:tr h="533400">
                <a:tc>
                  <a:txBody>
                    <a:bodyPr/>
                    <a:lstStyle/>
                    <a:p>
                      <a:pPr indent="0" lvl="0" marL="0" marR="0" rtl="0" algn="ctr">
                        <a:spcBef>
                          <a:spcPts val="0"/>
                        </a:spcBef>
                        <a:spcAft>
                          <a:spcPts val="0"/>
                        </a:spcAft>
                        <a:buNone/>
                      </a:pPr>
                      <a:r>
                        <a:rPr lang="en-US" sz="2800" u="none" cap="none" strike="noStrike"/>
                        <a:t>AH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lang="en-US" sz="2800" u="none" cap="none" strike="noStrike"/>
                        <a:t>AL</a:t>
                      </a:r>
                      <a:endParaRPr/>
                    </a:p>
                  </a:txBody>
                  <a:tcPr marT="45725" marB="45725" marR="91450" marL="91450" anchor="ctr">
                    <a:solidFill>
                      <a:srgbClr val="00B0F0"/>
                    </a:solidFill>
                  </a:tcPr>
                </a:tc>
              </a:tr>
            </a:tbl>
          </a:graphicData>
        </a:graphic>
      </p:graphicFrame>
      <p:graphicFrame>
        <p:nvGraphicFramePr>
          <p:cNvPr id="213" name="Google Shape;213;p15"/>
          <p:cNvGraphicFramePr/>
          <p:nvPr/>
        </p:nvGraphicFramePr>
        <p:xfrm>
          <a:off x="1143000" y="4953000"/>
          <a:ext cx="3000000" cy="3000000"/>
        </p:xfrm>
        <a:graphic>
          <a:graphicData uri="http://schemas.openxmlformats.org/drawingml/2006/table">
            <a:tbl>
              <a:tblPr bandRow="1" firstRow="1">
                <a:noFill/>
                <a:tableStyleId>{1CD154A0-517F-4B4A-82E1-0E76DB0E4BF0}</a:tableStyleId>
              </a:tblPr>
              <a:tblGrid>
                <a:gridCol w="1524000"/>
                <a:gridCol w="1447800"/>
              </a:tblGrid>
              <a:tr h="533400">
                <a:tc gridSpan="2">
                  <a:txBody>
                    <a:bodyPr/>
                    <a:lstStyle/>
                    <a:p>
                      <a:pPr indent="0" lvl="0" marL="0" marR="0" rtl="0" algn="ctr">
                        <a:spcBef>
                          <a:spcPts val="0"/>
                        </a:spcBef>
                        <a:spcAft>
                          <a:spcPts val="0"/>
                        </a:spcAft>
                        <a:buNone/>
                      </a:pPr>
                      <a:r>
                        <a:rPr lang="en-US" sz="2800" u="none" cap="none" strike="noStrike">
                          <a:solidFill>
                            <a:schemeClr val="dk1"/>
                          </a:solidFill>
                        </a:rPr>
                        <a:t>BX</a:t>
                      </a:r>
                      <a:endParaRPr/>
                    </a:p>
                  </a:txBody>
                  <a:tcPr marT="45725" marB="45725" marR="91450" marL="91450" anchor="ctr"/>
                </a:tc>
                <a:tc hMerge="1"/>
              </a:tr>
              <a:tr h="533400">
                <a:tc>
                  <a:txBody>
                    <a:bodyPr/>
                    <a:lstStyle/>
                    <a:p>
                      <a:pPr indent="0" lvl="0" marL="0" marR="0" rtl="0" algn="ctr">
                        <a:spcBef>
                          <a:spcPts val="0"/>
                        </a:spcBef>
                        <a:spcAft>
                          <a:spcPts val="0"/>
                        </a:spcAft>
                        <a:buNone/>
                      </a:pPr>
                      <a:r>
                        <a:rPr lang="en-US" sz="2800" u="none" cap="none" strike="noStrike"/>
                        <a:t>BH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lang="en-US" sz="2800" u="none" cap="none" strike="noStrike"/>
                        <a:t>BL</a:t>
                      </a:r>
                      <a:endParaRPr/>
                    </a:p>
                  </a:txBody>
                  <a:tcPr marT="45725" marB="45725" marR="91450" marL="91450" anchor="ctr">
                    <a:solidFill>
                      <a:srgbClr val="00B0F0"/>
                    </a:solidFill>
                  </a:tcPr>
                </a:tc>
              </a:tr>
            </a:tbl>
          </a:graphicData>
        </a:graphic>
      </p:graphicFrame>
      <p:graphicFrame>
        <p:nvGraphicFramePr>
          <p:cNvPr id="214" name="Google Shape;214;p15"/>
          <p:cNvGraphicFramePr/>
          <p:nvPr/>
        </p:nvGraphicFramePr>
        <p:xfrm>
          <a:off x="4876800" y="3048000"/>
          <a:ext cx="3000000" cy="3000000"/>
        </p:xfrm>
        <a:graphic>
          <a:graphicData uri="http://schemas.openxmlformats.org/drawingml/2006/table">
            <a:tbl>
              <a:tblPr bandRow="1" firstRow="1">
                <a:noFill/>
                <a:tableStyleId>{1CD154A0-517F-4B4A-82E1-0E76DB0E4BF0}</a:tableStyleId>
              </a:tblPr>
              <a:tblGrid>
                <a:gridCol w="1524000"/>
                <a:gridCol w="1447800"/>
              </a:tblGrid>
              <a:tr h="533400">
                <a:tc gridSpan="2">
                  <a:txBody>
                    <a:bodyPr/>
                    <a:lstStyle/>
                    <a:p>
                      <a:pPr indent="0" lvl="0" marL="0" marR="0" rtl="0" algn="ctr">
                        <a:spcBef>
                          <a:spcPts val="0"/>
                        </a:spcBef>
                        <a:spcAft>
                          <a:spcPts val="0"/>
                        </a:spcAft>
                        <a:buNone/>
                      </a:pPr>
                      <a:r>
                        <a:rPr lang="en-US" sz="2800" u="none" cap="none" strike="noStrike">
                          <a:solidFill>
                            <a:schemeClr val="dk1"/>
                          </a:solidFill>
                        </a:rPr>
                        <a:t>CX</a:t>
                      </a:r>
                      <a:endParaRPr/>
                    </a:p>
                  </a:txBody>
                  <a:tcPr marT="45725" marB="45725" marR="91450" marL="91450" anchor="ctr"/>
                </a:tc>
                <a:tc hMerge="1"/>
              </a:tr>
              <a:tr h="533400">
                <a:tc>
                  <a:txBody>
                    <a:bodyPr/>
                    <a:lstStyle/>
                    <a:p>
                      <a:pPr indent="0" lvl="0" marL="0" marR="0" rtl="0" algn="ctr">
                        <a:spcBef>
                          <a:spcPts val="0"/>
                        </a:spcBef>
                        <a:spcAft>
                          <a:spcPts val="0"/>
                        </a:spcAft>
                        <a:buNone/>
                      </a:pPr>
                      <a:r>
                        <a:rPr lang="en-US" sz="2800" u="none" cap="none" strike="noStrike"/>
                        <a:t>CH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lang="en-US" sz="2800" u="none" cap="none" strike="noStrike"/>
                        <a:t>CL</a:t>
                      </a:r>
                      <a:endParaRPr/>
                    </a:p>
                  </a:txBody>
                  <a:tcPr marT="45725" marB="45725" marR="91450" marL="91450" anchor="ctr">
                    <a:solidFill>
                      <a:srgbClr val="00B0F0"/>
                    </a:solidFill>
                  </a:tcPr>
                </a:tc>
              </a:tr>
            </a:tbl>
          </a:graphicData>
        </a:graphic>
      </p:graphicFrame>
      <p:graphicFrame>
        <p:nvGraphicFramePr>
          <p:cNvPr id="215" name="Google Shape;215;p15"/>
          <p:cNvGraphicFramePr/>
          <p:nvPr/>
        </p:nvGraphicFramePr>
        <p:xfrm>
          <a:off x="4876800" y="4953000"/>
          <a:ext cx="3000000" cy="3000000"/>
        </p:xfrm>
        <a:graphic>
          <a:graphicData uri="http://schemas.openxmlformats.org/drawingml/2006/table">
            <a:tbl>
              <a:tblPr bandRow="1" firstRow="1">
                <a:noFill/>
                <a:tableStyleId>{1CD154A0-517F-4B4A-82E1-0E76DB0E4BF0}</a:tableStyleId>
              </a:tblPr>
              <a:tblGrid>
                <a:gridCol w="1524000"/>
                <a:gridCol w="1447800"/>
              </a:tblGrid>
              <a:tr h="533400">
                <a:tc gridSpan="2">
                  <a:txBody>
                    <a:bodyPr/>
                    <a:lstStyle/>
                    <a:p>
                      <a:pPr indent="0" lvl="0" marL="0" marR="0" rtl="0" algn="ctr">
                        <a:spcBef>
                          <a:spcPts val="0"/>
                        </a:spcBef>
                        <a:spcAft>
                          <a:spcPts val="0"/>
                        </a:spcAft>
                        <a:buNone/>
                      </a:pPr>
                      <a:r>
                        <a:rPr lang="en-US" sz="2800" u="none" cap="none" strike="noStrike">
                          <a:solidFill>
                            <a:schemeClr val="dk1"/>
                          </a:solidFill>
                        </a:rPr>
                        <a:t>DX</a:t>
                      </a:r>
                      <a:endParaRPr/>
                    </a:p>
                  </a:txBody>
                  <a:tcPr marT="45725" marB="45725" marR="91450" marL="91450" anchor="ctr"/>
                </a:tc>
                <a:tc hMerge="1"/>
              </a:tr>
              <a:tr h="533400">
                <a:tc>
                  <a:txBody>
                    <a:bodyPr/>
                    <a:lstStyle/>
                    <a:p>
                      <a:pPr indent="0" lvl="0" marL="0" marR="0" rtl="0" algn="ctr">
                        <a:spcBef>
                          <a:spcPts val="0"/>
                        </a:spcBef>
                        <a:spcAft>
                          <a:spcPts val="0"/>
                        </a:spcAft>
                        <a:buNone/>
                      </a:pPr>
                      <a:r>
                        <a:rPr lang="en-US" sz="2800" u="none" cap="none" strike="noStrike"/>
                        <a:t>DH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lang="en-US" sz="2800" u="none" cap="none" strike="noStrike"/>
                        <a:t>DL</a:t>
                      </a:r>
                      <a:endParaRPr/>
                    </a:p>
                  </a:txBody>
                  <a:tcPr marT="45725" marB="45725" marR="91450" marL="91450" anchor="ctr">
                    <a:solidFill>
                      <a:srgbClr val="00B0F0"/>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(4)</a:t>
            </a:r>
            <a:endParaRPr/>
          </a:p>
        </p:txBody>
      </p:sp>
      <p:sp>
        <p:nvSpPr>
          <p:cNvPr id="221" name="Google Shape;221;p1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thanh ghi con trỏ và chỉ mục: </a:t>
            </a:r>
            <a:r>
              <a:rPr b="1" lang="en-US"/>
              <a:t>SP, BP, SI, DI</a:t>
            </a:r>
            <a:endParaRPr/>
          </a:p>
          <a:p>
            <a:pPr indent="-285750" lvl="1" marL="742950" rtl="0" algn="l">
              <a:spcBef>
                <a:spcPts val="560"/>
              </a:spcBef>
              <a:spcAft>
                <a:spcPts val="0"/>
              </a:spcAft>
              <a:buClr>
                <a:schemeClr val="dk1"/>
              </a:buClr>
              <a:buSzPts val="2800"/>
              <a:buChar char="•"/>
            </a:pPr>
            <a:r>
              <a:rPr lang="en-US"/>
              <a:t>SP (Stack Pointer): địa chỉ offset của phần tử trên đỉnh stack</a:t>
            </a:r>
            <a:endParaRPr/>
          </a:p>
          <a:p>
            <a:pPr indent="-285750" lvl="1" marL="742950" rtl="0" algn="l">
              <a:spcBef>
                <a:spcPts val="560"/>
              </a:spcBef>
              <a:spcAft>
                <a:spcPts val="0"/>
              </a:spcAft>
              <a:buClr>
                <a:schemeClr val="dk1"/>
              </a:buClr>
              <a:buSzPts val="2800"/>
              <a:buChar char="•"/>
            </a:pPr>
            <a:r>
              <a:rPr lang="en-US"/>
              <a:t>BP (Base Pointer): dùng định vị offset khi truy xuất stack</a:t>
            </a:r>
            <a:endParaRPr/>
          </a:p>
          <a:p>
            <a:pPr indent="-285750" lvl="1" marL="742950" rtl="0" algn="l">
              <a:spcBef>
                <a:spcPts val="560"/>
              </a:spcBef>
              <a:spcAft>
                <a:spcPts val="0"/>
              </a:spcAft>
              <a:buClr>
                <a:schemeClr val="dk1"/>
              </a:buClr>
              <a:buSzPts val="2800"/>
              <a:buChar char="•"/>
            </a:pPr>
            <a:r>
              <a:rPr lang="en-US"/>
              <a:t>SI (Source Index): dùng định vị offset chuỗi nguồn trong các lệnh về chuỗi</a:t>
            </a:r>
            <a:endParaRPr/>
          </a:p>
          <a:p>
            <a:pPr indent="-285750" lvl="1" marL="742950" rtl="0" algn="l">
              <a:spcBef>
                <a:spcPts val="560"/>
              </a:spcBef>
              <a:spcAft>
                <a:spcPts val="0"/>
              </a:spcAft>
              <a:buClr>
                <a:schemeClr val="dk1"/>
              </a:buClr>
              <a:buSzPts val="2800"/>
              <a:buChar char="•"/>
            </a:pPr>
            <a:r>
              <a:rPr lang="en-US"/>
              <a:t>DI (Destination Index): dùng định vị offset chuỗi đích trong các lệnh về chuỗi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(5)</a:t>
            </a:r>
            <a:endParaRPr/>
          </a:p>
        </p:txBody>
      </p:sp>
      <p:sp>
        <p:nvSpPr>
          <p:cNvPr id="227" name="Google Shape;227;p1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Thanh ghi con trỏ lệnh: </a:t>
            </a:r>
            <a:r>
              <a:rPr b="1" lang="en-US"/>
              <a:t>IP </a:t>
            </a:r>
            <a:r>
              <a:rPr lang="en-US"/>
              <a:t>(Instruction Pointer)</a:t>
            </a:r>
            <a:endParaRPr/>
          </a:p>
          <a:p>
            <a:pPr indent="-285750" lvl="1" marL="742950" rtl="0" algn="l">
              <a:spcBef>
                <a:spcPts val="560"/>
              </a:spcBef>
              <a:spcAft>
                <a:spcPts val="0"/>
              </a:spcAft>
              <a:buClr>
                <a:schemeClr val="dk1"/>
              </a:buClr>
              <a:buSzPts val="2800"/>
              <a:buChar char="•"/>
            </a:pPr>
            <a:r>
              <a:rPr lang="en-US"/>
              <a:t>Chứa địa chỉ offset của lệnh sẽ được CPU thực hiện</a:t>
            </a:r>
            <a:endParaRPr/>
          </a:p>
          <a:p>
            <a:pPr indent="-285750" lvl="1" marL="742950" rtl="0" algn="l">
              <a:spcBef>
                <a:spcPts val="560"/>
              </a:spcBef>
              <a:spcAft>
                <a:spcPts val="0"/>
              </a:spcAft>
              <a:buClr>
                <a:schemeClr val="dk1"/>
              </a:buClr>
              <a:buSzPts val="2800"/>
              <a:buChar char="•"/>
            </a:pPr>
            <a:r>
              <a:rPr lang="en-US"/>
              <a:t>Được tự động thay đổi để trỏ đến lệnh kế tiếp</a:t>
            </a:r>
            <a:endParaRPr/>
          </a:p>
          <a:p>
            <a:pPr indent="-285750" lvl="1" marL="742950" rtl="0" algn="l">
              <a:spcBef>
                <a:spcPts val="560"/>
              </a:spcBef>
              <a:spcAft>
                <a:spcPts val="0"/>
              </a:spcAft>
              <a:buClr>
                <a:schemeClr val="dk1"/>
              </a:buClr>
              <a:buSzPts val="2800"/>
              <a:buChar char="•"/>
            </a:pPr>
            <a:r>
              <a:rPr lang="en-US"/>
              <a:t>CS:IP 🡪 segment:offset của lệnh kế tiếp được CPU thực hiện</a:t>
            </a:r>
            <a:endParaRPr/>
          </a:p>
          <a:p>
            <a:pPr indent="-342900" lvl="0" marL="342900" rtl="0" algn="l">
              <a:spcBef>
                <a:spcPts val="640"/>
              </a:spcBef>
              <a:spcAft>
                <a:spcPts val="0"/>
              </a:spcAft>
              <a:buClr>
                <a:schemeClr val="dk1"/>
              </a:buClr>
              <a:buSzPts val="1280"/>
              <a:buChar char="❑"/>
            </a:pPr>
            <a:r>
              <a:rPr lang="en-US"/>
              <a:t>Thanh ghi cờ hiệu (Flag Register)</a:t>
            </a:r>
            <a:endParaRPr/>
          </a:p>
          <a:p>
            <a:pPr indent="-285750" lvl="1" marL="742950" rtl="0" algn="l">
              <a:spcBef>
                <a:spcPts val="560"/>
              </a:spcBef>
              <a:spcAft>
                <a:spcPts val="0"/>
              </a:spcAft>
              <a:buClr>
                <a:schemeClr val="dk1"/>
              </a:buClr>
              <a:buSzPts val="2800"/>
              <a:buChar char="•"/>
            </a:pPr>
            <a:r>
              <a:rPr lang="en-US"/>
              <a:t>Phản ánh trạng thái thực hiện lệnh của CPU</a:t>
            </a:r>
            <a:endParaRPr/>
          </a:p>
          <a:p>
            <a:pPr indent="-285750" lvl="1" marL="742950" rtl="0" algn="l">
              <a:spcBef>
                <a:spcPts val="560"/>
              </a:spcBef>
              <a:spcAft>
                <a:spcPts val="0"/>
              </a:spcAft>
              <a:buClr>
                <a:schemeClr val="dk1"/>
              </a:buClr>
              <a:buSzPts val="2800"/>
              <a:buChar char="•"/>
            </a:pPr>
            <a:r>
              <a:rPr lang="en-US"/>
              <a:t>Có 9 cờ (9 bit)</a:t>
            </a:r>
            <a:endParaRPr/>
          </a:p>
          <a:p>
            <a:pPr indent="0" lvl="1" marL="457200" rtl="0" algn="l">
              <a:spcBef>
                <a:spcPts val="56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(6)</a:t>
            </a:r>
            <a:endParaRPr/>
          </a:p>
        </p:txBody>
      </p:sp>
      <p:sp>
        <p:nvSpPr>
          <p:cNvPr id="233" name="Google Shape;233;p1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Các cờ của thanh ghi cờ hiệu</a:t>
            </a:r>
            <a:endParaRPr/>
          </a:p>
          <a:p>
            <a:pPr indent="-261620" lvl="0" marL="342900" rtl="0" algn="l">
              <a:spcBef>
                <a:spcPts val="640"/>
              </a:spcBef>
              <a:spcAft>
                <a:spcPts val="0"/>
              </a:spcAft>
              <a:buClr>
                <a:schemeClr val="dk1"/>
              </a:buClr>
              <a:buSzPts val="1280"/>
              <a:buNone/>
            </a:pPr>
            <a:r>
              <a:t/>
            </a:r>
            <a:endParaRPr/>
          </a:p>
          <a:p>
            <a:pPr indent="-107950" lvl="1" marL="742950" rtl="0" algn="l">
              <a:spcBef>
                <a:spcPts val="560"/>
              </a:spcBef>
              <a:spcAft>
                <a:spcPts val="0"/>
              </a:spcAft>
              <a:buClr>
                <a:schemeClr val="dk1"/>
              </a:buClr>
              <a:buSzPts val="2800"/>
              <a:buNone/>
            </a:pPr>
            <a:r>
              <a:t/>
            </a:r>
            <a:endParaRPr/>
          </a:p>
          <a:p>
            <a:pPr indent="-285750" lvl="1" marL="742950" rtl="0" algn="l">
              <a:spcBef>
                <a:spcPts val="560"/>
              </a:spcBef>
              <a:spcAft>
                <a:spcPts val="0"/>
              </a:spcAft>
              <a:buClr>
                <a:schemeClr val="dk1"/>
              </a:buClr>
              <a:buSzPts val="2800"/>
              <a:buChar char="•"/>
            </a:pPr>
            <a:r>
              <a:rPr lang="en-US"/>
              <a:t>Overflow, Direction, Interrupt, Trap, Sign, Zero, Auxiliary carry, Parity, Carry</a:t>
            </a:r>
            <a:endParaRPr/>
          </a:p>
          <a:p>
            <a:pPr indent="-342900" lvl="0" marL="342900" rtl="0" algn="l">
              <a:spcBef>
                <a:spcPts val="640"/>
              </a:spcBef>
              <a:spcAft>
                <a:spcPts val="0"/>
              </a:spcAft>
              <a:buClr>
                <a:schemeClr val="dk1"/>
              </a:buClr>
              <a:buSzPts val="1280"/>
              <a:buChar char="❑"/>
            </a:pPr>
            <a:r>
              <a:rPr lang="en-US"/>
              <a:t>Lệnh bật cờ</a:t>
            </a:r>
            <a:endParaRPr/>
          </a:p>
          <a:p>
            <a:pPr indent="-285750" lvl="1" marL="742950" rtl="0" algn="l">
              <a:spcBef>
                <a:spcPts val="560"/>
              </a:spcBef>
              <a:spcAft>
                <a:spcPts val="0"/>
              </a:spcAft>
              <a:buClr>
                <a:schemeClr val="dk1"/>
              </a:buClr>
              <a:buSzPts val="2800"/>
              <a:buChar char="•"/>
            </a:pPr>
            <a:r>
              <a:rPr lang="en-US"/>
              <a:t>ST&lt;flag&gt;		🡪 STC, STD,…</a:t>
            </a:r>
            <a:endParaRPr/>
          </a:p>
          <a:p>
            <a:pPr indent="-342900" lvl="0" marL="342900" rtl="0" algn="l">
              <a:spcBef>
                <a:spcPts val="640"/>
              </a:spcBef>
              <a:spcAft>
                <a:spcPts val="0"/>
              </a:spcAft>
              <a:buClr>
                <a:schemeClr val="dk1"/>
              </a:buClr>
              <a:buSzPts val="1280"/>
              <a:buChar char="❑"/>
            </a:pPr>
            <a:r>
              <a:rPr lang="en-US"/>
              <a:t>Lệnh xóa cờ</a:t>
            </a:r>
            <a:endParaRPr/>
          </a:p>
          <a:p>
            <a:pPr indent="-285750" lvl="1" marL="742950" rtl="0" algn="l">
              <a:spcBef>
                <a:spcPts val="560"/>
              </a:spcBef>
              <a:spcAft>
                <a:spcPts val="0"/>
              </a:spcAft>
              <a:buClr>
                <a:schemeClr val="dk1"/>
              </a:buClr>
              <a:buSzPts val="2800"/>
              <a:buChar char="•"/>
            </a:pPr>
            <a:r>
              <a:rPr lang="en-US"/>
              <a:t>CL&lt;flag&gt;		🡪 CLC, CLD,...</a:t>
            </a:r>
            <a:endParaRPr/>
          </a:p>
        </p:txBody>
      </p:sp>
      <p:graphicFrame>
        <p:nvGraphicFramePr>
          <p:cNvPr id="234" name="Google Shape;234;p18"/>
          <p:cNvGraphicFramePr/>
          <p:nvPr/>
        </p:nvGraphicFramePr>
        <p:xfrm>
          <a:off x="304800" y="2438400"/>
          <a:ext cx="3000000" cy="3000000"/>
        </p:xfrm>
        <a:graphic>
          <a:graphicData uri="http://schemas.openxmlformats.org/drawingml/2006/table">
            <a:tbl>
              <a:tblPr bandRow="1" firstRow="1">
                <a:noFill/>
                <a:tableStyleId>{1CD154A0-517F-4B4A-82E1-0E76DB0E4BF0}</a:tableStyleId>
              </a:tblPr>
              <a:tblGrid>
                <a:gridCol w="533400"/>
                <a:gridCol w="533400"/>
                <a:gridCol w="533400"/>
                <a:gridCol w="533400"/>
                <a:gridCol w="533400"/>
                <a:gridCol w="533400"/>
                <a:gridCol w="533400"/>
                <a:gridCol w="533400"/>
                <a:gridCol w="533400"/>
                <a:gridCol w="533400"/>
                <a:gridCol w="533400"/>
                <a:gridCol w="533400"/>
                <a:gridCol w="533400"/>
                <a:gridCol w="533400"/>
                <a:gridCol w="533400"/>
                <a:gridCol w="533400"/>
              </a:tblGrid>
              <a:tr h="609600">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rPr b="0" lang="en-US" sz="2000" u="none" cap="none" strike="noStrike"/>
                        <a:t>OF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rPr b="0" lang="en-US" sz="2000" u="none" cap="none" strike="noStrike"/>
                        <a:t>DF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rPr b="0" lang="en-US" sz="2000" u="none" cap="none" strike="noStrike"/>
                        <a:t>IF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rPr b="0" lang="en-US" sz="2000" u="none" cap="none" strike="noStrike"/>
                        <a:t>TF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rPr b="0" lang="en-US" sz="2000" u="none" cap="none" strike="noStrike"/>
                        <a:t>SF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rPr b="0" lang="en-US" sz="2000" u="none" cap="none" strike="noStrike"/>
                        <a:t>ZF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rPr b="0" lang="en-US" sz="2000" u="none" cap="none" strike="noStrike"/>
                        <a:t>AF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rPr b="0" lang="en-US" sz="2000" u="none" cap="none" strike="noStrike"/>
                        <a:t>PF</a:t>
                      </a:r>
                      <a:endParaRPr/>
                    </a:p>
                  </a:txBody>
                  <a:tcPr marT="45725" marB="45725" marR="91450" marL="91450" anchor="ctr">
                    <a:solidFill>
                      <a:srgbClr val="C00000"/>
                    </a:solidFill>
                  </a:tcPr>
                </a:tc>
                <a:tc>
                  <a:txBody>
                    <a:bodyPr/>
                    <a:lstStyle/>
                    <a:p>
                      <a:pPr indent="0" lvl="0" marL="0" marR="0" rtl="0" algn="ctr">
                        <a:spcBef>
                          <a:spcPts val="0"/>
                        </a:spcBef>
                        <a:spcAft>
                          <a:spcPts val="0"/>
                        </a:spcAft>
                        <a:buNone/>
                      </a:pPr>
                      <a:r>
                        <a:t/>
                      </a:r>
                      <a:endParaRPr b="0" sz="20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rPr b="0" lang="en-US" sz="2000" u="none" cap="none" strike="noStrike"/>
                        <a:t>CF</a:t>
                      </a:r>
                      <a:endParaRPr/>
                    </a:p>
                  </a:txBody>
                  <a:tcPr marT="45725" marB="45725" marR="91450" marL="91450" anchor="ctr">
                    <a:solidFill>
                      <a:srgbClr val="C00000"/>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Tổ chức thanh ghi (7)</a:t>
            </a:r>
            <a:endParaRPr/>
          </a:p>
        </p:txBody>
      </p:sp>
      <p:graphicFrame>
        <p:nvGraphicFramePr>
          <p:cNvPr id="240" name="Google Shape;240;p19"/>
          <p:cNvGraphicFramePr/>
          <p:nvPr/>
        </p:nvGraphicFramePr>
        <p:xfrm>
          <a:off x="304800" y="1600200"/>
          <a:ext cx="3000000" cy="3000000"/>
        </p:xfrm>
        <a:graphic>
          <a:graphicData uri="http://schemas.openxmlformats.org/drawingml/2006/table">
            <a:tbl>
              <a:tblPr bandRow="1" firstRow="1">
                <a:noFill/>
                <a:tableStyleId>{49BDB534-CFB7-4940-8031-6A07CBDA9D41}</a:tableStyleId>
              </a:tblPr>
              <a:tblGrid>
                <a:gridCol w="2133600"/>
                <a:gridCol w="2133600"/>
                <a:gridCol w="685800"/>
                <a:gridCol w="3581400"/>
              </a:tblGrid>
              <a:tr h="370850">
                <a:tc>
                  <a:txBody>
                    <a:bodyPr/>
                    <a:lstStyle/>
                    <a:p>
                      <a:pPr indent="0" lvl="0" marL="0" marR="0" rtl="0" algn="ctr">
                        <a:spcBef>
                          <a:spcPts val="0"/>
                        </a:spcBef>
                        <a:spcAft>
                          <a:spcPts val="0"/>
                        </a:spcAft>
                        <a:buNone/>
                      </a:pPr>
                      <a:r>
                        <a:rPr b="1" lang="en-US" sz="1800" u="none" cap="none" strike="noStrike"/>
                        <a:t>AH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AL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AX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4">
                  <a:txBody>
                    <a:bodyPr/>
                    <a:lstStyle/>
                    <a:p>
                      <a:pPr indent="0" lvl="0" marL="0" marR="0" rtl="0" algn="ctr">
                        <a:spcBef>
                          <a:spcPts val="0"/>
                        </a:spcBef>
                        <a:spcAft>
                          <a:spcPts val="0"/>
                        </a:spcAft>
                        <a:buNone/>
                      </a:pPr>
                      <a:r>
                        <a:rPr lang="en-US" sz="1800" u="none" cap="none" strike="noStrike"/>
                        <a:t>Nhóm thanh ghi đa dụng</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b="1" lang="en-US" sz="1800" u="none" cap="none" strike="noStrike"/>
                        <a:t>BH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BL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BX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vMerge="1"/>
              </a:tr>
              <a:tr h="370850">
                <a:tc>
                  <a:txBody>
                    <a:bodyPr/>
                    <a:lstStyle/>
                    <a:p>
                      <a:pPr indent="0" lvl="0" marL="0" marR="0" rtl="0" algn="ctr">
                        <a:spcBef>
                          <a:spcPts val="0"/>
                        </a:spcBef>
                        <a:spcAft>
                          <a:spcPts val="0"/>
                        </a:spcAft>
                        <a:buNone/>
                      </a:pPr>
                      <a:r>
                        <a:rPr b="1" lang="en-US" sz="1800" u="none" cap="none" strike="noStrike"/>
                        <a:t>CH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CL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CX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vMerge="1"/>
              </a:tr>
              <a:tr h="370850">
                <a:tc>
                  <a:txBody>
                    <a:bodyPr/>
                    <a:lstStyle/>
                    <a:p>
                      <a:pPr indent="0" lvl="0" marL="0" marR="0" rtl="0" algn="ctr">
                        <a:spcBef>
                          <a:spcPts val="0"/>
                        </a:spcBef>
                        <a:spcAft>
                          <a:spcPts val="0"/>
                        </a:spcAft>
                        <a:buNone/>
                      </a:pPr>
                      <a:r>
                        <a:rPr b="1" lang="en-US" sz="1800" u="none" cap="none" strike="noStrike"/>
                        <a:t>DH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DL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800" u="none" cap="none" strike="noStrike"/>
                        <a:t>DX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vMerge="1"/>
              </a:tr>
              <a:tr h="370850">
                <a:tc gridSpan="2">
                  <a:txBody>
                    <a:bodyPr/>
                    <a:lstStyle/>
                    <a:p>
                      <a:pPr indent="0" lvl="0" marL="0" marR="0" rtl="0" algn="ctr">
                        <a:spcBef>
                          <a:spcPts val="0"/>
                        </a:spcBef>
                        <a:spcAft>
                          <a:spcPts val="0"/>
                        </a:spcAft>
                        <a:buNone/>
                      </a:pPr>
                      <a:r>
                        <a:rPr b="1" lang="en-US" sz="1800" u="none" cap="none" strike="noStrike"/>
                        <a:t>CS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F0"/>
                    </a:solidFill>
                  </a:tcPr>
                </a:tc>
                <a:tc hMerge="1"/>
                <a:tc gridSpan="2" rowSpan="4">
                  <a:txBody>
                    <a:bodyPr/>
                    <a:lstStyle/>
                    <a:p>
                      <a:pPr indent="0" lvl="0" marL="0" marR="0" rtl="0" algn="ctr">
                        <a:spcBef>
                          <a:spcPts val="0"/>
                        </a:spcBef>
                        <a:spcAft>
                          <a:spcPts val="0"/>
                        </a:spcAft>
                        <a:buNone/>
                      </a:pPr>
                      <a:r>
                        <a:rPr lang="en-US" sz="1800" u="none" cap="none" strike="noStrike"/>
                        <a:t>Nhóm thanh ghi đoạn</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4" hMerge="1"/>
              </a:tr>
              <a:tr h="370850">
                <a:tc gridSpan="2">
                  <a:txBody>
                    <a:bodyPr/>
                    <a:lstStyle/>
                    <a:p>
                      <a:pPr indent="0" lvl="0" marL="0" marR="0" rtl="0" algn="ctr">
                        <a:spcBef>
                          <a:spcPts val="0"/>
                        </a:spcBef>
                        <a:spcAft>
                          <a:spcPts val="0"/>
                        </a:spcAft>
                        <a:buNone/>
                      </a:pPr>
                      <a:r>
                        <a:rPr b="1" lang="en-US" sz="1800" u="none" cap="none" strike="noStrike"/>
                        <a:t>DS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F0"/>
                    </a:solidFill>
                  </a:tcPr>
                </a:tc>
                <a:tc hMerge="1"/>
                <a:tc gridSpan="2" vMerge="1"/>
                <a:tc hMerge="1" vMerge="1"/>
              </a:tr>
              <a:tr h="370850">
                <a:tc gridSpan="2">
                  <a:txBody>
                    <a:bodyPr/>
                    <a:lstStyle/>
                    <a:p>
                      <a:pPr indent="0" lvl="0" marL="0" marR="0" rtl="0" algn="ctr">
                        <a:spcBef>
                          <a:spcPts val="0"/>
                        </a:spcBef>
                        <a:spcAft>
                          <a:spcPts val="0"/>
                        </a:spcAft>
                        <a:buNone/>
                      </a:pPr>
                      <a:r>
                        <a:rPr b="1" lang="en-US" sz="1800" u="none" cap="none" strike="noStrike"/>
                        <a:t>SS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F0"/>
                    </a:solidFill>
                  </a:tcPr>
                </a:tc>
                <a:tc hMerge="1"/>
                <a:tc gridSpan="2" vMerge="1"/>
                <a:tc hMerge="1" vMerge="1"/>
              </a:tr>
              <a:tr h="370850">
                <a:tc gridSpan="2">
                  <a:txBody>
                    <a:bodyPr/>
                    <a:lstStyle/>
                    <a:p>
                      <a:pPr indent="0" lvl="0" marL="0" marR="0" rtl="0" algn="ctr">
                        <a:spcBef>
                          <a:spcPts val="0"/>
                        </a:spcBef>
                        <a:spcAft>
                          <a:spcPts val="0"/>
                        </a:spcAft>
                        <a:buNone/>
                      </a:pPr>
                      <a:r>
                        <a:rPr b="1" lang="en-US" sz="1800" u="none" cap="none" strike="noStrike"/>
                        <a:t>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F0"/>
                    </a:solidFill>
                  </a:tcPr>
                </a:tc>
                <a:tc hMerge="1"/>
                <a:tc gridSpan="2" vMerge="1"/>
                <a:tc hMerge="1" vMerge="1"/>
              </a:tr>
              <a:tr h="370850">
                <a:tc gridSpan="2">
                  <a:txBody>
                    <a:bodyPr/>
                    <a:lstStyle/>
                    <a:p>
                      <a:pPr indent="0" lvl="0" marL="0" marR="0" rtl="0" algn="ctr">
                        <a:spcBef>
                          <a:spcPts val="0"/>
                        </a:spcBef>
                        <a:spcAft>
                          <a:spcPts val="0"/>
                        </a:spcAft>
                        <a:buNone/>
                      </a:pPr>
                      <a:r>
                        <a:rPr b="1" lang="en-US" sz="1800" u="none" cap="none" strike="noStrike"/>
                        <a:t>SP</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F8E"/>
                    </a:solidFill>
                  </a:tcPr>
                </a:tc>
                <a:tc hMerge="1"/>
                <a:tc gridSpan="2" rowSpan="2">
                  <a:txBody>
                    <a:bodyPr/>
                    <a:lstStyle/>
                    <a:p>
                      <a:pPr indent="0" lvl="0" marL="0" marR="0" rtl="0" algn="ctr">
                        <a:spcBef>
                          <a:spcPts val="0"/>
                        </a:spcBef>
                        <a:spcAft>
                          <a:spcPts val="0"/>
                        </a:spcAft>
                        <a:buNone/>
                      </a:pPr>
                      <a:r>
                        <a:rPr lang="en-US" sz="1800" u="none" cap="none" strike="noStrike"/>
                        <a:t>Nhóm thanh ghi con trỏ</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2" hMerge="1"/>
              </a:tr>
              <a:tr h="370850">
                <a:tc gridSpan="2">
                  <a:txBody>
                    <a:bodyPr/>
                    <a:lstStyle/>
                    <a:p>
                      <a:pPr indent="0" lvl="0" marL="0" marR="0" rtl="0" algn="ctr">
                        <a:spcBef>
                          <a:spcPts val="0"/>
                        </a:spcBef>
                        <a:spcAft>
                          <a:spcPts val="0"/>
                        </a:spcAft>
                        <a:buNone/>
                      </a:pPr>
                      <a:r>
                        <a:rPr b="1" lang="en-US" sz="1800" u="none" cap="none" strike="noStrike"/>
                        <a:t>BP</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F8E"/>
                    </a:solidFill>
                  </a:tcPr>
                </a:tc>
                <a:tc hMerge="1"/>
                <a:tc gridSpan="2" vMerge="1"/>
                <a:tc hMerge="1" vMerge="1"/>
              </a:tr>
              <a:tr h="370850">
                <a:tc gridSpan="2">
                  <a:txBody>
                    <a:bodyPr/>
                    <a:lstStyle/>
                    <a:p>
                      <a:pPr indent="0" lvl="0" marL="0" marR="0" rtl="0" algn="ctr">
                        <a:spcBef>
                          <a:spcPts val="0"/>
                        </a:spcBef>
                        <a:spcAft>
                          <a:spcPts val="0"/>
                        </a:spcAft>
                        <a:buNone/>
                      </a:pPr>
                      <a:r>
                        <a:rPr b="1" lang="en-US" sz="1800" u="none" cap="none" strike="noStrike"/>
                        <a:t>SI</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938953"/>
                    </a:solidFill>
                  </a:tcPr>
                </a:tc>
                <a:tc hMerge="1"/>
                <a:tc gridSpan="2" rowSpan="2">
                  <a:txBody>
                    <a:bodyPr/>
                    <a:lstStyle/>
                    <a:p>
                      <a:pPr indent="0" lvl="0" marL="0" marR="0" rtl="0" algn="ctr">
                        <a:spcBef>
                          <a:spcPts val="0"/>
                        </a:spcBef>
                        <a:spcAft>
                          <a:spcPts val="0"/>
                        </a:spcAft>
                        <a:buNone/>
                      </a:pPr>
                      <a:r>
                        <a:rPr lang="en-US" sz="1800" u="none" cap="none" strike="noStrike"/>
                        <a:t>Nhóm thanh ghi chỉ mục</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2" hMerge="1"/>
              </a:tr>
              <a:tr h="370850">
                <a:tc gridSpan="2">
                  <a:txBody>
                    <a:bodyPr/>
                    <a:lstStyle/>
                    <a:p>
                      <a:pPr indent="0" lvl="0" marL="0" marR="0" rtl="0" algn="ctr">
                        <a:spcBef>
                          <a:spcPts val="0"/>
                        </a:spcBef>
                        <a:spcAft>
                          <a:spcPts val="0"/>
                        </a:spcAft>
                        <a:buNone/>
                      </a:pPr>
                      <a:r>
                        <a:rPr b="1" lang="en-US" sz="1800" u="none" cap="none" strike="noStrike"/>
                        <a:t>DI</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938953"/>
                    </a:solidFill>
                  </a:tcPr>
                </a:tc>
                <a:tc hMerge="1"/>
                <a:tc gridSpan="2" vMerge="1"/>
                <a:tc hMerge="1" vMerge="1"/>
              </a:tr>
              <a:tr h="370850">
                <a:tc gridSpan="2">
                  <a:txBody>
                    <a:bodyPr/>
                    <a:lstStyle/>
                    <a:p>
                      <a:pPr indent="0" lvl="0" marL="0" marR="0" rtl="0" algn="ctr">
                        <a:spcBef>
                          <a:spcPts val="0"/>
                        </a:spcBef>
                        <a:spcAft>
                          <a:spcPts val="0"/>
                        </a:spcAft>
                        <a:buNone/>
                      </a:pPr>
                      <a:r>
                        <a:rPr b="1" lang="en-US" sz="1800" u="none" cap="none" strike="noStrike"/>
                        <a:t>IP</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hMerge="1"/>
                <a:tc gridSpan="2">
                  <a:txBody>
                    <a:bodyPr/>
                    <a:lstStyle/>
                    <a:p>
                      <a:pPr indent="0" lvl="0" marL="0" marR="0" rtl="0" algn="ctr">
                        <a:spcBef>
                          <a:spcPts val="0"/>
                        </a:spcBef>
                        <a:spcAft>
                          <a:spcPts val="0"/>
                        </a:spcAft>
                        <a:buNone/>
                      </a:pPr>
                      <a:r>
                        <a:rPr lang="en-US" sz="1800" u="none" cap="none" strike="noStrike"/>
                        <a:t>Thanh ghi con trỏ lệnh</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70850">
                <a:tc gridSpan="2">
                  <a:txBody>
                    <a:bodyPr/>
                    <a:lstStyle/>
                    <a:p>
                      <a:pPr indent="0" lvl="0" marL="0" marR="0" rtl="0" algn="ctr">
                        <a:spcBef>
                          <a:spcPts val="0"/>
                        </a:spcBef>
                        <a:spcAft>
                          <a:spcPts val="0"/>
                        </a:spcAft>
                        <a:buNone/>
                      </a:pPr>
                      <a:r>
                        <a:rPr b="1" lang="en-US" sz="1800" u="none" cap="none" strike="noStrike"/>
                        <a:t>Flag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c hMerge="1"/>
                <a:tc gridSpan="2">
                  <a:txBody>
                    <a:bodyPr/>
                    <a:lstStyle/>
                    <a:p>
                      <a:pPr indent="0" lvl="0" marL="0" marR="0" rtl="0" algn="ctr">
                        <a:spcBef>
                          <a:spcPts val="0"/>
                        </a:spcBef>
                        <a:spcAft>
                          <a:spcPts val="0"/>
                        </a:spcAft>
                        <a:buNone/>
                      </a:pPr>
                      <a:r>
                        <a:rPr lang="en-US" sz="1800" u="none" cap="none" strike="noStrike"/>
                        <a:t>Thanh ghi cờ hiệu</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a:t>
            </a:r>
            <a:endParaRPr/>
          </a:p>
        </p:txBody>
      </p:sp>
      <p:sp>
        <p:nvSpPr>
          <p:cNvPr id="246" name="Google Shape;246;p2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a:t>
            </a:r>
            <a:endParaRPr/>
          </a:p>
          <a:p>
            <a:pPr indent="-285750" lvl="1" marL="742950" rtl="0" algn="l">
              <a:spcBef>
                <a:spcPts val="560"/>
              </a:spcBef>
              <a:spcAft>
                <a:spcPts val="0"/>
              </a:spcAft>
              <a:buClr>
                <a:schemeClr val="dk1"/>
              </a:buClr>
              <a:buSzPts val="2800"/>
              <a:buChar char="•"/>
            </a:pPr>
            <a:r>
              <a:rPr lang="en-US"/>
              <a:t>Cách thức CPU xác định vị trí lưu trữ giá trị của toán hạng trong câu lệnh</a:t>
            </a:r>
            <a:endParaRPr/>
          </a:p>
          <a:p>
            <a:pPr indent="-342900" lvl="0" marL="342900" rtl="0" algn="l">
              <a:spcBef>
                <a:spcPts val="640"/>
              </a:spcBef>
              <a:spcAft>
                <a:spcPts val="0"/>
              </a:spcAft>
              <a:buClr>
                <a:schemeClr val="dk1"/>
              </a:buClr>
              <a:buSzPts val="1280"/>
              <a:buChar char="❑"/>
            </a:pPr>
            <a:r>
              <a:rPr lang="en-US"/>
              <a:t>Các kiểu toán hạng</a:t>
            </a:r>
            <a:endParaRPr/>
          </a:p>
          <a:p>
            <a:pPr indent="-285750" lvl="1" marL="742950" rtl="0" algn="l">
              <a:spcBef>
                <a:spcPts val="560"/>
              </a:spcBef>
              <a:spcAft>
                <a:spcPts val="0"/>
              </a:spcAft>
              <a:buClr>
                <a:schemeClr val="dk1"/>
              </a:buClr>
              <a:buSzPts val="2800"/>
              <a:buChar char="•"/>
            </a:pPr>
            <a:r>
              <a:rPr lang="en-US"/>
              <a:t>Toán hạng hằng/tức thì</a:t>
            </a:r>
            <a:endParaRPr/>
          </a:p>
          <a:p>
            <a:pPr indent="-285750" lvl="1" marL="742950" rtl="0" algn="l">
              <a:spcBef>
                <a:spcPts val="560"/>
              </a:spcBef>
              <a:spcAft>
                <a:spcPts val="0"/>
              </a:spcAft>
              <a:buClr>
                <a:schemeClr val="dk1"/>
              </a:buClr>
              <a:buSzPts val="2800"/>
              <a:buChar char="•"/>
            </a:pPr>
            <a:r>
              <a:rPr lang="en-US"/>
              <a:t>Toán hạng thanh ghi</a:t>
            </a:r>
            <a:endParaRPr/>
          </a:p>
          <a:p>
            <a:pPr indent="-285750" lvl="1" marL="742950" rtl="0" algn="l">
              <a:spcBef>
                <a:spcPts val="560"/>
              </a:spcBef>
              <a:spcAft>
                <a:spcPts val="0"/>
              </a:spcAft>
              <a:buClr>
                <a:schemeClr val="dk1"/>
              </a:buClr>
              <a:buSzPts val="2800"/>
              <a:buChar char="•"/>
            </a:pPr>
            <a:r>
              <a:rPr lang="en-US"/>
              <a:t>Toán hạng bộ nhớ</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 (2)</a:t>
            </a:r>
            <a:endParaRPr/>
          </a:p>
        </p:txBody>
      </p:sp>
      <p:sp>
        <p:nvSpPr>
          <p:cNvPr id="252" name="Google Shape;252;p2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 hằng</a:t>
            </a:r>
            <a:endParaRPr/>
          </a:p>
          <a:p>
            <a:pPr indent="-285750" lvl="1" marL="742950" rtl="0" algn="l">
              <a:spcBef>
                <a:spcPts val="560"/>
              </a:spcBef>
              <a:spcAft>
                <a:spcPts val="0"/>
              </a:spcAft>
              <a:buClr>
                <a:schemeClr val="dk1"/>
              </a:buClr>
              <a:buSzPts val="2800"/>
              <a:buChar char="•"/>
            </a:pPr>
            <a:r>
              <a:rPr lang="en-US"/>
              <a:t>Giá trị của toán hạng có sẵn trong lệnh</a:t>
            </a:r>
            <a:endParaRPr/>
          </a:p>
          <a:p>
            <a:pPr indent="-285750" lvl="1" marL="742950" rtl="0" algn="l">
              <a:spcBef>
                <a:spcPts val="560"/>
              </a:spcBef>
              <a:spcAft>
                <a:spcPts val="0"/>
              </a:spcAft>
              <a:buClr>
                <a:schemeClr val="dk1"/>
              </a:buClr>
              <a:buSzPts val="2800"/>
              <a:buChar char="•"/>
            </a:pPr>
            <a:r>
              <a:rPr lang="en-US"/>
              <a:t>Ví dụ:	MOV	AX, 100	; AX = 100</a:t>
            </a:r>
            <a:endParaRPr/>
          </a:p>
          <a:p>
            <a:pPr indent="-261620" lvl="0" marL="342900" rtl="0" algn="l">
              <a:spcBef>
                <a:spcPts val="640"/>
              </a:spcBef>
              <a:spcAft>
                <a:spcPts val="0"/>
              </a:spcAft>
              <a:buClr>
                <a:schemeClr val="dk1"/>
              </a:buClr>
              <a:buSzPts val="1280"/>
              <a:buNone/>
            </a:pPr>
            <a:r>
              <a:t/>
            </a:r>
            <a:endParaRPr/>
          </a:p>
          <a:p>
            <a:pPr indent="-342900" lvl="0" marL="342900" rtl="0" algn="l">
              <a:spcBef>
                <a:spcPts val="640"/>
              </a:spcBef>
              <a:spcAft>
                <a:spcPts val="0"/>
              </a:spcAft>
              <a:buClr>
                <a:schemeClr val="dk1"/>
              </a:buClr>
              <a:buSzPts val="1280"/>
              <a:buChar char="❑"/>
            </a:pPr>
            <a:r>
              <a:rPr lang="en-US"/>
              <a:t>Định vị thanh ghi</a:t>
            </a:r>
            <a:endParaRPr/>
          </a:p>
          <a:p>
            <a:pPr indent="-285750" lvl="1" marL="742950" rtl="0" algn="l">
              <a:spcBef>
                <a:spcPts val="560"/>
              </a:spcBef>
              <a:spcAft>
                <a:spcPts val="0"/>
              </a:spcAft>
              <a:buClr>
                <a:schemeClr val="dk1"/>
              </a:buClr>
              <a:buSzPts val="2800"/>
              <a:buChar char="•"/>
            </a:pPr>
            <a:r>
              <a:rPr lang="en-US"/>
              <a:t>Giá trị của toán hạng chứa trong một thanh ghi</a:t>
            </a:r>
            <a:endParaRPr/>
          </a:p>
          <a:p>
            <a:pPr indent="-285750" lvl="1" marL="742950" rtl="0" algn="l">
              <a:spcBef>
                <a:spcPts val="560"/>
              </a:spcBef>
              <a:spcAft>
                <a:spcPts val="0"/>
              </a:spcAft>
              <a:buClr>
                <a:schemeClr val="dk1"/>
              </a:buClr>
              <a:buSzPts val="2800"/>
              <a:buChar char="•"/>
            </a:pPr>
            <a:r>
              <a:rPr lang="en-US"/>
              <a:t>Ví dụ:	MOV	AX, BX	; AX = BX</a:t>
            </a:r>
            <a:endParaRPr/>
          </a:p>
          <a:p>
            <a:pPr indent="0" lvl="1" marL="457200" rtl="0" algn="l">
              <a:spcBef>
                <a:spcPts val="560"/>
              </a:spcBef>
              <a:spcAft>
                <a:spcPts val="0"/>
              </a:spcAft>
              <a:buClr>
                <a:schemeClr val="dk1"/>
              </a:buClr>
              <a:buSzPts val="2800"/>
              <a:buNone/>
            </a:pPr>
            <a:r>
              <a:rPr lang="en-US"/>
              <a:t>		MOV	BH, DL	; BH = DL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 (3)</a:t>
            </a:r>
            <a:endParaRPr/>
          </a:p>
        </p:txBody>
      </p:sp>
      <p:sp>
        <p:nvSpPr>
          <p:cNvPr id="258" name="Google Shape;258;p2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 bộ nhớ trực tiếp</a:t>
            </a:r>
            <a:endParaRPr/>
          </a:p>
          <a:p>
            <a:pPr indent="-285750" lvl="1" marL="742950" rtl="0" algn="l">
              <a:spcBef>
                <a:spcPts val="560"/>
              </a:spcBef>
              <a:spcAft>
                <a:spcPts val="0"/>
              </a:spcAft>
              <a:buClr>
                <a:schemeClr val="dk1"/>
              </a:buClr>
              <a:buSzPts val="2800"/>
              <a:buChar char="•"/>
            </a:pPr>
            <a:r>
              <a:rPr lang="en-US"/>
              <a:t>Địa chỉ offset của ô nhớ cần truy xuất được cung cấp trong lệnh</a:t>
            </a:r>
            <a:endParaRPr/>
          </a:p>
          <a:p>
            <a:pPr indent="-285750" lvl="1" marL="742950" rtl="0" algn="l">
              <a:spcBef>
                <a:spcPts val="560"/>
              </a:spcBef>
              <a:spcAft>
                <a:spcPts val="0"/>
              </a:spcAft>
              <a:buClr>
                <a:schemeClr val="dk1"/>
              </a:buClr>
              <a:buSzPts val="2800"/>
              <a:buChar char="•"/>
            </a:pPr>
            <a:r>
              <a:rPr lang="en-US"/>
              <a:t>Ví dụ:	MOV	AL, DS:[100]</a:t>
            </a:r>
            <a:endParaRPr/>
          </a:p>
          <a:p>
            <a:pPr indent="0" lvl="1" marL="457200" rtl="0" algn="l">
              <a:spcBef>
                <a:spcPts val="560"/>
              </a:spcBef>
              <a:spcAft>
                <a:spcPts val="0"/>
              </a:spcAft>
              <a:buClr>
                <a:schemeClr val="dk1"/>
              </a:buClr>
              <a:buSzPts val="2800"/>
              <a:buNone/>
            </a:pPr>
            <a:r>
              <a:rPr lang="en-US"/>
              <a:t>		MOV	CX, DS:[102]</a:t>
            </a:r>
            <a:endParaRPr/>
          </a:p>
        </p:txBody>
      </p:sp>
      <p:graphicFrame>
        <p:nvGraphicFramePr>
          <p:cNvPr id="259" name="Google Shape;259;p22"/>
          <p:cNvGraphicFramePr/>
          <p:nvPr/>
        </p:nvGraphicFramePr>
        <p:xfrm>
          <a:off x="6400800" y="3810000"/>
          <a:ext cx="3000000" cy="3000000"/>
        </p:xfrm>
        <a:graphic>
          <a:graphicData uri="http://schemas.openxmlformats.org/drawingml/2006/table">
            <a:tbl>
              <a:tblPr bandRow="1">
                <a:noFill/>
                <a:tableStyleId>{1CD154A0-517F-4B4A-82E1-0E76DB0E4BF0}</a:tableStyleId>
              </a:tblPr>
              <a:tblGrid>
                <a:gridCol w="582925"/>
                <a:gridCol w="685800"/>
              </a:tblGrid>
              <a:tr h="370850">
                <a:tc>
                  <a:txBody>
                    <a:bodyPr/>
                    <a:lstStyle/>
                    <a:p>
                      <a:pPr indent="0" lvl="0" marL="0" marR="0" rtl="0" algn="r">
                        <a:spcBef>
                          <a:spcPts val="0"/>
                        </a:spcBef>
                        <a:spcAft>
                          <a:spcPts val="0"/>
                        </a:spcAft>
                        <a:buNone/>
                      </a:pPr>
                      <a:r>
                        <a:rPr lang="en-US" sz="1800" u="none" cap="none" strike="noStrike"/>
                        <a:t>98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34</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99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78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48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92</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150</a:t>
                      </a:r>
                      <a:endParaRPr/>
                    </a:p>
                  </a:txBody>
                  <a:tcPr marT="45725" marB="45725" marR="91450" marL="91450" anchor="ctr">
                    <a:solidFill>
                      <a:srgbClr val="00B0F0"/>
                    </a:solidFill>
                  </a:tcPr>
                </a:tc>
              </a:tr>
            </a:tbl>
          </a:graphicData>
        </a:graphic>
      </p:graphicFrame>
      <p:sp>
        <p:nvSpPr>
          <p:cNvPr id="260" name="Google Shape;260;p22"/>
          <p:cNvSpPr/>
          <p:nvPr/>
        </p:nvSpPr>
        <p:spPr>
          <a:xfrm>
            <a:off x="2967684" y="4412672"/>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65</a:t>
            </a:r>
            <a:endParaRPr/>
          </a:p>
        </p:txBody>
      </p:sp>
      <p:sp>
        <p:nvSpPr>
          <p:cNvPr id="261" name="Google Shape;261;p22"/>
          <p:cNvSpPr txBox="1"/>
          <p:nvPr/>
        </p:nvSpPr>
        <p:spPr>
          <a:xfrm>
            <a:off x="2545774" y="4475202"/>
            <a:ext cx="4219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AL</a:t>
            </a:r>
            <a:endParaRPr/>
          </a:p>
        </p:txBody>
      </p:sp>
      <p:cxnSp>
        <p:nvCxnSpPr>
          <p:cNvPr id="262" name="Google Shape;262;p22"/>
          <p:cNvCxnSpPr/>
          <p:nvPr/>
        </p:nvCxnSpPr>
        <p:spPr>
          <a:xfrm rot="10800000">
            <a:off x="4447311" y="4585857"/>
            <a:ext cx="1981201" cy="138545"/>
          </a:xfrm>
          <a:prstGeom prst="straightConnector1">
            <a:avLst/>
          </a:prstGeom>
          <a:noFill/>
          <a:ln cap="flat" cmpd="sng" w="38100">
            <a:solidFill>
              <a:schemeClr val="dk1"/>
            </a:solidFill>
            <a:prstDash val="solid"/>
            <a:round/>
            <a:headEnd len="sm" w="sm" type="none"/>
            <a:tailEnd len="med" w="med" type="triangle"/>
          </a:ln>
        </p:spPr>
      </p:cxnSp>
      <p:sp>
        <p:nvSpPr>
          <p:cNvPr id="263" name="Google Shape;263;p22"/>
          <p:cNvSpPr/>
          <p:nvPr/>
        </p:nvSpPr>
        <p:spPr>
          <a:xfrm>
            <a:off x="29676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48</a:t>
            </a:r>
            <a:endParaRPr/>
          </a:p>
        </p:txBody>
      </p:sp>
      <p:sp>
        <p:nvSpPr>
          <p:cNvPr id="264" name="Google Shape;264;p22"/>
          <p:cNvSpPr/>
          <p:nvPr/>
        </p:nvSpPr>
        <p:spPr>
          <a:xfrm>
            <a:off x="15960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92</a:t>
            </a:r>
            <a:endParaRPr/>
          </a:p>
        </p:txBody>
      </p:sp>
      <p:sp>
        <p:nvSpPr>
          <p:cNvPr id="265" name="Google Shape;265;p22"/>
          <p:cNvSpPr txBox="1"/>
          <p:nvPr/>
        </p:nvSpPr>
        <p:spPr>
          <a:xfrm>
            <a:off x="1172443" y="5726668"/>
            <a:ext cx="4331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CX</a:t>
            </a:r>
            <a:endParaRPr/>
          </a:p>
        </p:txBody>
      </p:sp>
      <p:sp>
        <p:nvSpPr>
          <p:cNvPr id="266" name="Google Shape;266;p22"/>
          <p:cNvSpPr txBox="1"/>
          <p:nvPr/>
        </p:nvSpPr>
        <p:spPr>
          <a:xfrm>
            <a:off x="2065318" y="5327072"/>
            <a:ext cx="4523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CH</a:t>
            </a:r>
            <a:endParaRPr/>
          </a:p>
        </p:txBody>
      </p:sp>
      <p:sp>
        <p:nvSpPr>
          <p:cNvPr id="267" name="Google Shape;267;p22"/>
          <p:cNvSpPr txBox="1"/>
          <p:nvPr/>
        </p:nvSpPr>
        <p:spPr>
          <a:xfrm>
            <a:off x="3436918" y="5329441"/>
            <a:ext cx="4042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CL</a:t>
            </a:r>
            <a:endParaRPr/>
          </a:p>
        </p:txBody>
      </p:sp>
      <p:cxnSp>
        <p:nvCxnSpPr>
          <p:cNvPr id="268" name="Google Shape;268;p22"/>
          <p:cNvCxnSpPr>
            <a:stCxn id="264" idx="2"/>
          </p:cNvCxnSpPr>
          <p:nvPr/>
        </p:nvCxnSpPr>
        <p:spPr>
          <a:xfrm rot="-5400000">
            <a:off x="4247184" y="3914700"/>
            <a:ext cx="216000" cy="4146600"/>
          </a:xfrm>
          <a:prstGeom prst="bentConnector4">
            <a:avLst>
              <a:gd fmla="val -189219" name="adj1"/>
              <a:gd fmla="val 88675" name="adj2"/>
            </a:avLst>
          </a:prstGeom>
          <a:noFill/>
          <a:ln cap="flat" cmpd="sng" w="38100">
            <a:solidFill>
              <a:schemeClr val="dk1"/>
            </a:solidFill>
            <a:prstDash val="solid"/>
            <a:round/>
            <a:headEnd len="med" w="med" type="triangle"/>
            <a:tailEnd len="sm" w="sm" type="none"/>
          </a:ln>
        </p:spPr>
      </p:cxnSp>
      <p:cxnSp>
        <p:nvCxnSpPr>
          <p:cNvPr id="269" name="Google Shape;269;p22"/>
          <p:cNvCxnSpPr/>
          <p:nvPr/>
        </p:nvCxnSpPr>
        <p:spPr>
          <a:xfrm flipH="1">
            <a:off x="4447311" y="5479474"/>
            <a:ext cx="1981201" cy="400597"/>
          </a:xfrm>
          <a:prstGeom prst="straightConnector1">
            <a:avLst/>
          </a:prstGeom>
          <a:noFill/>
          <a:ln cap="flat" cmpd="sng" w="38100">
            <a:solidFill>
              <a:schemeClr val="dk1"/>
            </a:solidFill>
            <a:prstDash val="solid"/>
            <a:round/>
            <a:headEnd len="sm" w="sm" type="none"/>
            <a:tailEnd len="med" w="med" type="triangle"/>
          </a:ln>
        </p:spPr>
      </p:cxnSp>
      <p:sp>
        <p:nvSpPr>
          <p:cNvPr id="270" name="Google Shape;270;p22"/>
          <p:cNvSpPr/>
          <p:nvPr/>
        </p:nvSpPr>
        <p:spPr>
          <a:xfrm>
            <a:off x="7543800" y="3276600"/>
            <a:ext cx="6858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DS</a:t>
            </a:r>
            <a:endParaRPr/>
          </a:p>
        </p:txBody>
      </p:sp>
      <p:cxnSp>
        <p:nvCxnSpPr>
          <p:cNvPr id="271" name="Google Shape;271;p22"/>
          <p:cNvCxnSpPr/>
          <p:nvPr/>
        </p:nvCxnSpPr>
        <p:spPr>
          <a:xfrm>
            <a:off x="7886700" y="3708462"/>
            <a:ext cx="0" cy="1955676"/>
          </a:xfrm>
          <a:prstGeom prst="straightConnector1">
            <a:avLst/>
          </a:prstGeom>
          <a:noFill/>
          <a:ln cap="flat" cmpd="sng" w="38100">
            <a:solidFill>
              <a:srgbClr val="4A7DBA"/>
            </a:solidFill>
            <a:prstDash val="solid"/>
            <a:round/>
            <a:headEnd len="sm" w="sm"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 (4)</a:t>
            </a:r>
            <a:endParaRPr/>
          </a:p>
        </p:txBody>
      </p:sp>
      <p:sp>
        <p:nvSpPr>
          <p:cNvPr id="277" name="Google Shape;277;p2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 bộ nhớ gián tiếp cơ sở</a:t>
            </a:r>
            <a:endParaRPr/>
          </a:p>
          <a:p>
            <a:pPr indent="-285750" lvl="1" marL="742950" rtl="0" algn="l">
              <a:spcBef>
                <a:spcPts val="560"/>
              </a:spcBef>
              <a:spcAft>
                <a:spcPts val="0"/>
              </a:spcAft>
              <a:buClr>
                <a:schemeClr val="dk1"/>
              </a:buClr>
              <a:buSzPts val="2800"/>
              <a:buChar char="•"/>
            </a:pPr>
            <a:r>
              <a:rPr lang="en-US"/>
              <a:t>Địa chỉ offset của ô nhớ cần truy xuất được cung cấp thông qua một thanh ghi cơ sở (BX, BP), có thể có độ dời 8 hoặc 16 bit</a:t>
            </a:r>
            <a:endParaRPr/>
          </a:p>
          <a:p>
            <a:pPr indent="-285750" lvl="1" marL="742950" rtl="0" algn="l">
              <a:spcBef>
                <a:spcPts val="560"/>
              </a:spcBef>
              <a:spcAft>
                <a:spcPts val="0"/>
              </a:spcAft>
              <a:buClr>
                <a:schemeClr val="dk1"/>
              </a:buClr>
              <a:buSzPts val="2800"/>
              <a:buChar char="•"/>
            </a:pPr>
            <a:r>
              <a:rPr lang="en-US"/>
              <a:t>Ví dụ:	MOV	CX, DS:[BX + 100]</a:t>
            </a:r>
            <a:endParaRPr/>
          </a:p>
        </p:txBody>
      </p:sp>
      <p:graphicFrame>
        <p:nvGraphicFramePr>
          <p:cNvPr id="278" name="Google Shape;278;p23"/>
          <p:cNvGraphicFramePr/>
          <p:nvPr/>
        </p:nvGraphicFramePr>
        <p:xfrm>
          <a:off x="6400800" y="3810000"/>
          <a:ext cx="3000000" cy="3000000"/>
        </p:xfrm>
        <a:graphic>
          <a:graphicData uri="http://schemas.openxmlformats.org/drawingml/2006/table">
            <a:tbl>
              <a:tblPr bandRow="1">
                <a:noFill/>
                <a:tableStyleId>{1CD154A0-517F-4B4A-82E1-0E76DB0E4BF0}</a:tableStyleId>
              </a:tblPr>
              <a:tblGrid>
                <a:gridCol w="582925"/>
                <a:gridCol w="685800"/>
              </a:tblGrid>
              <a:tr h="370850">
                <a:tc>
                  <a:txBody>
                    <a:bodyPr/>
                    <a:lstStyle/>
                    <a:p>
                      <a:pPr indent="0" lvl="0" marL="0" marR="0" rtl="0" algn="r">
                        <a:spcBef>
                          <a:spcPts val="0"/>
                        </a:spcBef>
                        <a:spcAft>
                          <a:spcPts val="0"/>
                        </a:spcAft>
                        <a:buNone/>
                      </a:pPr>
                      <a:r>
                        <a:rPr lang="en-US" sz="1800" u="none" cap="none" strike="noStrike"/>
                        <a:t>98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34</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99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78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48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92</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150</a:t>
                      </a:r>
                      <a:endParaRPr/>
                    </a:p>
                  </a:txBody>
                  <a:tcPr marT="45725" marB="45725" marR="91450" marL="91450" anchor="ctr">
                    <a:solidFill>
                      <a:srgbClr val="00B0F0"/>
                    </a:solidFill>
                  </a:tcPr>
                </a:tc>
              </a:tr>
            </a:tbl>
          </a:graphicData>
        </a:graphic>
      </p:graphicFrame>
      <p:sp>
        <p:nvSpPr>
          <p:cNvPr id="279" name="Google Shape;279;p23"/>
          <p:cNvSpPr/>
          <p:nvPr/>
        </p:nvSpPr>
        <p:spPr>
          <a:xfrm>
            <a:off x="1596085" y="4419600"/>
            <a:ext cx="27432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2</a:t>
            </a:r>
            <a:endParaRPr/>
          </a:p>
        </p:txBody>
      </p:sp>
      <p:sp>
        <p:nvSpPr>
          <p:cNvPr id="280" name="Google Shape;280;p23"/>
          <p:cNvSpPr txBox="1"/>
          <p:nvPr/>
        </p:nvSpPr>
        <p:spPr>
          <a:xfrm>
            <a:off x="1143000" y="4475202"/>
            <a:ext cx="4355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BX</a:t>
            </a:r>
            <a:endParaRPr/>
          </a:p>
        </p:txBody>
      </p:sp>
      <p:sp>
        <p:nvSpPr>
          <p:cNvPr id="281" name="Google Shape;281;p23"/>
          <p:cNvSpPr/>
          <p:nvPr/>
        </p:nvSpPr>
        <p:spPr>
          <a:xfrm>
            <a:off x="29676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48</a:t>
            </a:r>
            <a:endParaRPr/>
          </a:p>
        </p:txBody>
      </p:sp>
      <p:sp>
        <p:nvSpPr>
          <p:cNvPr id="282" name="Google Shape;282;p23"/>
          <p:cNvSpPr/>
          <p:nvPr/>
        </p:nvSpPr>
        <p:spPr>
          <a:xfrm>
            <a:off x="15960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92</a:t>
            </a:r>
            <a:endParaRPr/>
          </a:p>
        </p:txBody>
      </p:sp>
      <p:sp>
        <p:nvSpPr>
          <p:cNvPr id="283" name="Google Shape;283;p23"/>
          <p:cNvSpPr txBox="1"/>
          <p:nvPr/>
        </p:nvSpPr>
        <p:spPr>
          <a:xfrm>
            <a:off x="1172443" y="5726668"/>
            <a:ext cx="4331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CX</a:t>
            </a:r>
            <a:endParaRPr/>
          </a:p>
        </p:txBody>
      </p:sp>
      <p:sp>
        <p:nvSpPr>
          <p:cNvPr id="284" name="Google Shape;284;p23"/>
          <p:cNvSpPr txBox="1"/>
          <p:nvPr/>
        </p:nvSpPr>
        <p:spPr>
          <a:xfrm>
            <a:off x="2065318" y="5327072"/>
            <a:ext cx="4523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CH</a:t>
            </a:r>
            <a:endParaRPr/>
          </a:p>
        </p:txBody>
      </p:sp>
      <p:sp>
        <p:nvSpPr>
          <p:cNvPr id="285" name="Google Shape;285;p23"/>
          <p:cNvSpPr txBox="1"/>
          <p:nvPr/>
        </p:nvSpPr>
        <p:spPr>
          <a:xfrm>
            <a:off x="3436918" y="5329441"/>
            <a:ext cx="4042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CL</a:t>
            </a:r>
            <a:endParaRPr/>
          </a:p>
        </p:txBody>
      </p:sp>
      <p:cxnSp>
        <p:nvCxnSpPr>
          <p:cNvPr id="286" name="Google Shape;286;p23"/>
          <p:cNvCxnSpPr>
            <a:stCxn id="282" idx="2"/>
          </p:cNvCxnSpPr>
          <p:nvPr/>
        </p:nvCxnSpPr>
        <p:spPr>
          <a:xfrm rot="-5400000">
            <a:off x="4247184" y="3914700"/>
            <a:ext cx="216000" cy="4146600"/>
          </a:xfrm>
          <a:prstGeom prst="bentConnector4">
            <a:avLst>
              <a:gd fmla="val -189219" name="adj1"/>
              <a:gd fmla="val 88675" name="adj2"/>
            </a:avLst>
          </a:prstGeom>
          <a:noFill/>
          <a:ln cap="flat" cmpd="sng" w="38100">
            <a:solidFill>
              <a:schemeClr val="dk1"/>
            </a:solidFill>
            <a:prstDash val="solid"/>
            <a:round/>
            <a:headEnd len="med" w="med" type="triangle"/>
            <a:tailEnd len="sm" w="sm" type="none"/>
          </a:ln>
        </p:spPr>
      </p:cxnSp>
      <p:cxnSp>
        <p:nvCxnSpPr>
          <p:cNvPr id="287" name="Google Shape;287;p23"/>
          <p:cNvCxnSpPr/>
          <p:nvPr/>
        </p:nvCxnSpPr>
        <p:spPr>
          <a:xfrm flipH="1">
            <a:off x="4447311" y="5479474"/>
            <a:ext cx="1981201" cy="400597"/>
          </a:xfrm>
          <a:prstGeom prst="straightConnector1">
            <a:avLst/>
          </a:prstGeom>
          <a:noFill/>
          <a:ln cap="flat" cmpd="sng" w="38100">
            <a:solidFill>
              <a:schemeClr val="dk1"/>
            </a:solidFill>
            <a:prstDash val="solid"/>
            <a:round/>
            <a:headEnd len="sm" w="sm" type="none"/>
            <a:tailEnd len="med" w="med" type="triangle"/>
          </a:ln>
        </p:spPr>
      </p:cxnSp>
      <p:sp>
        <p:nvSpPr>
          <p:cNvPr id="288" name="Google Shape;288;p23"/>
          <p:cNvSpPr/>
          <p:nvPr/>
        </p:nvSpPr>
        <p:spPr>
          <a:xfrm>
            <a:off x="7543800" y="3276600"/>
            <a:ext cx="6858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DS</a:t>
            </a:r>
            <a:endParaRPr/>
          </a:p>
        </p:txBody>
      </p:sp>
      <p:cxnSp>
        <p:nvCxnSpPr>
          <p:cNvPr id="289" name="Google Shape;289;p23"/>
          <p:cNvCxnSpPr/>
          <p:nvPr/>
        </p:nvCxnSpPr>
        <p:spPr>
          <a:xfrm>
            <a:off x="7886700" y="3708462"/>
            <a:ext cx="0" cy="1955676"/>
          </a:xfrm>
          <a:prstGeom prst="straightConnector1">
            <a:avLst/>
          </a:prstGeom>
          <a:noFill/>
          <a:ln cap="flat" cmpd="sng" w="38100">
            <a:solidFill>
              <a:srgbClr val="4A7DBA"/>
            </a:solidFill>
            <a:prstDash val="solid"/>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 (5)</a:t>
            </a:r>
            <a:endParaRPr/>
          </a:p>
        </p:txBody>
      </p:sp>
      <p:sp>
        <p:nvSpPr>
          <p:cNvPr id="295" name="Google Shape;295;p2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 bộ nhớ gián tiếp chỉ mục</a:t>
            </a:r>
            <a:endParaRPr/>
          </a:p>
          <a:p>
            <a:pPr indent="-285750" lvl="1" marL="742950" rtl="0" algn="l">
              <a:spcBef>
                <a:spcPts val="560"/>
              </a:spcBef>
              <a:spcAft>
                <a:spcPts val="0"/>
              </a:spcAft>
              <a:buClr>
                <a:schemeClr val="dk1"/>
              </a:buClr>
              <a:buSzPts val="2800"/>
              <a:buChar char="•"/>
            </a:pPr>
            <a:r>
              <a:rPr lang="en-US"/>
              <a:t>Địa chỉ offset của ô nhớ cần truy xuất được cung cấp thông qua một thanh ghi chỉ mục (SI, DI), có thể có độ dời 8 hoặc 16 bit</a:t>
            </a:r>
            <a:endParaRPr/>
          </a:p>
          <a:p>
            <a:pPr indent="-285750" lvl="1" marL="742950" rtl="0" algn="l">
              <a:spcBef>
                <a:spcPts val="560"/>
              </a:spcBef>
              <a:spcAft>
                <a:spcPts val="0"/>
              </a:spcAft>
              <a:buClr>
                <a:schemeClr val="dk1"/>
              </a:buClr>
              <a:buSzPts val="2800"/>
              <a:buChar char="•"/>
            </a:pPr>
            <a:r>
              <a:rPr lang="en-US"/>
              <a:t>Ví dụ:	MOV	AX, DS:[SI]</a:t>
            </a:r>
            <a:endParaRPr/>
          </a:p>
        </p:txBody>
      </p:sp>
      <p:graphicFrame>
        <p:nvGraphicFramePr>
          <p:cNvPr id="296" name="Google Shape;296;p24"/>
          <p:cNvGraphicFramePr/>
          <p:nvPr/>
        </p:nvGraphicFramePr>
        <p:xfrm>
          <a:off x="6400800" y="3810000"/>
          <a:ext cx="3000000" cy="3000000"/>
        </p:xfrm>
        <a:graphic>
          <a:graphicData uri="http://schemas.openxmlformats.org/drawingml/2006/table">
            <a:tbl>
              <a:tblPr bandRow="1">
                <a:noFill/>
                <a:tableStyleId>{1CD154A0-517F-4B4A-82E1-0E76DB0E4BF0}</a:tableStyleId>
              </a:tblPr>
              <a:tblGrid>
                <a:gridCol w="582925"/>
                <a:gridCol w="685800"/>
              </a:tblGrid>
              <a:tr h="370850">
                <a:tc>
                  <a:txBody>
                    <a:bodyPr/>
                    <a:lstStyle/>
                    <a:p>
                      <a:pPr indent="0" lvl="0" marL="0" marR="0" rtl="0" algn="r">
                        <a:spcBef>
                          <a:spcPts val="0"/>
                        </a:spcBef>
                        <a:spcAft>
                          <a:spcPts val="0"/>
                        </a:spcAft>
                        <a:buNone/>
                      </a:pPr>
                      <a:r>
                        <a:rPr lang="en-US" sz="1800" u="none" cap="none" strike="noStrike"/>
                        <a:t>98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34</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99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78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48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92</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150</a:t>
                      </a:r>
                      <a:endParaRPr/>
                    </a:p>
                  </a:txBody>
                  <a:tcPr marT="45725" marB="45725" marR="91450" marL="91450" anchor="ctr">
                    <a:solidFill>
                      <a:srgbClr val="00B0F0"/>
                    </a:solidFill>
                  </a:tcPr>
                </a:tc>
              </a:tr>
            </a:tbl>
          </a:graphicData>
        </a:graphic>
      </p:graphicFrame>
      <p:sp>
        <p:nvSpPr>
          <p:cNvPr id="297" name="Google Shape;297;p24"/>
          <p:cNvSpPr/>
          <p:nvPr/>
        </p:nvSpPr>
        <p:spPr>
          <a:xfrm>
            <a:off x="29676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65</a:t>
            </a:r>
            <a:endParaRPr/>
          </a:p>
        </p:txBody>
      </p:sp>
      <p:sp>
        <p:nvSpPr>
          <p:cNvPr id="298" name="Google Shape;298;p24"/>
          <p:cNvSpPr/>
          <p:nvPr/>
        </p:nvSpPr>
        <p:spPr>
          <a:xfrm>
            <a:off x="1596084" y="566413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98</a:t>
            </a:r>
            <a:endParaRPr/>
          </a:p>
        </p:txBody>
      </p:sp>
      <p:sp>
        <p:nvSpPr>
          <p:cNvPr id="299" name="Google Shape;299;p24"/>
          <p:cNvSpPr txBox="1"/>
          <p:nvPr/>
        </p:nvSpPr>
        <p:spPr>
          <a:xfrm>
            <a:off x="1172443" y="5726668"/>
            <a:ext cx="4507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AX</a:t>
            </a:r>
            <a:endParaRPr/>
          </a:p>
        </p:txBody>
      </p:sp>
      <p:sp>
        <p:nvSpPr>
          <p:cNvPr id="300" name="Google Shape;300;p24"/>
          <p:cNvSpPr txBox="1"/>
          <p:nvPr/>
        </p:nvSpPr>
        <p:spPr>
          <a:xfrm>
            <a:off x="2065318" y="5327072"/>
            <a:ext cx="470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AH</a:t>
            </a:r>
            <a:endParaRPr/>
          </a:p>
        </p:txBody>
      </p:sp>
      <p:sp>
        <p:nvSpPr>
          <p:cNvPr id="301" name="Google Shape;301;p24"/>
          <p:cNvSpPr txBox="1"/>
          <p:nvPr/>
        </p:nvSpPr>
        <p:spPr>
          <a:xfrm>
            <a:off x="3436918" y="5329441"/>
            <a:ext cx="4219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AL</a:t>
            </a:r>
            <a:endParaRPr/>
          </a:p>
        </p:txBody>
      </p:sp>
      <p:cxnSp>
        <p:nvCxnSpPr>
          <p:cNvPr id="302" name="Google Shape;302;p24"/>
          <p:cNvCxnSpPr>
            <a:stCxn id="298" idx="2"/>
          </p:cNvCxnSpPr>
          <p:nvPr/>
        </p:nvCxnSpPr>
        <p:spPr>
          <a:xfrm rot="-5400000">
            <a:off x="3847284" y="3542400"/>
            <a:ext cx="988200" cy="4119000"/>
          </a:xfrm>
          <a:prstGeom prst="bentConnector4">
            <a:avLst>
              <a:gd fmla="val -23133" name="adj1"/>
              <a:gd fmla="val 93641" name="adj2"/>
            </a:avLst>
          </a:prstGeom>
          <a:noFill/>
          <a:ln cap="flat" cmpd="sng" w="38100">
            <a:solidFill>
              <a:schemeClr val="dk1"/>
            </a:solidFill>
            <a:prstDash val="solid"/>
            <a:round/>
            <a:headEnd len="med" w="med" type="triangle"/>
            <a:tailEnd len="sm" w="sm" type="none"/>
          </a:ln>
        </p:spPr>
      </p:cxnSp>
      <p:cxnSp>
        <p:nvCxnSpPr>
          <p:cNvPr id="303" name="Google Shape;303;p24"/>
          <p:cNvCxnSpPr/>
          <p:nvPr/>
        </p:nvCxnSpPr>
        <p:spPr>
          <a:xfrm flipH="1">
            <a:off x="4447310" y="4724402"/>
            <a:ext cx="1981200" cy="1155669"/>
          </a:xfrm>
          <a:prstGeom prst="straightConnector1">
            <a:avLst/>
          </a:prstGeom>
          <a:noFill/>
          <a:ln cap="flat" cmpd="sng" w="38100">
            <a:solidFill>
              <a:schemeClr val="dk1"/>
            </a:solidFill>
            <a:prstDash val="solid"/>
            <a:round/>
            <a:headEnd len="sm" w="sm" type="none"/>
            <a:tailEnd len="med" w="med" type="triangle"/>
          </a:ln>
        </p:spPr>
      </p:cxnSp>
      <p:sp>
        <p:nvSpPr>
          <p:cNvPr id="304" name="Google Shape;304;p24"/>
          <p:cNvSpPr/>
          <p:nvPr/>
        </p:nvSpPr>
        <p:spPr>
          <a:xfrm>
            <a:off x="7543800" y="3276600"/>
            <a:ext cx="6858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DS</a:t>
            </a:r>
            <a:endParaRPr/>
          </a:p>
        </p:txBody>
      </p:sp>
      <p:cxnSp>
        <p:nvCxnSpPr>
          <p:cNvPr id="305" name="Google Shape;305;p24"/>
          <p:cNvCxnSpPr/>
          <p:nvPr/>
        </p:nvCxnSpPr>
        <p:spPr>
          <a:xfrm>
            <a:off x="7886700" y="3708462"/>
            <a:ext cx="0" cy="1955676"/>
          </a:xfrm>
          <a:prstGeom prst="straightConnector1">
            <a:avLst/>
          </a:prstGeom>
          <a:noFill/>
          <a:ln cap="flat" cmpd="sng" w="38100">
            <a:solidFill>
              <a:srgbClr val="4A7DBA"/>
            </a:solidFill>
            <a:prstDash val="solid"/>
            <a:round/>
            <a:headEnd len="sm" w="sm" type="none"/>
            <a:tailEnd len="med" w="med" type="triangle"/>
          </a:ln>
        </p:spPr>
      </p:cxnSp>
      <p:sp>
        <p:nvSpPr>
          <p:cNvPr id="306" name="Google Shape;306;p24"/>
          <p:cNvSpPr/>
          <p:nvPr/>
        </p:nvSpPr>
        <p:spPr>
          <a:xfrm>
            <a:off x="1596085" y="4419600"/>
            <a:ext cx="27432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100</a:t>
            </a:r>
            <a:endParaRPr/>
          </a:p>
        </p:txBody>
      </p:sp>
      <p:sp>
        <p:nvSpPr>
          <p:cNvPr id="307" name="Google Shape;307;p24"/>
          <p:cNvSpPr txBox="1"/>
          <p:nvPr/>
        </p:nvSpPr>
        <p:spPr>
          <a:xfrm>
            <a:off x="1143000" y="4475202"/>
            <a:ext cx="354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kiểu định vị (6)</a:t>
            </a:r>
            <a:endParaRPr/>
          </a:p>
        </p:txBody>
      </p:sp>
      <p:sp>
        <p:nvSpPr>
          <p:cNvPr id="313" name="Google Shape;313;p2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Định vị bộ nhớ gián tiếp cơ sở chỉ mục</a:t>
            </a:r>
            <a:endParaRPr/>
          </a:p>
          <a:p>
            <a:pPr indent="-285750" lvl="1" marL="742950" rtl="0" algn="l">
              <a:spcBef>
                <a:spcPts val="560"/>
              </a:spcBef>
              <a:spcAft>
                <a:spcPts val="0"/>
              </a:spcAft>
              <a:buClr>
                <a:schemeClr val="dk1"/>
              </a:buClr>
              <a:buSzPts val="2800"/>
              <a:buChar char="•"/>
            </a:pPr>
            <a:r>
              <a:rPr lang="en-US"/>
              <a:t>Địa chỉ offset của ô nhớ cần truy xuất được cung cấp thông qua tổng của một thanh ghi cơ sở với một thanh ghi chỉ mục, có thể có độ dời 8 hoặc 16 bit</a:t>
            </a:r>
            <a:endParaRPr/>
          </a:p>
          <a:p>
            <a:pPr indent="-285750" lvl="1" marL="742950" rtl="0" algn="l">
              <a:spcBef>
                <a:spcPts val="560"/>
              </a:spcBef>
              <a:spcAft>
                <a:spcPts val="0"/>
              </a:spcAft>
              <a:buClr>
                <a:schemeClr val="dk1"/>
              </a:buClr>
              <a:buSzPts val="2800"/>
              <a:buChar char="•"/>
            </a:pPr>
            <a:r>
              <a:rPr lang="en-US"/>
              <a:t>Ví dụ:	MOV	AX, DS:[BX + SI + 2]</a:t>
            </a:r>
            <a:endParaRPr/>
          </a:p>
        </p:txBody>
      </p:sp>
      <p:graphicFrame>
        <p:nvGraphicFramePr>
          <p:cNvPr id="314" name="Google Shape;314;p25"/>
          <p:cNvGraphicFramePr/>
          <p:nvPr/>
        </p:nvGraphicFramePr>
        <p:xfrm>
          <a:off x="6400800" y="4185920"/>
          <a:ext cx="3000000" cy="3000000"/>
        </p:xfrm>
        <a:graphic>
          <a:graphicData uri="http://schemas.openxmlformats.org/drawingml/2006/table">
            <a:tbl>
              <a:tblPr bandRow="1">
                <a:noFill/>
                <a:tableStyleId>{1CD154A0-517F-4B4A-82E1-0E76DB0E4BF0}</a:tableStyleId>
              </a:tblPr>
              <a:tblGrid>
                <a:gridCol w="582925"/>
                <a:gridCol w="685800"/>
              </a:tblGrid>
              <a:tr h="370850">
                <a:tc>
                  <a:txBody>
                    <a:bodyPr/>
                    <a:lstStyle/>
                    <a:p>
                      <a:pPr indent="0" lvl="0" marL="0" marR="0" rtl="0" algn="r">
                        <a:spcBef>
                          <a:spcPts val="0"/>
                        </a:spcBef>
                        <a:spcAft>
                          <a:spcPts val="0"/>
                        </a:spcAft>
                        <a:buNone/>
                      </a:pPr>
                      <a:r>
                        <a:rPr lang="en-US" sz="1800" u="none" cap="none" strike="noStrike"/>
                        <a:t>98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34</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99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78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48</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92</a:t>
                      </a:r>
                      <a:endParaRPr/>
                    </a:p>
                  </a:txBody>
                  <a:tcPr marT="45725" marB="45725" marR="91450" marL="91450" anchor="ctr">
                    <a:solidFill>
                      <a:srgbClr val="00B0F0"/>
                    </a:solidFill>
                  </a:tcPr>
                </a:tc>
              </a:tr>
              <a:tr h="370850">
                <a:tc>
                  <a:txBody>
                    <a:bodyPr/>
                    <a:lstStyle/>
                    <a:p>
                      <a:pPr indent="0" lvl="0" marL="0" marR="0" rtl="0" algn="r">
                        <a:spcBef>
                          <a:spcPts val="0"/>
                        </a:spcBef>
                        <a:spcAft>
                          <a:spcPts val="0"/>
                        </a:spcAft>
                        <a:buNone/>
                      </a:pPr>
                      <a:r>
                        <a:rPr lang="en-US" sz="1800" u="none" cap="none" strike="noStrike"/>
                        <a:t>104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150</a:t>
                      </a:r>
                      <a:endParaRPr/>
                    </a:p>
                  </a:txBody>
                  <a:tcPr marT="45725" marB="45725" marR="91450" marL="91450" anchor="ctr">
                    <a:solidFill>
                      <a:srgbClr val="00B0F0"/>
                    </a:solidFill>
                  </a:tcPr>
                </a:tc>
              </a:tr>
            </a:tbl>
          </a:graphicData>
        </a:graphic>
      </p:graphicFrame>
      <p:sp>
        <p:nvSpPr>
          <p:cNvPr id="315" name="Google Shape;315;p25"/>
          <p:cNvSpPr/>
          <p:nvPr/>
        </p:nvSpPr>
        <p:spPr>
          <a:xfrm>
            <a:off x="2967684" y="604005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48</a:t>
            </a:r>
            <a:endParaRPr/>
          </a:p>
        </p:txBody>
      </p:sp>
      <p:sp>
        <p:nvSpPr>
          <p:cNvPr id="316" name="Google Shape;316;p25"/>
          <p:cNvSpPr/>
          <p:nvPr/>
        </p:nvSpPr>
        <p:spPr>
          <a:xfrm>
            <a:off x="1596084" y="6040058"/>
            <a:ext cx="13716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92</a:t>
            </a:r>
            <a:endParaRPr/>
          </a:p>
        </p:txBody>
      </p:sp>
      <p:sp>
        <p:nvSpPr>
          <p:cNvPr id="317" name="Google Shape;317;p25"/>
          <p:cNvSpPr txBox="1"/>
          <p:nvPr/>
        </p:nvSpPr>
        <p:spPr>
          <a:xfrm>
            <a:off x="1172443" y="6102588"/>
            <a:ext cx="4507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AX</a:t>
            </a:r>
            <a:endParaRPr/>
          </a:p>
        </p:txBody>
      </p:sp>
      <p:sp>
        <p:nvSpPr>
          <p:cNvPr id="318" name="Google Shape;318;p25"/>
          <p:cNvSpPr txBox="1"/>
          <p:nvPr/>
        </p:nvSpPr>
        <p:spPr>
          <a:xfrm>
            <a:off x="2065318" y="5702992"/>
            <a:ext cx="470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AH</a:t>
            </a:r>
            <a:endParaRPr/>
          </a:p>
        </p:txBody>
      </p:sp>
      <p:sp>
        <p:nvSpPr>
          <p:cNvPr id="319" name="Google Shape;319;p25"/>
          <p:cNvSpPr txBox="1"/>
          <p:nvPr/>
        </p:nvSpPr>
        <p:spPr>
          <a:xfrm>
            <a:off x="3436918" y="5705361"/>
            <a:ext cx="4219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AL</a:t>
            </a:r>
            <a:endParaRPr/>
          </a:p>
        </p:txBody>
      </p:sp>
      <p:cxnSp>
        <p:nvCxnSpPr>
          <p:cNvPr id="320" name="Google Shape;320;p25"/>
          <p:cNvCxnSpPr>
            <a:stCxn id="316" idx="2"/>
          </p:cNvCxnSpPr>
          <p:nvPr/>
        </p:nvCxnSpPr>
        <p:spPr>
          <a:xfrm rot="-5400000">
            <a:off x="4247184" y="4290620"/>
            <a:ext cx="216000" cy="4146600"/>
          </a:xfrm>
          <a:prstGeom prst="bentConnector4">
            <a:avLst>
              <a:gd fmla="val -105833" name="adj1"/>
              <a:gd fmla="val 84999" name="adj2"/>
            </a:avLst>
          </a:prstGeom>
          <a:noFill/>
          <a:ln cap="flat" cmpd="sng" w="38100">
            <a:solidFill>
              <a:schemeClr val="dk1"/>
            </a:solidFill>
            <a:prstDash val="solid"/>
            <a:round/>
            <a:headEnd len="med" w="med" type="triangle"/>
            <a:tailEnd len="sm" w="sm" type="none"/>
          </a:ln>
        </p:spPr>
      </p:cxnSp>
      <p:cxnSp>
        <p:nvCxnSpPr>
          <p:cNvPr id="321" name="Google Shape;321;p25"/>
          <p:cNvCxnSpPr/>
          <p:nvPr/>
        </p:nvCxnSpPr>
        <p:spPr>
          <a:xfrm flipH="1">
            <a:off x="4447310" y="5867402"/>
            <a:ext cx="1981200" cy="388589"/>
          </a:xfrm>
          <a:prstGeom prst="straightConnector1">
            <a:avLst/>
          </a:prstGeom>
          <a:noFill/>
          <a:ln cap="flat" cmpd="sng" w="38100">
            <a:solidFill>
              <a:schemeClr val="dk1"/>
            </a:solidFill>
            <a:prstDash val="solid"/>
            <a:round/>
            <a:headEnd len="sm" w="sm" type="none"/>
            <a:tailEnd len="med" w="med" type="triangle"/>
          </a:ln>
        </p:spPr>
      </p:cxnSp>
      <p:sp>
        <p:nvSpPr>
          <p:cNvPr id="322" name="Google Shape;322;p25"/>
          <p:cNvSpPr/>
          <p:nvPr/>
        </p:nvSpPr>
        <p:spPr>
          <a:xfrm>
            <a:off x="7543800" y="3652520"/>
            <a:ext cx="6858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DS</a:t>
            </a:r>
            <a:endParaRPr/>
          </a:p>
        </p:txBody>
      </p:sp>
      <p:cxnSp>
        <p:nvCxnSpPr>
          <p:cNvPr id="323" name="Google Shape;323;p25"/>
          <p:cNvCxnSpPr/>
          <p:nvPr/>
        </p:nvCxnSpPr>
        <p:spPr>
          <a:xfrm>
            <a:off x="7886700" y="4084382"/>
            <a:ext cx="0" cy="1955676"/>
          </a:xfrm>
          <a:prstGeom prst="straightConnector1">
            <a:avLst/>
          </a:prstGeom>
          <a:noFill/>
          <a:ln cap="flat" cmpd="sng" w="38100">
            <a:solidFill>
              <a:srgbClr val="4A7DBA"/>
            </a:solidFill>
            <a:prstDash val="solid"/>
            <a:round/>
            <a:headEnd len="sm" w="sm" type="none"/>
            <a:tailEnd len="med" w="med" type="triangle"/>
          </a:ln>
        </p:spPr>
      </p:cxnSp>
      <p:sp>
        <p:nvSpPr>
          <p:cNvPr id="324" name="Google Shape;324;p25"/>
          <p:cNvSpPr/>
          <p:nvPr/>
        </p:nvSpPr>
        <p:spPr>
          <a:xfrm>
            <a:off x="1596085" y="5054538"/>
            <a:ext cx="27432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60</a:t>
            </a:r>
            <a:endParaRPr/>
          </a:p>
        </p:txBody>
      </p:sp>
      <p:sp>
        <p:nvSpPr>
          <p:cNvPr id="325" name="Google Shape;325;p25"/>
          <p:cNvSpPr txBox="1"/>
          <p:nvPr/>
        </p:nvSpPr>
        <p:spPr>
          <a:xfrm>
            <a:off x="1143000" y="5110140"/>
            <a:ext cx="354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SI</a:t>
            </a:r>
            <a:endParaRPr/>
          </a:p>
        </p:txBody>
      </p:sp>
      <p:sp>
        <p:nvSpPr>
          <p:cNvPr id="326" name="Google Shape;326;p25"/>
          <p:cNvSpPr/>
          <p:nvPr/>
        </p:nvSpPr>
        <p:spPr>
          <a:xfrm>
            <a:off x="1596084" y="4368738"/>
            <a:ext cx="2743200" cy="43186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40</a:t>
            </a:r>
            <a:endParaRPr/>
          </a:p>
        </p:txBody>
      </p:sp>
      <p:sp>
        <p:nvSpPr>
          <p:cNvPr id="327" name="Google Shape;327;p25"/>
          <p:cNvSpPr txBox="1"/>
          <p:nvPr/>
        </p:nvSpPr>
        <p:spPr>
          <a:xfrm>
            <a:off x="1142999" y="4424340"/>
            <a:ext cx="4355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BX</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Chú ý</a:t>
            </a:r>
            <a:endParaRPr/>
          </a:p>
        </p:txBody>
      </p:sp>
      <p:sp>
        <p:nvSpPr>
          <p:cNvPr id="333" name="Google Shape;333;p2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FF0000"/>
              </a:buClr>
              <a:buSzPts val="1280"/>
              <a:buChar char="❑"/>
            </a:pPr>
            <a:r>
              <a:rPr lang="en-US">
                <a:solidFill>
                  <a:srgbClr val="FF0000"/>
                </a:solidFill>
              </a:rPr>
              <a:t>Trong một câu lệnh chỉ có tối đa một toán hạng bộ nhớ</a:t>
            </a:r>
            <a:endParaRPr/>
          </a:p>
          <a:p>
            <a:pPr indent="-285750" lvl="1" marL="742950" rtl="0" algn="l">
              <a:spcBef>
                <a:spcPts val="560"/>
              </a:spcBef>
              <a:spcAft>
                <a:spcPts val="0"/>
              </a:spcAft>
              <a:buClr>
                <a:schemeClr val="dk1"/>
              </a:buClr>
              <a:buSzPts val="2800"/>
              <a:buChar char="•"/>
            </a:pPr>
            <a:r>
              <a:rPr lang="en-US"/>
              <a:t>Ví dụ:	MOV DS:[100], ES:[BX] 	🡪 sai</a:t>
            </a:r>
            <a:endParaRPr/>
          </a:p>
          <a:p>
            <a:pPr indent="0" lvl="1" marL="457200" rtl="0" algn="l">
              <a:spcBef>
                <a:spcPts val="560"/>
              </a:spcBef>
              <a:spcAft>
                <a:spcPts val="0"/>
              </a:spcAft>
              <a:buClr>
                <a:schemeClr val="dk1"/>
              </a:buClr>
              <a:buSzPts val="2800"/>
              <a:buNone/>
            </a:pPr>
            <a:r>
              <a:rPr lang="en-US"/>
              <a:t>		MOV var1, var2		🡪 sai</a:t>
            </a:r>
            <a:endParaRPr/>
          </a:p>
          <a:p>
            <a:pPr indent="-342900" lvl="0" marL="342900" rtl="0" algn="l">
              <a:spcBef>
                <a:spcPts val="640"/>
              </a:spcBef>
              <a:spcAft>
                <a:spcPts val="0"/>
              </a:spcAft>
              <a:buClr>
                <a:schemeClr val="dk1"/>
              </a:buClr>
              <a:buSzPts val="1280"/>
              <a:buChar char="❑"/>
            </a:pPr>
            <a:r>
              <a:rPr lang="en-US"/>
              <a:t>Nếu không chỉ rõ thanh ghi đoạn khi định vị bộ nhớ thì thanh ghi đoạn được sử dụng là SS nếu có thanh ghi BP tham gia định vị, ngược lại là thanh ghi DS</a:t>
            </a:r>
            <a:endParaRPr/>
          </a:p>
          <a:p>
            <a:pPr indent="-285750" lvl="1" marL="742950" rtl="0" algn="l">
              <a:spcBef>
                <a:spcPts val="560"/>
              </a:spcBef>
              <a:spcAft>
                <a:spcPts val="0"/>
              </a:spcAft>
              <a:buClr>
                <a:schemeClr val="dk1"/>
              </a:buClr>
              <a:buSzPts val="2800"/>
              <a:buChar char="•"/>
            </a:pPr>
            <a:r>
              <a:rPr lang="en-US"/>
              <a:t>Ví dụ:	MOV AX, [100]		🡪 DS</a:t>
            </a:r>
            <a:endParaRPr/>
          </a:p>
          <a:p>
            <a:pPr indent="0" lvl="1" marL="457200" rtl="0" algn="l">
              <a:spcBef>
                <a:spcPts val="560"/>
              </a:spcBef>
              <a:spcAft>
                <a:spcPts val="0"/>
              </a:spcAft>
              <a:buClr>
                <a:schemeClr val="dk1"/>
              </a:buClr>
              <a:buSzPts val="2800"/>
              <a:buNone/>
            </a:pPr>
            <a:r>
              <a:rPr lang="en-US"/>
              <a:t>		MOV CX, [BP + SI]		🡪 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Ngắt quãng (Interrupt)</a:t>
            </a:r>
            <a:endParaRPr/>
          </a:p>
        </p:txBody>
      </p:sp>
      <p:sp>
        <p:nvSpPr>
          <p:cNvPr id="339" name="Google Shape;339;p2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Là tín hiệu gởi đến BXL để tạm ngưng chương trình đang hoạt động để thực hiện một nhiệm vụ khác, sau khi thực hiện xong, chương trình bị tạm ngưng sẽ được tiếp tục thực hiện.</a:t>
            </a:r>
            <a:endParaRPr/>
          </a:p>
          <a:p>
            <a:pPr indent="0" lvl="0" marL="0" rtl="0" algn="l">
              <a:spcBef>
                <a:spcPts val="640"/>
              </a:spcBef>
              <a:spcAft>
                <a:spcPts val="0"/>
              </a:spcAft>
              <a:buClr>
                <a:schemeClr val="dk1"/>
              </a:buClr>
              <a:buSzPts val="1280"/>
              <a:buNone/>
            </a:pPr>
            <a:r>
              <a:t/>
            </a:r>
            <a:endParaRPr/>
          </a:p>
        </p:txBody>
      </p:sp>
      <p:cxnSp>
        <p:nvCxnSpPr>
          <p:cNvPr id="340" name="Google Shape;340;p27"/>
          <p:cNvCxnSpPr/>
          <p:nvPr/>
        </p:nvCxnSpPr>
        <p:spPr>
          <a:xfrm>
            <a:off x="1371600" y="5287964"/>
            <a:ext cx="2133600" cy="0"/>
          </a:xfrm>
          <a:prstGeom prst="straightConnector1">
            <a:avLst/>
          </a:prstGeom>
          <a:noFill/>
          <a:ln cap="flat" cmpd="sng" w="38100">
            <a:solidFill>
              <a:srgbClr val="FF00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341" name="Google Shape;341;p27"/>
          <p:cNvCxnSpPr/>
          <p:nvPr/>
        </p:nvCxnSpPr>
        <p:spPr>
          <a:xfrm>
            <a:off x="2438404" y="4357689"/>
            <a:ext cx="1004400" cy="823800"/>
          </a:xfrm>
          <a:prstGeom prst="bentConnector3">
            <a:avLst>
              <a:gd fmla="val 102419" name="adj1"/>
            </a:avLst>
          </a:prstGeom>
          <a:noFill/>
          <a:ln cap="flat" cmpd="sng" w="38100">
            <a:solidFill>
              <a:srgbClr val="00B050"/>
            </a:solidFill>
            <a:prstDash val="dash"/>
            <a:round/>
            <a:headEnd len="sm" w="sm" type="none"/>
            <a:tailEnd len="med" w="med" type="triangle"/>
          </a:ln>
          <a:effectLst>
            <a:outerShdw blurRad="40000" rotWithShape="0" dir="5400000" dist="23000">
              <a:srgbClr val="000000">
                <a:alpha val="34901"/>
              </a:srgbClr>
            </a:outerShdw>
          </a:effectLst>
        </p:spPr>
      </p:cxnSp>
      <p:cxnSp>
        <p:nvCxnSpPr>
          <p:cNvPr id="342" name="Google Shape;342;p27"/>
          <p:cNvCxnSpPr/>
          <p:nvPr/>
        </p:nvCxnSpPr>
        <p:spPr>
          <a:xfrm>
            <a:off x="5943600" y="5294891"/>
            <a:ext cx="2133600" cy="0"/>
          </a:xfrm>
          <a:prstGeom prst="straightConnector1">
            <a:avLst/>
          </a:prstGeom>
          <a:noFill/>
          <a:ln cap="flat" cmpd="sng" w="38100">
            <a:solidFill>
              <a:srgbClr val="FF0000"/>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343" name="Google Shape;343;p27"/>
          <p:cNvCxnSpPr/>
          <p:nvPr/>
        </p:nvCxnSpPr>
        <p:spPr>
          <a:xfrm>
            <a:off x="3505200" y="6202364"/>
            <a:ext cx="2438400" cy="0"/>
          </a:xfrm>
          <a:prstGeom prst="straightConnector1">
            <a:avLst/>
          </a:prstGeom>
          <a:noFill/>
          <a:ln cap="flat" cmpd="sng" w="38100">
            <a:solidFill>
              <a:schemeClr val="accent1"/>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344" name="Google Shape;344;p27"/>
          <p:cNvCxnSpPr/>
          <p:nvPr/>
        </p:nvCxnSpPr>
        <p:spPr>
          <a:xfrm>
            <a:off x="3505200" y="5364164"/>
            <a:ext cx="0" cy="838200"/>
          </a:xfrm>
          <a:prstGeom prst="straightConnector1">
            <a:avLst/>
          </a:prstGeom>
          <a:noFill/>
          <a:ln cap="flat" cmpd="sng" w="12700">
            <a:solidFill>
              <a:schemeClr val="dk1"/>
            </a:solidFill>
            <a:prstDash val="dash"/>
            <a:round/>
            <a:headEnd len="sm" w="sm" type="none"/>
            <a:tailEnd len="med" w="med" type="triangle"/>
          </a:ln>
        </p:spPr>
      </p:cxnSp>
      <p:cxnSp>
        <p:nvCxnSpPr>
          <p:cNvPr id="345" name="Google Shape;345;p27"/>
          <p:cNvCxnSpPr/>
          <p:nvPr/>
        </p:nvCxnSpPr>
        <p:spPr>
          <a:xfrm>
            <a:off x="5943600" y="5364164"/>
            <a:ext cx="0" cy="838200"/>
          </a:xfrm>
          <a:prstGeom prst="straightConnector1">
            <a:avLst/>
          </a:prstGeom>
          <a:noFill/>
          <a:ln cap="flat" cmpd="sng" w="12700">
            <a:solidFill>
              <a:schemeClr val="dk1"/>
            </a:solidFill>
            <a:prstDash val="dash"/>
            <a:round/>
            <a:headEnd len="med" w="med" type="triangle"/>
            <a:tailEnd len="sm" w="sm" type="none"/>
          </a:ln>
        </p:spPr>
      </p:cxnSp>
      <p:sp>
        <p:nvSpPr>
          <p:cNvPr id="346" name="Google Shape;346;p27"/>
          <p:cNvSpPr txBox="1"/>
          <p:nvPr/>
        </p:nvSpPr>
        <p:spPr>
          <a:xfrm>
            <a:off x="228600" y="5421868"/>
            <a:ext cx="29145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Chương trình đang thực hiện</a:t>
            </a:r>
            <a:endParaRPr/>
          </a:p>
        </p:txBody>
      </p:sp>
      <p:sp>
        <p:nvSpPr>
          <p:cNvPr id="347" name="Google Shape;347;p27"/>
          <p:cNvSpPr txBox="1"/>
          <p:nvPr/>
        </p:nvSpPr>
        <p:spPr>
          <a:xfrm>
            <a:off x="3505200" y="6336268"/>
            <a:ext cx="24041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Chương trình xử lý ngắt</a:t>
            </a:r>
            <a:endParaRPr/>
          </a:p>
        </p:txBody>
      </p:sp>
      <p:sp>
        <p:nvSpPr>
          <p:cNvPr id="348" name="Google Shape;348;p27"/>
          <p:cNvSpPr txBox="1"/>
          <p:nvPr/>
        </p:nvSpPr>
        <p:spPr>
          <a:xfrm>
            <a:off x="2127156" y="3972482"/>
            <a:ext cx="14542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Tín hiệu ngắt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Ngắt quãng (2)</a:t>
            </a:r>
            <a:endParaRPr/>
          </a:p>
        </p:txBody>
      </p:sp>
      <p:sp>
        <p:nvSpPr>
          <p:cNvPr id="354" name="Google Shape;354;p2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Ngắt cứng (Hard Interrupt)</a:t>
            </a:r>
            <a:endParaRPr/>
          </a:p>
          <a:p>
            <a:pPr indent="-285750" lvl="1" marL="742950" rtl="0" algn="l">
              <a:spcBef>
                <a:spcPts val="560"/>
              </a:spcBef>
              <a:spcAft>
                <a:spcPts val="0"/>
              </a:spcAft>
              <a:buClr>
                <a:schemeClr val="dk1"/>
              </a:buClr>
              <a:buSzPts val="2800"/>
              <a:buChar char="•"/>
            </a:pPr>
            <a:r>
              <a:rPr lang="en-US"/>
              <a:t>Do thiết bị phần cứng phát sinh để đáp ứng sự kiện nào đó (nhấn phím, di chuyển chuột, …)</a:t>
            </a:r>
            <a:endParaRPr/>
          </a:p>
          <a:p>
            <a:pPr indent="-285750" lvl="1" marL="742950" rtl="0" algn="l">
              <a:spcBef>
                <a:spcPts val="560"/>
              </a:spcBef>
              <a:spcAft>
                <a:spcPts val="0"/>
              </a:spcAft>
              <a:buClr>
                <a:schemeClr val="dk1"/>
              </a:buClr>
              <a:buSzPts val="2800"/>
              <a:buChar char="•"/>
            </a:pPr>
            <a:r>
              <a:rPr lang="en-US"/>
              <a:t>Dùng điều khiển các thiết bị nhập xuất</a:t>
            </a:r>
            <a:endParaRPr/>
          </a:p>
          <a:p>
            <a:pPr indent="-285750" lvl="1" marL="742950" rtl="0" algn="l">
              <a:spcBef>
                <a:spcPts val="560"/>
              </a:spcBef>
              <a:spcAft>
                <a:spcPts val="0"/>
              </a:spcAft>
              <a:buClr>
                <a:schemeClr val="dk1"/>
              </a:buClr>
              <a:buSzPts val="2800"/>
              <a:buChar char="•"/>
            </a:pPr>
            <a:r>
              <a:rPr lang="en-US"/>
              <a:t>Các kênh ngắt cứng của CPU ký hiệu IRQ0, IRQ1, …</a:t>
            </a:r>
            <a:endParaRPr/>
          </a:p>
          <a:p>
            <a:pPr indent="-342900" lvl="0" marL="342900" rtl="0" algn="l">
              <a:spcBef>
                <a:spcPts val="640"/>
              </a:spcBef>
              <a:spcAft>
                <a:spcPts val="0"/>
              </a:spcAft>
              <a:buClr>
                <a:schemeClr val="dk1"/>
              </a:buClr>
              <a:buSzPts val="1280"/>
              <a:buChar char="❑"/>
            </a:pPr>
            <a:r>
              <a:rPr lang="en-US"/>
              <a:t>Ngắt không chắn được (NMI – Non Maskable Interrupt)</a:t>
            </a:r>
            <a:endParaRPr/>
          </a:p>
          <a:p>
            <a:pPr indent="-285750" lvl="1" marL="742950" rtl="0" algn="l">
              <a:spcBef>
                <a:spcPts val="560"/>
              </a:spcBef>
              <a:spcAft>
                <a:spcPts val="0"/>
              </a:spcAft>
              <a:buClr>
                <a:schemeClr val="dk1"/>
              </a:buClr>
              <a:buSzPts val="2800"/>
              <a:buChar char="•"/>
            </a:pPr>
            <a:r>
              <a:rPr lang="en-US"/>
              <a:t>Không chắn được bằng phần mềm, độ ưu tiên cao nhất</a:t>
            </a:r>
            <a:endParaRPr/>
          </a:p>
          <a:p>
            <a:pPr indent="-285750" lvl="1" marL="742950" rtl="0" algn="l">
              <a:spcBef>
                <a:spcPts val="560"/>
              </a:spcBef>
              <a:spcAft>
                <a:spcPts val="0"/>
              </a:spcAft>
              <a:buClr>
                <a:schemeClr val="dk1"/>
              </a:buClr>
              <a:buSzPts val="2800"/>
              <a:buChar char="•"/>
            </a:pPr>
            <a:r>
              <a:rPr lang="en-US"/>
              <a:t>Báo hiệu sự cố (hư hỏng bộ nhớ, điện áp, …)</a:t>
            </a:r>
            <a:endParaRPr/>
          </a:p>
          <a:p>
            <a:pPr indent="-107950" lvl="1" marL="742950" rtl="0" algn="l">
              <a:spcBef>
                <a:spcPts val="560"/>
              </a:spcBef>
              <a:spcAft>
                <a:spcPts val="0"/>
              </a:spcAft>
              <a:buClr>
                <a:schemeClr val="dk1"/>
              </a:buClr>
              <a:buSzPts val="2800"/>
              <a:buNone/>
            </a:pPr>
            <a:r>
              <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Ngắt quãng (3)</a:t>
            </a:r>
            <a:endParaRPr/>
          </a:p>
        </p:txBody>
      </p:sp>
      <p:sp>
        <p:nvSpPr>
          <p:cNvPr id="360" name="Google Shape;360;p29"/>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Ngắt nội bộ (Internal Interrupt)</a:t>
            </a:r>
            <a:endParaRPr/>
          </a:p>
          <a:p>
            <a:pPr indent="-285750" lvl="1" marL="742950" rtl="0" algn="l">
              <a:spcBef>
                <a:spcPts val="560"/>
              </a:spcBef>
              <a:spcAft>
                <a:spcPts val="0"/>
              </a:spcAft>
              <a:buClr>
                <a:schemeClr val="dk1"/>
              </a:buClr>
              <a:buSzPts val="2800"/>
              <a:buChar char="•"/>
            </a:pPr>
            <a:r>
              <a:rPr lang="en-US"/>
              <a:t>Do CPU tự phát sinh</a:t>
            </a:r>
            <a:endParaRPr/>
          </a:p>
          <a:p>
            <a:pPr indent="-285750" lvl="1" marL="742950" rtl="0" algn="l">
              <a:spcBef>
                <a:spcPts val="560"/>
              </a:spcBef>
              <a:spcAft>
                <a:spcPts val="0"/>
              </a:spcAft>
              <a:buClr>
                <a:schemeClr val="dk1"/>
              </a:buClr>
              <a:buSzPts val="2800"/>
              <a:buChar char="•"/>
            </a:pPr>
            <a:r>
              <a:rPr lang="en-US"/>
              <a:t>Divide by zero: khi CPU thực hiện chia một số cho 0</a:t>
            </a:r>
            <a:endParaRPr/>
          </a:p>
          <a:p>
            <a:pPr indent="-285750" lvl="1" marL="742950" rtl="0" algn="l">
              <a:spcBef>
                <a:spcPts val="560"/>
              </a:spcBef>
              <a:spcAft>
                <a:spcPts val="0"/>
              </a:spcAft>
              <a:buClr>
                <a:schemeClr val="dk1"/>
              </a:buClr>
              <a:buSzPts val="2800"/>
              <a:buChar char="•"/>
            </a:pPr>
            <a:r>
              <a:rPr lang="en-US"/>
              <a:t>Overflow: khi tính toán bị tràn số</a:t>
            </a:r>
            <a:endParaRPr/>
          </a:p>
          <a:p>
            <a:pPr indent="-285750" lvl="1" marL="742950" rtl="0" algn="l">
              <a:spcBef>
                <a:spcPts val="560"/>
              </a:spcBef>
              <a:spcAft>
                <a:spcPts val="0"/>
              </a:spcAft>
              <a:buClr>
                <a:schemeClr val="dk1"/>
              </a:buClr>
              <a:buSzPts val="2800"/>
              <a:buChar char="•"/>
            </a:pPr>
            <a:r>
              <a:rPr lang="en-US"/>
              <a:t>Trap: phát sinh sau khi thực hiện một lệnh (TF = 1)</a:t>
            </a:r>
            <a:endParaRPr/>
          </a:p>
          <a:p>
            <a:pPr indent="-342900" lvl="0" marL="342900" rtl="0" algn="l">
              <a:spcBef>
                <a:spcPts val="640"/>
              </a:spcBef>
              <a:spcAft>
                <a:spcPts val="0"/>
              </a:spcAft>
              <a:buClr>
                <a:schemeClr val="dk1"/>
              </a:buClr>
              <a:buSzPts val="1280"/>
              <a:buChar char="❑"/>
            </a:pPr>
            <a:r>
              <a:rPr lang="en-US"/>
              <a:t>Ngắt mềm (Soft Interrupt)</a:t>
            </a:r>
            <a:endParaRPr/>
          </a:p>
          <a:p>
            <a:pPr indent="-285750" lvl="1" marL="742950" rtl="0" algn="l">
              <a:spcBef>
                <a:spcPts val="560"/>
              </a:spcBef>
              <a:spcAft>
                <a:spcPts val="0"/>
              </a:spcAft>
              <a:buClr>
                <a:schemeClr val="dk1"/>
              </a:buClr>
              <a:buSzPts val="2800"/>
              <a:buChar char="•"/>
            </a:pPr>
            <a:r>
              <a:rPr lang="en-US"/>
              <a:t>Do chương trình đang thực hiện tạo ra</a:t>
            </a:r>
            <a:endParaRPr/>
          </a:p>
          <a:p>
            <a:pPr indent="-285750" lvl="1" marL="742950" rtl="0" algn="l">
              <a:spcBef>
                <a:spcPts val="560"/>
              </a:spcBef>
              <a:spcAft>
                <a:spcPts val="0"/>
              </a:spcAft>
              <a:buClr>
                <a:schemeClr val="dk1"/>
              </a:buClr>
              <a:buSzPts val="2800"/>
              <a:buChar char="•"/>
            </a:pPr>
            <a:r>
              <a:rPr lang="en-US"/>
              <a:t>Dùng gọi một chương trình con trong ROM/RAM</a:t>
            </a:r>
            <a:endParaRPr/>
          </a:p>
          <a:p>
            <a:pPr indent="-285750" lvl="1" marL="742950" rtl="0" algn="l">
              <a:spcBef>
                <a:spcPts val="560"/>
              </a:spcBef>
              <a:spcAft>
                <a:spcPts val="0"/>
              </a:spcAft>
              <a:buClr>
                <a:schemeClr val="dk1"/>
              </a:buClr>
              <a:buSzPts val="2800"/>
              <a:buChar char="•"/>
            </a:pPr>
            <a:r>
              <a:rPr lang="en-US"/>
              <a:t>Tạo ra bằng lệnh	</a:t>
            </a:r>
            <a:r>
              <a:rPr b="1" lang="en-US"/>
              <a:t>INT   &lt;số hiệu ngắt&gt;</a:t>
            </a:r>
            <a:endParaRPr/>
          </a:p>
          <a:p>
            <a:pPr indent="-107950" lvl="1" marL="742950" rtl="0" algn="l">
              <a:spcBef>
                <a:spcPts val="560"/>
              </a:spcBef>
              <a:spcAft>
                <a:spcPts val="0"/>
              </a:spcAft>
              <a:buClr>
                <a:schemeClr val="dk1"/>
              </a:buClr>
              <a:buSzPts val="2800"/>
              <a:buNone/>
            </a:pPr>
            <a:r>
              <a:t/>
            </a:r>
            <a:endParaRPr/>
          </a:p>
          <a:p>
            <a:pPr indent="-107950" lvl="1" marL="742950" rtl="0" algn="l">
              <a:spcBef>
                <a:spcPts val="560"/>
              </a:spcBef>
              <a:spcAft>
                <a:spcPts val="0"/>
              </a:spcAft>
              <a:buClr>
                <a:schemeClr val="dk1"/>
              </a:buClr>
              <a:buSzPts val="2800"/>
              <a:buNone/>
            </a:pPr>
            <a:r>
              <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Ngắt quãng (4)</a:t>
            </a:r>
            <a:endParaRPr/>
          </a:p>
        </p:txBody>
      </p:sp>
      <p:sp>
        <p:nvSpPr>
          <p:cNvPr id="366" name="Google Shape;366;p3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Bảng véc-tơ ngắt (Interrupt Vector Table)</a:t>
            </a:r>
            <a:endParaRPr/>
          </a:p>
          <a:p>
            <a:pPr indent="-285750" lvl="1" marL="742950" rtl="0" algn="l">
              <a:spcBef>
                <a:spcPts val="560"/>
              </a:spcBef>
              <a:spcAft>
                <a:spcPts val="0"/>
              </a:spcAft>
              <a:buClr>
                <a:schemeClr val="dk1"/>
              </a:buClr>
              <a:buSzPts val="2800"/>
              <a:buChar char="•"/>
            </a:pPr>
            <a:r>
              <a:rPr lang="en-US"/>
              <a:t>Lưu trữ địa chỉ của các chương trình xử lý ngắt (Interrupt Handler)</a:t>
            </a:r>
            <a:endParaRPr/>
          </a:p>
          <a:p>
            <a:pPr indent="-285750" lvl="1" marL="742950" rtl="0" algn="l">
              <a:spcBef>
                <a:spcPts val="560"/>
              </a:spcBef>
              <a:spcAft>
                <a:spcPts val="0"/>
              </a:spcAft>
              <a:buClr>
                <a:schemeClr val="dk1"/>
              </a:buClr>
              <a:buSzPts val="2800"/>
              <a:buChar char="•"/>
            </a:pPr>
            <a:r>
              <a:rPr lang="en-US"/>
              <a:t>Gồm 256 phần tử, mỗi phần tử 4 byte, chứa địa chỉ segment và offset của chương trình xử lý ngắt tương ứng.</a:t>
            </a:r>
            <a:endParaRPr/>
          </a:p>
          <a:p>
            <a:pPr indent="-285750" lvl="1" marL="742950" rtl="0" algn="l">
              <a:spcBef>
                <a:spcPts val="560"/>
              </a:spcBef>
              <a:spcAft>
                <a:spcPts val="0"/>
              </a:spcAft>
              <a:buClr>
                <a:schemeClr val="dk1"/>
              </a:buClr>
              <a:buSzPts val="2800"/>
              <a:buChar char="•"/>
            </a:pPr>
            <a:r>
              <a:rPr lang="en-US"/>
              <a:t>Khi có tín hiệu ngắt, CPU lấy số hiệu ngắt tra trong IVT để tìm địa chỉ chương trình xử lý ngắt. Sau đó sẽ nạp vào CS:IP để chuyển đến thực hiện.</a:t>
            </a:r>
            <a:endParaRPr/>
          </a:p>
          <a:p>
            <a:pPr indent="-285750" lvl="1" marL="742950" rtl="0" algn="l">
              <a:spcBef>
                <a:spcPts val="560"/>
              </a:spcBef>
              <a:spcAft>
                <a:spcPts val="0"/>
              </a:spcAft>
              <a:buClr>
                <a:schemeClr val="dk1"/>
              </a:buClr>
              <a:buSzPts val="2800"/>
              <a:buChar char="•"/>
            </a:pPr>
            <a:r>
              <a:rPr lang="en-US"/>
              <a:t>Địa chỉ IVT trong bộ nhớ: </a:t>
            </a:r>
            <a:r>
              <a:rPr b="1" lang="en-US"/>
              <a:t>0000:0000 .. 0000:03FF</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Cách viết lệnh hợp ngữ</a:t>
            </a:r>
            <a:endParaRPr/>
          </a:p>
        </p:txBody>
      </p:sp>
      <p:sp>
        <p:nvSpPr>
          <p:cNvPr id="372" name="Google Shape;372;p3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1" marL="457200" rtl="0" algn="l">
              <a:spcBef>
                <a:spcPts val="560"/>
              </a:spcBef>
              <a:spcAft>
                <a:spcPts val="0"/>
              </a:spcAft>
              <a:buClr>
                <a:schemeClr val="dk1"/>
              </a:buClr>
              <a:buSzPts val="2800"/>
              <a:buNone/>
            </a:pPr>
            <a:r>
              <a:rPr b="1" lang="en-US"/>
              <a:t>	</a:t>
            </a:r>
            <a:r>
              <a:rPr b="1" lang="en-US">
                <a:solidFill>
                  <a:srgbClr val="FF0000"/>
                </a:solidFill>
              </a:rPr>
              <a:t>[Nhãn:]	&lt;Tên lệnh&gt;	[toán hạng]	[;Ghi chú]</a:t>
            </a:r>
            <a:endParaRPr/>
          </a:p>
          <a:p>
            <a:pPr indent="0" lvl="1" marL="457200" rtl="0" algn="l">
              <a:spcBef>
                <a:spcPts val="560"/>
              </a:spcBef>
              <a:spcAft>
                <a:spcPts val="0"/>
              </a:spcAft>
              <a:buClr>
                <a:schemeClr val="dk1"/>
              </a:buClr>
              <a:buSzPts val="2800"/>
              <a:buNone/>
            </a:pPr>
            <a:r>
              <a:rPr lang="en-US"/>
              <a:t>[Nhãn:] : đánh dấu vị trí của lệnh trong bộ nhớ</a:t>
            </a:r>
            <a:endParaRPr/>
          </a:p>
          <a:p>
            <a:pPr indent="0" lvl="1" marL="457200" rtl="0" algn="l">
              <a:spcBef>
                <a:spcPts val="560"/>
              </a:spcBef>
              <a:spcAft>
                <a:spcPts val="0"/>
              </a:spcAft>
              <a:buClr>
                <a:schemeClr val="dk1"/>
              </a:buClr>
              <a:buSzPts val="2800"/>
              <a:buNone/>
            </a:pPr>
            <a:r>
              <a:rPr lang="en-US"/>
              <a:t>&lt;Tên lệnh&gt; : từ gợi nhớ của lệnh</a:t>
            </a:r>
            <a:endParaRPr/>
          </a:p>
          <a:p>
            <a:pPr indent="0" lvl="1" marL="457200" rtl="0" algn="l">
              <a:spcBef>
                <a:spcPts val="560"/>
              </a:spcBef>
              <a:spcAft>
                <a:spcPts val="0"/>
              </a:spcAft>
              <a:buClr>
                <a:schemeClr val="dk1"/>
              </a:buClr>
              <a:buSzPts val="2800"/>
              <a:buNone/>
            </a:pPr>
            <a:r>
              <a:rPr lang="en-US"/>
              <a:t>[toán hạng] : các toán hạng mà lệnh yêu cầu</a:t>
            </a:r>
            <a:endParaRPr/>
          </a:p>
          <a:p>
            <a:pPr indent="0" lvl="1" marL="457200" rtl="0" algn="l">
              <a:spcBef>
                <a:spcPts val="560"/>
              </a:spcBef>
              <a:spcAft>
                <a:spcPts val="0"/>
              </a:spcAft>
              <a:buClr>
                <a:schemeClr val="dk1"/>
              </a:buClr>
              <a:buSzPts val="2800"/>
              <a:buNone/>
            </a:pPr>
            <a:r>
              <a:rPr lang="en-US"/>
              <a:t>[;Ghi chú] : giải thích cho lệnh</a:t>
            </a:r>
            <a:endParaRPr/>
          </a:p>
          <a:p>
            <a:pPr indent="0" lvl="1" marL="457200" rtl="0" algn="l">
              <a:spcBef>
                <a:spcPts val="560"/>
              </a:spcBef>
              <a:spcAft>
                <a:spcPts val="0"/>
              </a:spcAft>
              <a:buClr>
                <a:schemeClr val="dk1"/>
              </a:buClr>
              <a:buSzPts val="2800"/>
              <a:buNone/>
            </a:pPr>
            <a:r>
              <a:rPr i="1" lang="en-US"/>
              <a:t>Chú ý: Mỗi lệnh viết trên một dòng</a:t>
            </a:r>
            <a:endParaRPr/>
          </a:p>
          <a:p>
            <a:pPr indent="-342900" lvl="0" marL="342900" rtl="0" algn="l">
              <a:spcBef>
                <a:spcPts val="640"/>
              </a:spcBef>
              <a:spcAft>
                <a:spcPts val="0"/>
              </a:spcAft>
              <a:buClr>
                <a:schemeClr val="dk1"/>
              </a:buClr>
              <a:buSzPts val="1280"/>
              <a:buChar char="❑"/>
            </a:pPr>
            <a:r>
              <a:rPr lang="en-US"/>
              <a:t>Ví dụ:	L1:	MOV AX, BX	; AX = BX</a:t>
            </a:r>
            <a:endParaRPr/>
          </a:p>
          <a:p>
            <a:pPr indent="0" lvl="1" marL="457200" rtl="0" algn="l">
              <a:spcBef>
                <a:spcPts val="56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Cách đặt tên, nhãn</a:t>
            </a:r>
            <a:endParaRPr/>
          </a:p>
        </p:txBody>
      </p:sp>
      <p:sp>
        <p:nvSpPr>
          <p:cNvPr id="378" name="Google Shape;378;p3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Bao gồm</a:t>
            </a:r>
            <a:endParaRPr/>
          </a:p>
          <a:p>
            <a:pPr indent="-285750" lvl="1" marL="742950" rtl="0" algn="l">
              <a:spcBef>
                <a:spcPts val="560"/>
              </a:spcBef>
              <a:spcAft>
                <a:spcPts val="0"/>
              </a:spcAft>
              <a:buClr>
                <a:schemeClr val="dk1"/>
              </a:buClr>
              <a:buSzPts val="2800"/>
              <a:buChar char="•"/>
            </a:pPr>
            <a:r>
              <a:rPr lang="en-US"/>
              <a:t>Chữ cái: a..z, A..Z</a:t>
            </a:r>
            <a:endParaRPr/>
          </a:p>
          <a:p>
            <a:pPr indent="-285750" lvl="1" marL="742950" rtl="0" algn="l">
              <a:spcBef>
                <a:spcPts val="560"/>
              </a:spcBef>
              <a:spcAft>
                <a:spcPts val="0"/>
              </a:spcAft>
              <a:buClr>
                <a:schemeClr val="dk1"/>
              </a:buClr>
              <a:buSzPts val="2800"/>
              <a:buChar char="•"/>
            </a:pPr>
            <a:r>
              <a:rPr lang="en-US"/>
              <a:t>Chữ số: 0..9</a:t>
            </a:r>
            <a:endParaRPr/>
          </a:p>
          <a:p>
            <a:pPr indent="-285750" lvl="1" marL="742950" rtl="0" algn="l">
              <a:spcBef>
                <a:spcPts val="560"/>
              </a:spcBef>
              <a:spcAft>
                <a:spcPts val="0"/>
              </a:spcAft>
              <a:buClr>
                <a:schemeClr val="dk1"/>
              </a:buClr>
              <a:buSzPts val="2800"/>
              <a:buChar char="•"/>
            </a:pPr>
            <a:r>
              <a:rPr lang="en-US"/>
              <a:t>Ký tự đặc biệt:    .   ?  @  _   $</a:t>
            </a:r>
            <a:endParaRPr/>
          </a:p>
          <a:p>
            <a:pPr indent="-342900" lvl="0" marL="342900" rtl="0" algn="l">
              <a:spcBef>
                <a:spcPts val="640"/>
              </a:spcBef>
              <a:spcAft>
                <a:spcPts val="0"/>
              </a:spcAft>
              <a:buClr>
                <a:schemeClr val="dk1"/>
              </a:buClr>
              <a:buSzPts val="1280"/>
              <a:buChar char="❑"/>
            </a:pPr>
            <a:r>
              <a:rPr lang="en-US"/>
              <a:t>Phải bắt đầu bằng chữ cái hoặc ký tự đặc biệt.</a:t>
            </a:r>
            <a:endParaRPr/>
          </a:p>
          <a:p>
            <a:pPr indent="-342900" lvl="0" marL="342900" rtl="0" algn="l">
              <a:spcBef>
                <a:spcPts val="640"/>
              </a:spcBef>
              <a:spcAft>
                <a:spcPts val="0"/>
              </a:spcAft>
              <a:buClr>
                <a:schemeClr val="dk1"/>
              </a:buClr>
              <a:buSzPts val="1280"/>
              <a:buChar char="❑"/>
            </a:pPr>
            <a:r>
              <a:rPr lang="en-US"/>
              <a:t>Dấu chấm không được dùng trong tên</a:t>
            </a:r>
            <a:endParaRPr/>
          </a:p>
          <a:p>
            <a:pPr indent="-342900" lvl="0" marL="342900" rtl="0" algn="l">
              <a:spcBef>
                <a:spcPts val="640"/>
              </a:spcBef>
              <a:spcAft>
                <a:spcPts val="0"/>
              </a:spcAft>
              <a:buClr>
                <a:schemeClr val="dk1"/>
              </a:buClr>
              <a:buSzPts val="1280"/>
              <a:buChar char="❑"/>
            </a:pPr>
            <a:r>
              <a:rPr lang="en-US"/>
              <a:t>Hợp ngữ không phân biệt chữ hoa/thường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Khai báo dữ liệu</a:t>
            </a:r>
            <a:endParaRPr/>
          </a:p>
        </p:txBody>
      </p:sp>
      <p:sp>
        <p:nvSpPr>
          <p:cNvPr id="384" name="Google Shape;384;p3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1" marL="457200" rtl="0" algn="l">
              <a:spcBef>
                <a:spcPts val="560"/>
              </a:spcBef>
              <a:spcAft>
                <a:spcPts val="0"/>
              </a:spcAft>
              <a:buClr>
                <a:schemeClr val="dk1"/>
              </a:buClr>
              <a:buSzPts val="2800"/>
              <a:buNone/>
            </a:pPr>
            <a:r>
              <a:rPr b="1" lang="en-US"/>
              <a:t>		</a:t>
            </a:r>
            <a:r>
              <a:rPr b="1" lang="en-US">
                <a:solidFill>
                  <a:srgbClr val="FF0000"/>
                </a:solidFill>
              </a:rPr>
              <a:t>[tên]	DB | DW	&lt;danh sách trị&gt;</a:t>
            </a:r>
            <a:endParaRPr>
              <a:solidFill>
                <a:srgbClr val="FF0000"/>
              </a:solidFill>
            </a:endParaRPr>
          </a:p>
          <a:p>
            <a:pPr indent="0" lvl="1" marL="457200" rtl="0" algn="l">
              <a:spcBef>
                <a:spcPts val="560"/>
              </a:spcBef>
              <a:spcAft>
                <a:spcPts val="0"/>
              </a:spcAft>
              <a:buClr>
                <a:schemeClr val="dk1"/>
              </a:buClr>
              <a:buSzPts val="2800"/>
              <a:buNone/>
            </a:pPr>
            <a:r>
              <a:rPr lang="en-US"/>
              <a:t>[tên] : đánh dấu địa chỉ offset bắt đầu của dữ liệu trong bộ nhớ</a:t>
            </a:r>
            <a:endParaRPr/>
          </a:p>
          <a:p>
            <a:pPr indent="0" lvl="1" marL="457200" rtl="0" algn="l">
              <a:spcBef>
                <a:spcPts val="560"/>
              </a:spcBef>
              <a:spcAft>
                <a:spcPts val="0"/>
              </a:spcAft>
              <a:buClr>
                <a:schemeClr val="dk1"/>
              </a:buClr>
              <a:buSzPts val="2800"/>
              <a:buNone/>
            </a:pPr>
            <a:r>
              <a:rPr lang="en-US"/>
              <a:t>DB : khai báo dữ liệu dạng Byte (8 bit)</a:t>
            </a:r>
            <a:endParaRPr/>
          </a:p>
          <a:p>
            <a:pPr indent="0" lvl="1" marL="457200" rtl="0" algn="l">
              <a:spcBef>
                <a:spcPts val="560"/>
              </a:spcBef>
              <a:spcAft>
                <a:spcPts val="0"/>
              </a:spcAft>
              <a:buClr>
                <a:schemeClr val="dk1"/>
              </a:buClr>
              <a:buSzPts val="2800"/>
              <a:buNone/>
            </a:pPr>
            <a:r>
              <a:rPr lang="en-US"/>
              <a:t>DW : khai báo dữ liệu dạng Word (16 bit)</a:t>
            </a:r>
            <a:endParaRPr/>
          </a:p>
          <a:p>
            <a:pPr indent="0" lvl="1" marL="457200" rtl="0" algn="l">
              <a:spcBef>
                <a:spcPts val="560"/>
              </a:spcBef>
              <a:spcAft>
                <a:spcPts val="0"/>
              </a:spcAft>
              <a:buClr>
                <a:schemeClr val="dk1"/>
              </a:buClr>
              <a:buSzPts val="2800"/>
              <a:buNone/>
            </a:pPr>
            <a:r>
              <a:rPr lang="en-US"/>
              <a:t>&lt;danh sách trị&gt; : liệt kê các giá trị ban đầu của từng  phần tử trong vùng nhớ</a:t>
            </a:r>
            <a:endParaRPr/>
          </a:p>
          <a:p>
            <a:pPr indent="0" lvl="1" marL="457200" rtl="0" algn="l">
              <a:spcBef>
                <a:spcPts val="560"/>
              </a:spcBef>
              <a:spcAft>
                <a:spcPts val="0"/>
              </a:spcAft>
              <a:buClr>
                <a:schemeClr val="dk1"/>
              </a:buClr>
              <a:buSzPts val="2800"/>
              <a:buNone/>
            </a:pPr>
            <a:r>
              <a:rPr i="1" lang="en-US"/>
              <a:t>Ghi chú: Dữ liệu trong đoạn nếu khai báo liên tiếp nhau sẽ cấp phát liên tục trong bộ nhớ.</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Khai báo dữ liệu (2)</a:t>
            </a:r>
            <a:endParaRPr/>
          </a:p>
        </p:txBody>
      </p:sp>
      <p:sp>
        <p:nvSpPr>
          <p:cNvPr id="390" name="Google Shape;390;p3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B1	db 10</a:t>
            </a:r>
            <a:endParaRPr/>
          </a:p>
          <a:p>
            <a:pPr indent="0" lvl="1" marL="457200" rtl="0" algn="l">
              <a:spcBef>
                <a:spcPts val="560"/>
              </a:spcBef>
              <a:spcAft>
                <a:spcPts val="0"/>
              </a:spcAft>
              <a:buClr>
                <a:schemeClr val="dk1"/>
              </a:buClr>
              <a:buSzPts val="2800"/>
              <a:buNone/>
            </a:pPr>
            <a:r>
              <a:rPr lang="en-US"/>
              <a:t>W1 dw 4906</a:t>
            </a:r>
            <a:endParaRPr/>
          </a:p>
          <a:p>
            <a:pPr indent="0" lvl="1" marL="457200" rtl="0" algn="l">
              <a:spcBef>
                <a:spcPts val="560"/>
              </a:spcBef>
              <a:spcAft>
                <a:spcPts val="0"/>
              </a:spcAft>
              <a:buClr>
                <a:schemeClr val="dk1"/>
              </a:buClr>
              <a:buSzPts val="2800"/>
              <a:buNone/>
            </a:pPr>
            <a:r>
              <a:rPr lang="en-US"/>
              <a:t>B2	db 32, 60</a:t>
            </a:r>
            <a:endParaRPr/>
          </a:p>
          <a:p>
            <a:pPr indent="0" lvl="1" marL="457200" rtl="0" algn="l">
              <a:spcBef>
                <a:spcPts val="560"/>
              </a:spcBef>
              <a:spcAft>
                <a:spcPts val="0"/>
              </a:spcAft>
              <a:buClr>
                <a:schemeClr val="dk1"/>
              </a:buClr>
              <a:buSzPts val="2800"/>
              <a:buNone/>
            </a:pPr>
            <a:r>
              <a:rPr lang="en-US"/>
              <a:t>W2 dw 1A5Fh</a:t>
            </a:r>
            <a:endParaRPr/>
          </a:p>
          <a:p>
            <a:pPr indent="0" lvl="1" marL="457200" rtl="0" algn="l">
              <a:spcBef>
                <a:spcPts val="560"/>
              </a:spcBef>
              <a:spcAft>
                <a:spcPts val="0"/>
              </a:spcAft>
              <a:buClr>
                <a:schemeClr val="dk1"/>
              </a:buClr>
              <a:buSzPts val="2800"/>
              <a:buNone/>
            </a:pPr>
            <a:r>
              <a:rPr lang="en-US"/>
              <a:t>S1	db “a”</a:t>
            </a:r>
            <a:endParaRPr/>
          </a:p>
          <a:p>
            <a:pPr indent="0" lvl="1" marL="457200" rtl="0" algn="l">
              <a:spcBef>
                <a:spcPts val="560"/>
              </a:spcBef>
              <a:spcAft>
                <a:spcPts val="0"/>
              </a:spcAft>
              <a:buClr>
                <a:schemeClr val="dk1"/>
              </a:buClr>
              <a:buSzPts val="2800"/>
              <a:buNone/>
            </a:pPr>
            <a:r>
              <a:rPr lang="en-US"/>
              <a:t>S2	db “A”, 8, “BC”</a:t>
            </a:r>
            <a:endParaRPr/>
          </a:p>
          <a:p>
            <a:pPr indent="0" lvl="1" marL="457200" rtl="0" algn="l">
              <a:spcBef>
                <a:spcPts val="560"/>
              </a:spcBef>
              <a:spcAft>
                <a:spcPts val="0"/>
              </a:spcAft>
              <a:buClr>
                <a:schemeClr val="dk1"/>
              </a:buClr>
              <a:buSzPts val="2800"/>
              <a:buNone/>
            </a:pPr>
            <a:r>
              <a:rPr lang="en-US"/>
              <a:t>	db 100, 200</a:t>
            </a:r>
            <a:endParaRPr/>
          </a:p>
          <a:p>
            <a:pPr indent="0" lvl="1" marL="457200" rtl="0" algn="l">
              <a:spcBef>
                <a:spcPts val="560"/>
              </a:spcBef>
              <a:spcAft>
                <a:spcPts val="0"/>
              </a:spcAft>
              <a:buClr>
                <a:schemeClr val="dk1"/>
              </a:buClr>
              <a:buSzPts val="2800"/>
              <a:buNone/>
            </a:pPr>
            <a:r>
              <a:rPr lang="en-US"/>
              <a:t>W3 dw 10, 20, 256</a:t>
            </a:r>
            <a:endParaRPr/>
          </a:p>
        </p:txBody>
      </p:sp>
      <p:graphicFrame>
        <p:nvGraphicFramePr>
          <p:cNvPr id="391" name="Google Shape;391;p34"/>
          <p:cNvGraphicFramePr/>
          <p:nvPr/>
        </p:nvGraphicFramePr>
        <p:xfrm>
          <a:off x="4343400" y="1529715"/>
          <a:ext cx="3000000" cy="3000000"/>
        </p:xfrm>
        <a:graphic>
          <a:graphicData uri="http://schemas.openxmlformats.org/drawingml/2006/table">
            <a:tbl>
              <a:tblPr bandRow="1">
                <a:noFill/>
                <a:tableStyleId>{1CD154A0-517F-4B4A-82E1-0E76DB0E4BF0}</a:tableStyleId>
              </a:tblPr>
              <a:tblGrid>
                <a:gridCol w="724225"/>
                <a:gridCol w="679950"/>
                <a:gridCol w="653250"/>
              </a:tblGrid>
              <a:tr h="370850">
                <a:tc>
                  <a:txBody>
                    <a:bodyPr/>
                    <a:lstStyle/>
                    <a:p>
                      <a:pPr indent="0" lvl="0" marL="0" marR="0" rtl="0" algn="r">
                        <a:spcBef>
                          <a:spcPts val="0"/>
                        </a:spcBef>
                        <a:spcAft>
                          <a:spcPts val="0"/>
                        </a:spcAft>
                        <a:buNone/>
                      </a:pPr>
                      <a:r>
                        <a:rPr lang="en-US" sz="1800" u="none" cap="none" strike="noStrike"/>
                        <a:t>0400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B1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2Ah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13h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32</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B2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0405</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5Fh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0406</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1Ah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0407</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97</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S1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S2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8</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040A</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66</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040B</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67</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040C</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040D</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200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bl>
          </a:graphicData>
        </a:graphic>
      </p:graphicFrame>
      <p:graphicFrame>
        <p:nvGraphicFramePr>
          <p:cNvPr id="392" name="Google Shape;392;p34"/>
          <p:cNvGraphicFramePr/>
          <p:nvPr/>
        </p:nvGraphicFramePr>
        <p:xfrm>
          <a:off x="6781800" y="1529715"/>
          <a:ext cx="3000000" cy="3000000"/>
        </p:xfrm>
        <a:graphic>
          <a:graphicData uri="http://schemas.openxmlformats.org/drawingml/2006/table">
            <a:tbl>
              <a:tblPr bandRow="1">
                <a:noFill/>
                <a:tableStyleId>{1CD154A0-517F-4B4A-82E1-0E76DB0E4BF0}</a:tableStyleId>
              </a:tblPr>
              <a:tblGrid>
                <a:gridCol w="724225"/>
                <a:gridCol w="679950"/>
                <a:gridCol w="653250"/>
              </a:tblGrid>
              <a:tr h="370850">
                <a:tc>
                  <a:txBody>
                    <a:bodyPr/>
                    <a:lstStyle/>
                    <a:p>
                      <a:pPr indent="0" lvl="0" marL="0" marR="0" rtl="0" algn="r">
                        <a:spcBef>
                          <a:spcPts val="0"/>
                        </a:spcBef>
                        <a:spcAft>
                          <a:spcPts val="0"/>
                        </a:spcAft>
                        <a:buNone/>
                      </a:pPr>
                      <a:r>
                        <a:rPr lang="en-US" sz="1800" u="none" cap="none" strike="noStrike"/>
                        <a:t>040E</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W3</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040F</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0414</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0415</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0416</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0417</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0418</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0419</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041A</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041B</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Khai báo dữ liệu (3)</a:t>
            </a:r>
            <a:endParaRPr/>
          </a:p>
        </p:txBody>
      </p:sp>
      <p:sp>
        <p:nvSpPr>
          <p:cNvPr id="398" name="Google Shape;398;p3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Sử dụng ký tự </a:t>
            </a:r>
            <a:r>
              <a:rPr lang="en-US">
                <a:solidFill>
                  <a:srgbClr val="FF0000"/>
                </a:solidFill>
              </a:rPr>
              <a:t>? </a:t>
            </a:r>
            <a:r>
              <a:rPr lang="en-US"/>
              <a:t>để khai báo giá trị bất kỳ</a:t>
            </a:r>
            <a:endParaRPr>
              <a:solidFill>
                <a:srgbClr val="FF0000"/>
              </a:solidFill>
            </a:endParaRPr>
          </a:p>
          <a:p>
            <a:pPr indent="-342900" lvl="0" marL="342900" rtl="0" algn="l">
              <a:spcBef>
                <a:spcPts val="640"/>
              </a:spcBef>
              <a:spcAft>
                <a:spcPts val="0"/>
              </a:spcAft>
              <a:buClr>
                <a:schemeClr val="dk1"/>
              </a:buClr>
              <a:buSzPts val="1280"/>
              <a:buChar char="❑"/>
            </a:pPr>
            <a:r>
              <a:rPr lang="en-US"/>
              <a:t>Sử dụng toán tử DUP để khai báo nhiều phần tử có giá trị giống nhau</a:t>
            </a:r>
            <a:endParaRPr/>
          </a:p>
          <a:p>
            <a:pPr indent="0" lvl="0" marL="0" rtl="0" algn="l">
              <a:spcBef>
                <a:spcPts val="640"/>
              </a:spcBef>
              <a:spcAft>
                <a:spcPts val="0"/>
              </a:spcAft>
              <a:buClr>
                <a:schemeClr val="dk1"/>
              </a:buClr>
              <a:buSzPts val="1280"/>
              <a:buNone/>
            </a:pPr>
            <a:r>
              <a:rPr lang="en-US"/>
              <a:t>	</a:t>
            </a:r>
            <a:r>
              <a:rPr lang="en-US">
                <a:solidFill>
                  <a:srgbClr val="FF0000"/>
                </a:solidFill>
              </a:rPr>
              <a:t>count  DUP(exp)</a:t>
            </a:r>
            <a:endParaRPr/>
          </a:p>
          <a:p>
            <a:pPr indent="0" lvl="0" marL="0" rtl="0" algn="l">
              <a:spcBef>
                <a:spcPts val="640"/>
              </a:spcBef>
              <a:spcAft>
                <a:spcPts val="0"/>
              </a:spcAft>
              <a:buClr>
                <a:schemeClr val="dk1"/>
              </a:buClr>
              <a:buSzPts val="1280"/>
              <a:buNone/>
            </a:pPr>
            <a:r>
              <a:rPr lang="en-US"/>
              <a:t>🡪 Khai báo </a:t>
            </a:r>
            <a:r>
              <a:rPr lang="en-US">
                <a:solidFill>
                  <a:srgbClr val="FF0000"/>
                </a:solidFill>
              </a:rPr>
              <a:t>count</a:t>
            </a:r>
            <a:r>
              <a:rPr lang="en-US"/>
              <a:t> lần giá trị </a:t>
            </a:r>
            <a:r>
              <a:rPr lang="en-US">
                <a:solidFill>
                  <a:srgbClr val="FF0000"/>
                </a:solidFill>
              </a:rPr>
              <a:t>exp</a:t>
            </a:r>
            <a:endParaRPr>
              <a:solidFill>
                <a:srgbClr val="FF0000"/>
              </a:solidFill>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S1 db </a:t>
            </a:r>
            <a:r>
              <a:rPr lang="en-US">
                <a:solidFill>
                  <a:srgbClr val="0070C0"/>
                </a:solidFill>
              </a:rPr>
              <a:t>5 DUP(10)</a:t>
            </a:r>
            <a:r>
              <a:rPr lang="en-US"/>
              <a:t>  🡪 </a:t>
            </a:r>
            <a:r>
              <a:rPr lang="en-US">
                <a:solidFill>
                  <a:srgbClr val="0070C0"/>
                </a:solidFill>
              </a:rPr>
              <a:t>10, 10, 10, 10, 10</a:t>
            </a:r>
            <a:endParaRPr/>
          </a:p>
          <a:p>
            <a:pPr indent="0" lvl="1" marL="457200" rtl="0" algn="l">
              <a:spcBef>
                <a:spcPts val="560"/>
              </a:spcBef>
              <a:spcAft>
                <a:spcPts val="0"/>
              </a:spcAft>
              <a:buClr>
                <a:schemeClr val="dk1"/>
              </a:buClr>
              <a:buSzPts val="2800"/>
              <a:buNone/>
            </a:pPr>
            <a:r>
              <a:rPr lang="en-US"/>
              <a:t>S2 db </a:t>
            </a:r>
            <a:r>
              <a:rPr lang="en-US">
                <a:solidFill>
                  <a:srgbClr val="0070C0"/>
                </a:solidFill>
              </a:rPr>
              <a:t>3 DUP(2 DUP (‘a’))</a:t>
            </a:r>
            <a:r>
              <a:rPr lang="en-US"/>
              <a:t>  🡪 </a:t>
            </a:r>
            <a:r>
              <a:rPr lang="en-US">
                <a:solidFill>
                  <a:srgbClr val="0070C0"/>
                </a:solidFill>
              </a:rPr>
              <a:t>‘a’, ‘a’, ‘a’, ‘a’, ‘a’, ‘a’</a:t>
            </a:r>
            <a:endParaRPr/>
          </a:p>
          <a:p>
            <a:pPr indent="0" lvl="1" marL="457200" rtl="0" algn="l">
              <a:spcBef>
                <a:spcPts val="560"/>
              </a:spcBef>
              <a:spcAft>
                <a:spcPts val="0"/>
              </a:spcAft>
              <a:buClr>
                <a:schemeClr val="dk1"/>
              </a:buClr>
              <a:buSzPts val="2800"/>
              <a:buNone/>
            </a:pPr>
            <a:r>
              <a:rPr lang="en-US"/>
              <a:t>B1 db ?	🡪 B1 nhận giá trị bất kỳ có sẵn trong bộ nhớ</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Khai báo dữ liệu (4)</a:t>
            </a:r>
            <a:endParaRPr/>
          </a:p>
        </p:txBody>
      </p:sp>
      <p:sp>
        <p:nvSpPr>
          <p:cNvPr id="404" name="Google Shape;404;p3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Truy xuất giá trị trong bộ nhớ: tùy vào kiểu của vùng nhớ</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[0401h] = 2Ah	(8 bit)</a:t>
            </a:r>
            <a:endParaRPr/>
          </a:p>
          <a:p>
            <a:pPr indent="0" lvl="1" marL="457200" rtl="0" algn="l">
              <a:spcBef>
                <a:spcPts val="560"/>
              </a:spcBef>
              <a:spcAft>
                <a:spcPts val="0"/>
              </a:spcAft>
              <a:buClr>
                <a:schemeClr val="dk1"/>
              </a:buClr>
              <a:buSzPts val="2800"/>
              <a:buNone/>
            </a:pPr>
            <a:r>
              <a:rPr lang="en-US"/>
              <a:t>[B1] = 10		(8 bit)</a:t>
            </a:r>
            <a:endParaRPr/>
          </a:p>
          <a:p>
            <a:pPr indent="0" lvl="1" marL="457200" rtl="0" algn="l">
              <a:spcBef>
                <a:spcPts val="560"/>
              </a:spcBef>
              <a:spcAft>
                <a:spcPts val="0"/>
              </a:spcAft>
              <a:buClr>
                <a:schemeClr val="dk1"/>
              </a:buClr>
              <a:buSzPts val="2800"/>
              <a:buNone/>
            </a:pPr>
            <a:r>
              <a:rPr lang="en-US"/>
              <a:t>[W1] = 132Ah	(16 bit)</a:t>
            </a:r>
            <a:endParaRPr/>
          </a:p>
          <a:p>
            <a:pPr indent="0" lvl="1" marL="457200" rtl="0" algn="l">
              <a:spcBef>
                <a:spcPts val="560"/>
              </a:spcBef>
              <a:spcAft>
                <a:spcPts val="0"/>
              </a:spcAft>
              <a:buClr>
                <a:schemeClr val="dk1"/>
              </a:buClr>
              <a:buSzPts val="2800"/>
              <a:buNone/>
            </a:pPr>
            <a:r>
              <a:rPr lang="en-US"/>
              <a:t>[B1 + 2] = 13h	(8 bit)</a:t>
            </a:r>
            <a:endParaRPr/>
          </a:p>
          <a:p>
            <a:pPr indent="0" lvl="1" marL="457200" rtl="0" algn="l">
              <a:spcBef>
                <a:spcPts val="560"/>
              </a:spcBef>
              <a:spcAft>
                <a:spcPts val="0"/>
              </a:spcAft>
              <a:buClr>
                <a:schemeClr val="dk1"/>
              </a:buClr>
              <a:buSzPts val="2800"/>
              <a:buNone/>
            </a:pPr>
            <a:r>
              <a:rPr lang="en-US"/>
              <a:t>[W1 + 1] = 3C20h (16 bit)</a:t>
            </a:r>
            <a:endParaRPr/>
          </a:p>
          <a:p>
            <a:pPr indent="0" lvl="1" marL="457200" rtl="0" algn="l">
              <a:spcBef>
                <a:spcPts val="560"/>
              </a:spcBef>
              <a:spcAft>
                <a:spcPts val="0"/>
              </a:spcAft>
              <a:buClr>
                <a:schemeClr val="dk1"/>
              </a:buClr>
              <a:buSzPts val="2800"/>
              <a:buNone/>
            </a:pPr>
            <a:r>
              <a:rPr lang="en-US"/>
              <a:t>[S2 + 6] = 10	(8 bit)</a:t>
            </a:r>
            <a:endParaRPr/>
          </a:p>
          <a:p>
            <a:pPr indent="0" lvl="0" marL="0" rtl="0" algn="l">
              <a:spcBef>
                <a:spcPts val="640"/>
              </a:spcBef>
              <a:spcAft>
                <a:spcPts val="0"/>
              </a:spcAft>
              <a:buClr>
                <a:schemeClr val="dk1"/>
              </a:buClr>
              <a:buSzPts val="1280"/>
              <a:buNone/>
            </a:pPr>
            <a:r>
              <a:t/>
            </a:r>
            <a:endParaRPr/>
          </a:p>
        </p:txBody>
      </p:sp>
      <p:graphicFrame>
        <p:nvGraphicFramePr>
          <p:cNvPr id="405" name="Google Shape;405;p36"/>
          <p:cNvGraphicFramePr/>
          <p:nvPr/>
        </p:nvGraphicFramePr>
        <p:xfrm>
          <a:off x="4805680" y="2407920"/>
          <a:ext cx="3000000" cy="3000000"/>
        </p:xfrm>
        <a:graphic>
          <a:graphicData uri="http://schemas.openxmlformats.org/drawingml/2006/table">
            <a:tbl>
              <a:tblPr bandRow="1">
                <a:noFill/>
                <a:tableStyleId>{1CD154A0-517F-4B4A-82E1-0E76DB0E4BF0}</a:tableStyleId>
              </a:tblPr>
              <a:tblGrid>
                <a:gridCol w="724225"/>
                <a:gridCol w="679950"/>
                <a:gridCol w="653250"/>
              </a:tblGrid>
              <a:tr h="370850">
                <a:tc>
                  <a:txBody>
                    <a:bodyPr/>
                    <a:lstStyle/>
                    <a:p>
                      <a:pPr indent="0" lvl="0" marL="0" marR="0" rtl="0" algn="r">
                        <a:spcBef>
                          <a:spcPts val="0"/>
                        </a:spcBef>
                        <a:spcAft>
                          <a:spcPts val="0"/>
                        </a:spcAft>
                        <a:buNone/>
                      </a:pPr>
                      <a:r>
                        <a:rPr lang="en-US" sz="1800" u="none" cap="none" strike="noStrike"/>
                        <a:t>0400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B1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2Ah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13h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32</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B2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0404</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0405</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5Fh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0406</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1Ah</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0407</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97</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S1</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0408</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65</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S2</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0409</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8</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040A</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66</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040B</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67</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bl>
          </a:graphicData>
        </a:graphic>
      </p:graphicFrame>
      <p:graphicFrame>
        <p:nvGraphicFramePr>
          <p:cNvPr id="406" name="Google Shape;406;p36"/>
          <p:cNvGraphicFramePr/>
          <p:nvPr/>
        </p:nvGraphicFramePr>
        <p:xfrm>
          <a:off x="7010400" y="2407920"/>
          <a:ext cx="3000000" cy="3000000"/>
        </p:xfrm>
        <a:graphic>
          <a:graphicData uri="http://schemas.openxmlformats.org/drawingml/2006/table">
            <a:tbl>
              <a:tblPr bandRow="1">
                <a:noFill/>
                <a:tableStyleId>{1CD154A0-517F-4B4A-82E1-0E76DB0E4BF0}</a:tableStyleId>
              </a:tblPr>
              <a:tblGrid>
                <a:gridCol w="724225"/>
                <a:gridCol w="679950"/>
                <a:gridCol w="653250"/>
              </a:tblGrid>
              <a:tr h="370850">
                <a:tc>
                  <a:txBody>
                    <a:bodyPr/>
                    <a:lstStyle/>
                    <a:p>
                      <a:pPr indent="0" lvl="0" marL="0" marR="0" rtl="0" algn="r">
                        <a:spcBef>
                          <a:spcPts val="0"/>
                        </a:spcBef>
                        <a:spcAft>
                          <a:spcPts val="0"/>
                        </a:spcAft>
                        <a:buNone/>
                      </a:pPr>
                      <a:r>
                        <a:rPr lang="en-US" sz="1800" u="none" cap="none" strike="noStrike"/>
                        <a:t>040C</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040D</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200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040E</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rPr b="1" lang="en-US" sz="1800" u="none" cap="none" strike="noStrike"/>
                        <a:t>W3</a:t>
                      </a:r>
                      <a:endParaRPr/>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040F</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0410</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20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0411</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0412</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0</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0413</a:t>
                      </a:r>
                      <a:endParaRPr/>
                    </a:p>
                  </a:txBody>
                  <a:tcPr marT="45725" marB="45725" marR="91450" marL="91450" anchor="ctr"/>
                </a:tc>
                <a:tc>
                  <a:txBody>
                    <a:bodyPr/>
                    <a:lstStyle/>
                    <a:p>
                      <a:pPr indent="0" lvl="0" marL="0" marR="0" rtl="0" algn="ctr">
                        <a:spcBef>
                          <a:spcPts val="0"/>
                        </a:spcBef>
                        <a:spcAft>
                          <a:spcPts val="0"/>
                        </a:spcAft>
                        <a:buNone/>
                      </a:pPr>
                      <a:r>
                        <a:rPr b="1" lang="en-US" sz="1800" u="none" cap="none" strike="noStrike"/>
                        <a:t>1</a:t>
                      </a:r>
                      <a:endParaRPr/>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0416</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0417</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0418</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r h="370850">
                <a:tc>
                  <a:txBody>
                    <a:bodyPr/>
                    <a:lstStyle/>
                    <a:p>
                      <a:pPr indent="0" lvl="0" marL="0" marR="0" rtl="0" algn="r">
                        <a:spcBef>
                          <a:spcPts val="0"/>
                        </a:spcBef>
                        <a:spcAft>
                          <a:spcPts val="0"/>
                        </a:spcAft>
                        <a:buNone/>
                      </a:pPr>
                      <a:r>
                        <a:rPr lang="en-US" sz="1800" u="none" cap="none" strike="noStrike"/>
                        <a:t>0419</a:t>
                      </a:r>
                      <a:endParaRPr/>
                    </a:p>
                  </a:txBody>
                  <a:tcPr marT="45725" marB="45725" marR="91450" marL="91450" anchor="ct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solidFill>
                      <a:srgbClr val="00B0F0"/>
                    </a:solidFill>
                  </a:tcPr>
                </a:tc>
                <a:tc>
                  <a:txBody>
                    <a:bodyPr/>
                    <a:lstStyle/>
                    <a:p>
                      <a:pPr indent="0" lvl="0" marL="0" marR="0" rtl="0" algn="ctr">
                        <a:spcBef>
                          <a:spcPts val="0"/>
                        </a:spcBef>
                        <a:spcAft>
                          <a:spcPts val="0"/>
                        </a:spcAft>
                        <a:buNone/>
                      </a:pPr>
                      <a:r>
                        <a:t/>
                      </a:r>
                      <a:endParaRPr b="1" sz="1800" u="none" cap="none" strike="noStrike"/>
                    </a:p>
                  </a:txBody>
                  <a:tcPr marT="45725" marB="45725" marR="91450" marL="91450" anchor="ct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Cấu trúc chương trình</a:t>
            </a:r>
            <a:endParaRPr/>
          </a:p>
        </p:txBody>
      </p:sp>
      <p:sp>
        <p:nvSpPr>
          <p:cNvPr id="412" name="Google Shape;412;p3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b="1" lang="en-US"/>
              <a:t>Tập tin dạng COM</a:t>
            </a:r>
            <a:endParaRPr/>
          </a:p>
          <a:p>
            <a:pPr indent="-285750" lvl="1" marL="742950" rtl="0" algn="l">
              <a:spcBef>
                <a:spcPts val="560"/>
              </a:spcBef>
              <a:spcAft>
                <a:spcPts val="0"/>
              </a:spcAft>
              <a:buClr>
                <a:schemeClr val="dk1"/>
              </a:buClr>
              <a:buSzPts val="2800"/>
              <a:buChar char="•"/>
            </a:pPr>
            <a:r>
              <a:rPr lang="en-US"/>
              <a:t>Chỉ có duy nhất 1 đoạn (segment)</a:t>
            </a:r>
            <a:endParaRPr/>
          </a:p>
          <a:p>
            <a:pPr indent="-285750" lvl="1" marL="742950" rtl="0" algn="l">
              <a:spcBef>
                <a:spcPts val="560"/>
              </a:spcBef>
              <a:spcAft>
                <a:spcPts val="0"/>
              </a:spcAft>
              <a:buClr>
                <a:schemeClr val="dk1"/>
              </a:buClr>
              <a:buSzPts val="2800"/>
              <a:buChar char="•"/>
            </a:pPr>
            <a:r>
              <a:rPr lang="en-US"/>
              <a:t>Kích thước tối đa: 64KB - 256 - 2</a:t>
            </a:r>
            <a:endParaRPr/>
          </a:p>
          <a:p>
            <a:pPr indent="-285750" lvl="1" marL="742950" rtl="0" algn="l">
              <a:spcBef>
                <a:spcPts val="560"/>
              </a:spcBef>
              <a:spcAft>
                <a:spcPts val="0"/>
              </a:spcAft>
              <a:buClr>
                <a:schemeClr val="dk1"/>
              </a:buClr>
              <a:buSzPts val="2800"/>
              <a:buChar char="•"/>
            </a:pPr>
            <a:r>
              <a:rPr lang="en-US"/>
              <a:t>Sử dụng chương trình con dạng gần (cùng đoạn)</a:t>
            </a:r>
            <a:endParaRPr/>
          </a:p>
          <a:p>
            <a:pPr indent="-285750" lvl="1" marL="742950" rtl="0" algn="l">
              <a:spcBef>
                <a:spcPts val="560"/>
              </a:spcBef>
              <a:spcAft>
                <a:spcPts val="0"/>
              </a:spcAft>
              <a:buClr>
                <a:schemeClr val="dk1"/>
              </a:buClr>
              <a:buSzPts val="2800"/>
              <a:buChar char="•"/>
            </a:pPr>
            <a:r>
              <a:rPr lang="en-US"/>
              <a:t>Áp dụng cho các chương trình nhỏ</a:t>
            </a:r>
            <a:endParaRPr/>
          </a:p>
          <a:p>
            <a:pPr indent="-285750" lvl="1" marL="742950" rtl="0" algn="l">
              <a:spcBef>
                <a:spcPts val="560"/>
              </a:spcBef>
              <a:spcAft>
                <a:spcPts val="0"/>
              </a:spcAft>
              <a:buClr>
                <a:schemeClr val="dk1"/>
              </a:buClr>
              <a:buSzPts val="2800"/>
              <a:buChar char="•"/>
            </a:pPr>
            <a:r>
              <a:rPr lang="en-US"/>
              <a:t>Khi nạp:</a:t>
            </a:r>
            <a:endParaRPr/>
          </a:p>
          <a:p>
            <a:pPr indent="-228600" lvl="2" marL="1143000" rtl="0" algn="l">
              <a:spcBef>
                <a:spcPts val="480"/>
              </a:spcBef>
              <a:spcAft>
                <a:spcPts val="0"/>
              </a:spcAft>
              <a:buClr>
                <a:schemeClr val="dk1"/>
              </a:buClr>
              <a:buSzPts val="2400"/>
              <a:buChar char="•"/>
            </a:pPr>
            <a:r>
              <a:rPr lang="en-US"/>
              <a:t>Định vị vùng nhớ trống</a:t>
            </a:r>
            <a:endParaRPr/>
          </a:p>
          <a:p>
            <a:pPr indent="-228600" lvl="2" marL="1143000" rtl="0" algn="l">
              <a:spcBef>
                <a:spcPts val="480"/>
              </a:spcBef>
              <a:spcAft>
                <a:spcPts val="0"/>
              </a:spcAft>
              <a:buClr>
                <a:schemeClr val="dk1"/>
              </a:buClr>
              <a:buSzPts val="2400"/>
              <a:buChar char="•"/>
            </a:pPr>
            <a:r>
              <a:rPr lang="en-US"/>
              <a:t>Tạo PSP (Program Segment Prefix) kích thước 256 byte ở đầu vùng nhớ</a:t>
            </a:r>
            <a:endParaRPr/>
          </a:p>
          <a:p>
            <a:pPr indent="-228600" lvl="2" marL="1143000" rtl="0" algn="l">
              <a:spcBef>
                <a:spcPts val="480"/>
              </a:spcBef>
              <a:spcAft>
                <a:spcPts val="0"/>
              </a:spcAft>
              <a:buClr>
                <a:schemeClr val="dk1"/>
              </a:buClr>
              <a:buSzPts val="2400"/>
              <a:buChar char="•"/>
            </a:pPr>
            <a:r>
              <a:rPr lang="en-US"/>
              <a:t>Nạp chương trình từ vị trí 100h</a:t>
            </a:r>
            <a:endParaRPr/>
          </a:p>
          <a:p>
            <a:pPr indent="-228600" lvl="2" marL="1143000" rtl="0" algn="l">
              <a:spcBef>
                <a:spcPts val="480"/>
              </a:spcBef>
              <a:spcAft>
                <a:spcPts val="0"/>
              </a:spcAft>
              <a:buClr>
                <a:schemeClr val="dk1"/>
              </a:buClr>
              <a:buSzPts val="2400"/>
              <a:buChar char="•"/>
            </a:pPr>
            <a:r>
              <a:rPr lang="en-US"/>
              <a:t>PUSH 0 vào Stack</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Cấu trúc chương trình (2)</a:t>
            </a:r>
            <a:endParaRPr/>
          </a:p>
        </p:txBody>
      </p:sp>
      <p:sp>
        <p:nvSpPr>
          <p:cNvPr id="418" name="Google Shape;418;p3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b="1" lang="en-US"/>
              <a:t>Tập tin dạng EXE</a:t>
            </a:r>
            <a:endParaRPr/>
          </a:p>
          <a:p>
            <a:pPr indent="-285750" lvl="1" marL="742950" rtl="0" algn="l">
              <a:spcBef>
                <a:spcPts val="560"/>
              </a:spcBef>
              <a:spcAft>
                <a:spcPts val="0"/>
              </a:spcAft>
              <a:buClr>
                <a:schemeClr val="dk1"/>
              </a:buClr>
              <a:buSzPts val="2800"/>
              <a:buChar char="•"/>
            </a:pPr>
            <a:r>
              <a:rPr lang="en-US"/>
              <a:t>Có nhiều đoạn</a:t>
            </a:r>
            <a:endParaRPr/>
          </a:p>
          <a:p>
            <a:pPr indent="-285750" lvl="1" marL="742950" rtl="0" algn="l">
              <a:spcBef>
                <a:spcPts val="560"/>
              </a:spcBef>
              <a:spcAft>
                <a:spcPts val="0"/>
              </a:spcAft>
              <a:buClr>
                <a:schemeClr val="dk1"/>
              </a:buClr>
              <a:buSzPts val="2800"/>
              <a:buChar char="•"/>
            </a:pPr>
            <a:r>
              <a:rPr lang="en-US"/>
              <a:t>Kích thước tùy ý</a:t>
            </a:r>
            <a:endParaRPr/>
          </a:p>
          <a:p>
            <a:pPr indent="-285750" lvl="1" marL="742950" rtl="0" algn="l">
              <a:spcBef>
                <a:spcPts val="560"/>
              </a:spcBef>
              <a:spcAft>
                <a:spcPts val="0"/>
              </a:spcAft>
              <a:buClr>
                <a:schemeClr val="dk1"/>
              </a:buClr>
              <a:buSzPts val="2800"/>
              <a:buChar char="•"/>
            </a:pPr>
            <a:r>
              <a:rPr lang="en-US"/>
              <a:t>Sử dụng chương trình con dạng gần và xa</a:t>
            </a:r>
            <a:endParaRPr/>
          </a:p>
          <a:p>
            <a:pPr indent="-285750" lvl="1" marL="742950" rtl="0" algn="l">
              <a:spcBef>
                <a:spcPts val="560"/>
              </a:spcBef>
              <a:spcAft>
                <a:spcPts val="0"/>
              </a:spcAft>
              <a:buClr>
                <a:schemeClr val="dk1"/>
              </a:buClr>
              <a:buSzPts val="2800"/>
              <a:buChar char="•"/>
            </a:pPr>
            <a:r>
              <a:rPr lang="en-US"/>
              <a:t>Áp dụng cho các chương trình lớn (&gt;64KB)</a:t>
            </a:r>
            <a:endParaRPr/>
          </a:p>
          <a:p>
            <a:pPr indent="-285750" lvl="1" marL="742950" rtl="0" algn="l">
              <a:spcBef>
                <a:spcPts val="560"/>
              </a:spcBef>
              <a:spcAft>
                <a:spcPts val="0"/>
              </a:spcAft>
              <a:buClr>
                <a:schemeClr val="dk1"/>
              </a:buClr>
              <a:buSzPts val="2800"/>
              <a:buChar char="•"/>
            </a:pPr>
            <a:r>
              <a:rPr lang="en-US"/>
              <a:t>Có header ở đầu tập tin để điều khiển nạp chương trình</a:t>
            </a:r>
            <a:endParaRPr/>
          </a:p>
          <a:p>
            <a:pPr indent="-285750" lvl="1" marL="742950" rtl="0" algn="l">
              <a:spcBef>
                <a:spcPts val="560"/>
              </a:spcBef>
              <a:spcAft>
                <a:spcPts val="0"/>
              </a:spcAft>
              <a:buClr>
                <a:schemeClr val="dk1"/>
              </a:buClr>
              <a:buSzPts val="2800"/>
              <a:buChar char="•"/>
            </a:pPr>
            <a:r>
              <a:rPr lang="en-US"/>
              <a:t>Kích thước header là bội số của 512</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Cấu trúc chương trình (3)</a:t>
            </a:r>
            <a:endParaRPr/>
          </a:p>
        </p:txBody>
      </p:sp>
      <p:graphicFrame>
        <p:nvGraphicFramePr>
          <p:cNvPr id="424" name="Google Shape;424;p39"/>
          <p:cNvGraphicFramePr/>
          <p:nvPr/>
        </p:nvGraphicFramePr>
        <p:xfrm>
          <a:off x="457200" y="1579880"/>
          <a:ext cx="3000000" cy="3000000"/>
        </p:xfrm>
        <a:graphic>
          <a:graphicData uri="http://schemas.openxmlformats.org/drawingml/2006/table">
            <a:tbl>
              <a:tblPr bandRow="1" firstRow="1">
                <a:noFill/>
                <a:tableStyleId>{1CD154A0-517F-4B4A-82E1-0E76DB0E4BF0}</a:tableStyleId>
              </a:tblPr>
              <a:tblGrid>
                <a:gridCol w="4114800"/>
                <a:gridCol w="4114800"/>
              </a:tblGrid>
              <a:tr h="370850">
                <a:tc>
                  <a:txBody>
                    <a:bodyPr/>
                    <a:lstStyle/>
                    <a:p>
                      <a:pPr indent="0" lvl="0" marL="0" marR="0" rtl="0" algn="ctr">
                        <a:spcBef>
                          <a:spcPts val="0"/>
                        </a:spcBef>
                        <a:spcAft>
                          <a:spcPts val="0"/>
                        </a:spcAft>
                        <a:buNone/>
                      </a:pPr>
                      <a:r>
                        <a:rPr lang="en-US" sz="1800" u="none" cap="none" strike="noStrike"/>
                        <a:t>COM</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t>EXE</a:t>
                      </a:r>
                      <a:endParaRPr/>
                    </a:p>
                  </a:txBody>
                  <a:tcPr marT="45725" marB="45725" marR="91450" marL="91450" anchor="ctr"/>
                </a:tc>
              </a:tr>
              <a:tr h="370850">
                <a:tc>
                  <a:txBody>
                    <a:bodyPr/>
                    <a:lstStyle/>
                    <a:p>
                      <a:pPr indent="0" lvl="0" marL="0" marR="0" rtl="0" algn="l">
                        <a:spcBef>
                          <a:spcPts val="0"/>
                        </a:spcBef>
                        <a:spcAft>
                          <a:spcPts val="0"/>
                        </a:spcAft>
                        <a:buNone/>
                      </a:pPr>
                      <a:r>
                        <a:rPr b="1" lang="en-US" sz="1800" u="none" cap="none" strike="noStrike">
                          <a:solidFill>
                            <a:srgbClr val="FF0000"/>
                          </a:solidFill>
                        </a:rPr>
                        <a:t>.MODEL TINY</a:t>
                      </a:r>
                      <a:endParaRPr/>
                    </a:p>
                    <a:p>
                      <a:pPr indent="0" lvl="0" marL="0" marR="0" rtl="0" algn="l">
                        <a:spcBef>
                          <a:spcPts val="0"/>
                        </a:spcBef>
                        <a:spcAft>
                          <a:spcPts val="0"/>
                        </a:spcAft>
                        <a:buNone/>
                      </a:pPr>
                      <a:r>
                        <a:rPr b="1" lang="en-US" sz="1800">
                          <a:solidFill>
                            <a:srgbClr val="FF0000"/>
                          </a:solidFill>
                        </a:rPr>
                        <a:t>.CODE</a:t>
                      </a:r>
                      <a:endParaRPr/>
                    </a:p>
                    <a:p>
                      <a:pPr indent="0" lvl="0" marL="0" marR="0" rtl="0" algn="l">
                        <a:spcBef>
                          <a:spcPts val="0"/>
                        </a:spcBef>
                        <a:spcAft>
                          <a:spcPts val="0"/>
                        </a:spcAft>
                        <a:buNone/>
                      </a:pPr>
                      <a:r>
                        <a:rPr b="1" lang="en-US" sz="1800">
                          <a:solidFill>
                            <a:srgbClr val="FF0000"/>
                          </a:solidFill>
                        </a:rPr>
                        <a:t>ORG</a:t>
                      </a:r>
                      <a:r>
                        <a:rPr b="1" lang="en-US" sz="1800">
                          <a:solidFill>
                            <a:srgbClr val="FF0000"/>
                          </a:solidFill>
                        </a:rPr>
                        <a:t> 100h</a:t>
                      </a:r>
                      <a:endParaRPr/>
                    </a:p>
                    <a:p>
                      <a:pPr indent="0" lvl="0" marL="0" marR="0" rtl="0" algn="l">
                        <a:spcBef>
                          <a:spcPts val="0"/>
                        </a:spcBef>
                        <a:spcAft>
                          <a:spcPts val="0"/>
                        </a:spcAft>
                        <a:buNone/>
                      </a:pPr>
                      <a:r>
                        <a:rPr b="1" lang="en-US" sz="1800">
                          <a:solidFill>
                            <a:srgbClr val="FF0000"/>
                          </a:solidFill>
                        </a:rPr>
                        <a:t>Begin:</a:t>
                      </a:r>
                      <a:endParaRPr/>
                    </a:p>
                    <a:p>
                      <a:pPr indent="0" lvl="0" marL="0" marR="0" rtl="0" algn="l">
                        <a:spcBef>
                          <a:spcPts val="0"/>
                        </a:spcBef>
                        <a:spcAft>
                          <a:spcPts val="0"/>
                        </a:spcAft>
                        <a:buNone/>
                      </a:pPr>
                      <a:r>
                        <a:rPr lang="en-US" sz="1800"/>
                        <a:t>	;</a:t>
                      </a:r>
                      <a:endParaRPr/>
                    </a:p>
                    <a:p>
                      <a:pPr indent="0" lvl="0" marL="0" marR="0" rtl="0" algn="l">
                        <a:spcBef>
                          <a:spcPts val="0"/>
                        </a:spcBef>
                        <a:spcAft>
                          <a:spcPts val="0"/>
                        </a:spcAft>
                        <a:buNone/>
                      </a:pPr>
                      <a:r>
                        <a:rPr lang="en-US" sz="1800"/>
                        <a:t>	; Các</a:t>
                      </a:r>
                      <a:r>
                        <a:rPr lang="en-US" sz="1800"/>
                        <a:t> lệnh của  chương trình</a:t>
                      </a:r>
                      <a:endParaRPr/>
                    </a:p>
                    <a:p>
                      <a:pPr indent="0" lvl="0" marL="0" marR="0" rtl="0" algn="l">
                        <a:spcBef>
                          <a:spcPts val="0"/>
                        </a:spcBef>
                        <a:spcAft>
                          <a:spcPts val="0"/>
                        </a:spcAft>
                        <a:buNone/>
                      </a:pPr>
                      <a:r>
                        <a:rPr lang="en-US" sz="1800"/>
                        <a:t>	;</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	</a:t>
                      </a:r>
                      <a:r>
                        <a:rPr b="1" lang="en-US" sz="1800">
                          <a:solidFill>
                            <a:srgbClr val="FF0000"/>
                          </a:solidFill>
                        </a:rPr>
                        <a:t>INT 20h</a:t>
                      </a:r>
                      <a:endParaRPr/>
                    </a:p>
                    <a:p>
                      <a:pPr indent="0" lvl="0" marL="0" marR="0" rtl="0" algn="l">
                        <a:spcBef>
                          <a:spcPts val="0"/>
                        </a:spcBef>
                        <a:spcAft>
                          <a:spcPts val="0"/>
                        </a:spcAft>
                        <a:buNone/>
                      </a:pPr>
                      <a:r>
                        <a:rPr lang="en-US" sz="1800"/>
                        <a:t>	</a:t>
                      </a:r>
                      <a:endParaRPr/>
                    </a:p>
                    <a:p>
                      <a:pPr indent="0" lvl="0" marL="0" marR="0" rtl="0" algn="l">
                        <a:spcBef>
                          <a:spcPts val="0"/>
                        </a:spcBef>
                        <a:spcAft>
                          <a:spcPts val="0"/>
                        </a:spcAft>
                        <a:buNone/>
                      </a:pPr>
                      <a:r>
                        <a:rPr lang="en-US" sz="1800"/>
                        <a:t>	; Khai báo chương trình con</a:t>
                      </a:r>
                      <a:endParaRPr/>
                    </a:p>
                    <a:p>
                      <a:pPr indent="0" lvl="0" marL="0" marR="0" rtl="0" algn="l">
                        <a:spcBef>
                          <a:spcPts val="0"/>
                        </a:spcBef>
                        <a:spcAft>
                          <a:spcPts val="0"/>
                        </a:spcAft>
                        <a:buNone/>
                      </a:pPr>
                      <a:r>
                        <a:rPr lang="en-US" sz="1800"/>
                        <a:t>	; Khai báo dữ liệu</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b="1" lang="en-US" sz="1800">
                          <a:solidFill>
                            <a:srgbClr val="FF0000"/>
                          </a:solidFill>
                        </a:rPr>
                        <a:t>END Begin</a:t>
                      </a:r>
                      <a:endParaRPr/>
                    </a:p>
                  </a:txBody>
                  <a:tcPr marT="45725" marB="45725" marR="91450" marL="91450"/>
                </a:tc>
                <a:tc>
                  <a:txBody>
                    <a:bodyPr/>
                    <a:lstStyle/>
                    <a:p>
                      <a:pPr indent="0" lvl="0" marL="0" marR="0" rtl="0" algn="l">
                        <a:spcBef>
                          <a:spcPts val="0"/>
                        </a:spcBef>
                        <a:spcAft>
                          <a:spcPts val="0"/>
                        </a:spcAft>
                        <a:buNone/>
                      </a:pPr>
                      <a:r>
                        <a:rPr b="1" lang="en-US" sz="1800">
                          <a:solidFill>
                            <a:srgbClr val="FF0000"/>
                          </a:solidFill>
                        </a:rPr>
                        <a:t>.MODEL SMALL</a:t>
                      </a:r>
                      <a:endParaRPr/>
                    </a:p>
                    <a:p>
                      <a:pPr indent="0" lvl="0" marL="0" marR="0" rtl="0" algn="l">
                        <a:spcBef>
                          <a:spcPts val="0"/>
                        </a:spcBef>
                        <a:spcAft>
                          <a:spcPts val="0"/>
                        </a:spcAft>
                        <a:buNone/>
                      </a:pPr>
                      <a:r>
                        <a:rPr b="1" lang="en-US" sz="1800">
                          <a:solidFill>
                            <a:srgbClr val="FF0000"/>
                          </a:solidFill>
                        </a:rPr>
                        <a:t>.STACK 200h</a:t>
                      </a:r>
                      <a:endParaRPr/>
                    </a:p>
                    <a:p>
                      <a:pPr indent="0" lvl="0" marL="0" marR="0" rtl="0" algn="l">
                        <a:spcBef>
                          <a:spcPts val="0"/>
                        </a:spcBef>
                        <a:spcAft>
                          <a:spcPts val="0"/>
                        </a:spcAft>
                        <a:buNone/>
                      </a:pPr>
                      <a:r>
                        <a:rPr b="1" lang="en-US" sz="1800">
                          <a:solidFill>
                            <a:srgbClr val="FF0000"/>
                          </a:solidFill>
                        </a:rPr>
                        <a:t>.DATA</a:t>
                      </a:r>
                      <a:endParaRPr/>
                    </a:p>
                    <a:p>
                      <a:pPr indent="0" lvl="0" marL="0" marR="0" rtl="0" algn="l">
                        <a:spcBef>
                          <a:spcPts val="0"/>
                        </a:spcBef>
                        <a:spcAft>
                          <a:spcPts val="0"/>
                        </a:spcAft>
                        <a:buNone/>
                      </a:pPr>
                      <a:r>
                        <a:rPr b="0" lang="en-US" sz="1800">
                          <a:solidFill>
                            <a:schemeClr val="dk1"/>
                          </a:solidFill>
                        </a:rPr>
                        <a:t>	; Khai báo dữ liệu</a:t>
                      </a:r>
                      <a:endParaRPr/>
                    </a:p>
                    <a:p>
                      <a:pPr indent="0" lvl="0" marL="0" marR="0" rtl="0" algn="l">
                        <a:spcBef>
                          <a:spcPts val="0"/>
                        </a:spcBef>
                        <a:spcAft>
                          <a:spcPts val="0"/>
                        </a:spcAft>
                        <a:buNone/>
                      </a:pPr>
                      <a:r>
                        <a:rPr b="1" lang="en-US" sz="1800">
                          <a:solidFill>
                            <a:srgbClr val="FF0000"/>
                          </a:solidFill>
                        </a:rPr>
                        <a:t>.CODE</a:t>
                      </a:r>
                      <a:endParaRPr/>
                    </a:p>
                    <a:p>
                      <a:pPr indent="0" lvl="0" marL="0" marR="0" rtl="0" algn="l">
                        <a:spcBef>
                          <a:spcPts val="0"/>
                        </a:spcBef>
                        <a:spcAft>
                          <a:spcPts val="0"/>
                        </a:spcAft>
                        <a:buNone/>
                      </a:pPr>
                      <a:r>
                        <a:rPr b="1" lang="en-US" sz="1800">
                          <a:solidFill>
                            <a:srgbClr val="FF0000"/>
                          </a:solidFill>
                        </a:rPr>
                        <a:t>Begin:</a:t>
                      </a:r>
                      <a:endParaRPr/>
                    </a:p>
                    <a:p>
                      <a:pPr indent="0" lvl="0" marL="0" marR="0" rtl="0" algn="l">
                        <a:spcBef>
                          <a:spcPts val="0"/>
                        </a:spcBef>
                        <a:spcAft>
                          <a:spcPts val="0"/>
                        </a:spcAft>
                        <a:buNone/>
                      </a:pPr>
                      <a:r>
                        <a:rPr lang="en-US" sz="1800"/>
                        <a:t>	</a:t>
                      </a:r>
                      <a:r>
                        <a:rPr b="1" lang="en-US" sz="1800">
                          <a:solidFill>
                            <a:srgbClr val="FF0000"/>
                          </a:solidFill>
                        </a:rPr>
                        <a:t>MOV AX,</a:t>
                      </a:r>
                      <a:r>
                        <a:rPr b="1" lang="en-US" sz="1800">
                          <a:solidFill>
                            <a:srgbClr val="FF0000"/>
                          </a:solidFill>
                        </a:rPr>
                        <a:t> @DATA</a:t>
                      </a:r>
                      <a:endParaRPr/>
                    </a:p>
                    <a:p>
                      <a:pPr indent="0" lvl="0" marL="0" marR="0" rtl="0" algn="l">
                        <a:spcBef>
                          <a:spcPts val="0"/>
                        </a:spcBef>
                        <a:spcAft>
                          <a:spcPts val="0"/>
                        </a:spcAft>
                        <a:buNone/>
                      </a:pPr>
                      <a:r>
                        <a:rPr b="1" lang="en-US" sz="1800">
                          <a:solidFill>
                            <a:srgbClr val="FF0000"/>
                          </a:solidFill>
                        </a:rPr>
                        <a:t>	MOV DS, AX</a:t>
                      </a:r>
                      <a:endParaRPr sz="1800">
                        <a:solidFill>
                          <a:srgbClr val="FF0000"/>
                        </a:solidFill>
                      </a:endParaRPr>
                    </a:p>
                    <a:p>
                      <a:pPr indent="0" lvl="0" marL="0" marR="0" rtl="0" algn="l">
                        <a:spcBef>
                          <a:spcPts val="0"/>
                        </a:spcBef>
                        <a:spcAft>
                          <a:spcPts val="0"/>
                        </a:spcAft>
                        <a:buNone/>
                      </a:pPr>
                      <a:r>
                        <a:rPr lang="en-US" sz="1800"/>
                        <a:t>	;</a:t>
                      </a:r>
                      <a:endParaRPr/>
                    </a:p>
                    <a:p>
                      <a:pPr indent="0" lvl="0" marL="0" marR="0" rtl="0" algn="l">
                        <a:spcBef>
                          <a:spcPts val="0"/>
                        </a:spcBef>
                        <a:spcAft>
                          <a:spcPts val="0"/>
                        </a:spcAft>
                        <a:buNone/>
                      </a:pPr>
                      <a:r>
                        <a:rPr lang="en-US" sz="1800"/>
                        <a:t>	; Các</a:t>
                      </a:r>
                      <a:r>
                        <a:rPr lang="en-US" sz="1800"/>
                        <a:t> lệnh của  chương trình</a:t>
                      </a:r>
                      <a:endParaRPr/>
                    </a:p>
                    <a:p>
                      <a:pPr indent="0" lvl="0" marL="0" marR="0" rtl="0" algn="l">
                        <a:spcBef>
                          <a:spcPts val="0"/>
                        </a:spcBef>
                        <a:spcAft>
                          <a:spcPts val="0"/>
                        </a:spcAft>
                        <a:buNone/>
                      </a:pPr>
                      <a:r>
                        <a:rPr lang="en-US" sz="1800"/>
                        <a:t>	;</a:t>
                      </a:r>
                      <a:endParaRPr/>
                    </a:p>
                    <a:p>
                      <a:pPr indent="0" lvl="0" marL="0" marR="0" rtl="0" algn="l">
                        <a:spcBef>
                          <a:spcPts val="0"/>
                        </a:spcBef>
                        <a:spcAft>
                          <a:spcPts val="0"/>
                        </a:spcAft>
                        <a:buNone/>
                      </a:pPr>
                      <a:r>
                        <a:rPr lang="en-US" sz="1800"/>
                        <a:t>	</a:t>
                      </a:r>
                      <a:r>
                        <a:rPr b="1" lang="en-US" sz="1800">
                          <a:solidFill>
                            <a:srgbClr val="FF0000"/>
                          </a:solidFill>
                        </a:rPr>
                        <a:t>MOV AX, 4C00H</a:t>
                      </a:r>
                      <a:endParaRPr/>
                    </a:p>
                    <a:p>
                      <a:pPr indent="0" lvl="0" marL="0" marR="0" rtl="0" algn="l">
                        <a:spcBef>
                          <a:spcPts val="0"/>
                        </a:spcBef>
                        <a:spcAft>
                          <a:spcPts val="0"/>
                        </a:spcAft>
                        <a:buNone/>
                      </a:pPr>
                      <a:r>
                        <a:rPr b="1" lang="en-US" sz="1800">
                          <a:solidFill>
                            <a:srgbClr val="FF0000"/>
                          </a:solidFill>
                        </a:rPr>
                        <a:t>	INT 21H</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	; Khai báo chương trình con</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b="1" lang="en-US" sz="1800">
                          <a:solidFill>
                            <a:srgbClr val="FF0000"/>
                          </a:solidFill>
                        </a:rPr>
                        <a:t>END Begin</a:t>
                      </a:r>
                      <a:endParaRPr/>
                    </a:p>
                  </a:txBody>
                  <a:tcPr marT="45725" marB="45725" marR="91450" marL="9145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lệnh cơ bản</a:t>
            </a:r>
            <a:endParaRPr/>
          </a:p>
        </p:txBody>
      </p:sp>
      <p:sp>
        <p:nvSpPr>
          <p:cNvPr id="430" name="Google Shape;430;p4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Qui ước toán hạng trong cú pháp lệnh</a:t>
            </a:r>
            <a:endParaRPr/>
          </a:p>
          <a:p>
            <a:pPr indent="0" lvl="1" marL="457200" rtl="0" algn="l">
              <a:spcBef>
                <a:spcPts val="560"/>
              </a:spcBef>
              <a:spcAft>
                <a:spcPts val="0"/>
              </a:spcAft>
              <a:buClr>
                <a:schemeClr val="dk1"/>
              </a:buClr>
              <a:buSzPts val="2800"/>
              <a:buNone/>
            </a:pPr>
            <a:r>
              <a:t/>
            </a:r>
            <a:endParaRPr/>
          </a:p>
        </p:txBody>
      </p:sp>
      <p:graphicFrame>
        <p:nvGraphicFramePr>
          <p:cNvPr id="431" name="Google Shape;431;p40"/>
          <p:cNvGraphicFramePr/>
          <p:nvPr/>
        </p:nvGraphicFramePr>
        <p:xfrm>
          <a:off x="457200" y="2209800"/>
          <a:ext cx="3000000" cy="3000000"/>
        </p:xfrm>
        <a:graphic>
          <a:graphicData uri="http://schemas.openxmlformats.org/drawingml/2006/table">
            <a:tbl>
              <a:tblPr bandRow="1" firstRow="1">
                <a:noFill/>
                <a:tableStyleId>{1CD154A0-517F-4B4A-82E1-0E76DB0E4BF0}</a:tableStyleId>
              </a:tblPr>
              <a:tblGrid>
                <a:gridCol w="1828800"/>
                <a:gridCol w="6400800"/>
              </a:tblGrid>
              <a:tr h="370850">
                <a:tc>
                  <a:txBody>
                    <a:bodyPr/>
                    <a:lstStyle/>
                    <a:p>
                      <a:pPr indent="0" lvl="0" marL="0" marR="0" rtl="0" algn="ctr">
                        <a:spcBef>
                          <a:spcPts val="0"/>
                        </a:spcBef>
                        <a:spcAft>
                          <a:spcPts val="0"/>
                        </a:spcAft>
                        <a:buNone/>
                      </a:pPr>
                      <a:r>
                        <a:rPr lang="en-US" sz="1800"/>
                        <a:t>Ký</a:t>
                      </a:r>
                      <a:r>
                        <a:rPr lang="en-US" sz="1800"/>
                        <a:t> hiệu</a:t>
                      </a:r>
                      <a:endParaRPr sz="1800"/>
                    </a:p>
                  </a:txBody>
                  <a:tcPr marT="45725" marB="45725" marR="91450" marL="91450" anchor="ctr"/>
                </a:tc>
                <a:tc>
                  <a:txBody>
                    <a:bodyPr/>
                    <a:lstStyle/>
                    <a:p>
                      <a:pPr indent="0" lvl="0" marL="0" marR="0" rtl="0" algn="ctr">
                        <a:spcBef>
                          <a:spcPts val="0"/>
                        </a:spcBef>
                        <a:spcAft>
                          <a:spcPts val="0"/>
                        </a:spcAft>
                        <a:buNone/>
                      </a:pPr>
                      <a:r>
                        <a:rPr lang="en-US" sz="1800"/>
                        <a:t>Loại</a:t>
                      </a:r>
                      <a:r>
                        <a:rPr lang="en-US" sz="1800"/>
                        <a:t> toán hạng</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Reg</a:t>
                      </a:r>
                      <a:endParaRPr/>
                    </a:p>
                  </a:txBody>
                  <a:tcPr marT="45725" marB="45725" marR="91450" marL="91450" anchor="ctr"/>
                </a:tc>
                <a:tc>
                  <a:txBody>
                    <a:bodyPr/>
                    <a:lstStyle/>
                    <a:p>
                      <a:pPr indent="0" lvl="0" marL="0" marR="0" rtl="0" algn="l">
                        <a:spcBef>
                          <a:spcPts val="0"/>
                        </a:spcBef>
                        <a:spcAft>
                          <a:spcPts val="0"/>
                        </a:spcAft>
                        <a:buNone/>
                      </a:pPr>
                      <a:r>
                        <a:rPr lang="en-US" sz="1800"/>
                        <a:t>Thanh ghi 8</a:t>
                      </a:r>
                      <a:r>
                        <a:rPr lang="en-US" sz="1800"/>
                        <a:t> hoặc </a:t>
                      </a:r>
                      <a:r>
                        <a:rPr lang="en-US" sz="1800"/>
                        <a:t>16bit</a:t>
                      </a:r>
                      <a:endParaRPr/>
                    </a:p>
                  </a:txBody>
                  <a:tcPr marT="45725" marB="45725" marR="91450" marL="91450" anchor="ctr"/>
                </a:tc>
              </a:tr>
              <a:tr h="370850">
                <a:tc>
                  <a:txBody>
                    <a:bodyPr/>
                    <a:lstStyle/>
                    <a:p>
                      <a:pPr indent="0" lvl="0" marL="0" marR="0" rtl="0" algn="l">
                        <a:spcBef>
                          <a:spcPts val="0"/>
                        </a:spcBef>
                        <a:spcAft>
                          <a:spcPts val="0"/>
                        </a:spcAft>
                        <a:buNone/>
                      </a:pPr>
                      <a:r>
                        <a:rPr lang="en-US" sz="1800"/>
                        <a:t>Reg8</a:t>
                      </a:r>
                      <a:endParaRPr/>
                    </a:p>
                  </a:txBody>
                  <a:tcPr marT="45725" marB="45725" marR="91450" marL="91450" anchor="ctr"/>
                </a:tc>
                <a:tc>
                  <a:txBody>
                    <a:bodyPr/>
                    <a:lstStyle/>
                    <a:p>
                      <a:pPr indent="0" lvl="0" marL="0" marR="0" rtl="0" algn="l">
                        <a:spcBef>
                          <a:spcPts val="0"/>
                        </a:spcBef>
                        <a:spcAft>
                          <a:spcPts val="0"/>
                        </a:spcAft>
                        <a:buNone/>
                      </a:pPr>
                      <a:r>
                        <a:rPr lang="en-US" sz="1800"/>
                        <a:t>Thanh ghi 8 bit</a:t>
                      </a:r>
                      <a:endParaRPr/>
                    </a:p>
                  </a:txBody>
                  <a:tcPr marT="45725" marB="45725" marR="91450" marL="91450" anchor="ctr"/>
                </a:tc>
              </a:tr>
              <a:tr h="370850">
                <a:tc>
                  <a:txBody>
                    <a:bodyPr/>
                    <a:lstStyle/>
                    <a:p>
                      <a:pPr indent="0" lvl="0" marL="0" marR="0" rtl="0" algn="l">
                        <a:spcBef>
                          <a:spcPts val="0"/>
                        </a:spcBef>
                        <a:spcAft>
                          <a:spcPts val="0"/>
                        </a:spcAft>
                        <a:buNone/>
                      </a:pPr>
                      <a:r>
                        <a:rPr lang="en-US" sz="1800"/>
                        <a:t>Reg16</a:t>
                      </a:r>
                      <a:endParaRPr/>
                    </a:p>
                  </a:txBody>
                  <a:tcPr marT="45725" marB="45725" marR="91450" marL="91450" anchor="ctr"/>
                </a:tc>
                <a:tc>
                  <a:txBody>
                    <a:bodyPr/>
                    <a:lstStyle/>
                    <a:p>
                      <a:pPr indent="0" lvl="0" marL="0" marR="0" rtl="0" algn="l">
                        <a:spcBef>
                          <a:spcPts val="0"/>
                        </a:spcBef>
                        <a:spcAft>
                          <a:spcPts val="0"/>
                        </a:spcAft>
                        <a:buNone/>
                      </a:pPr>
                      <a:r>
                        <a:rPr lang="en-US" sz="1800"/>
                        <a:t>Thanh ghi 16 bit</a:t>
                      </a:r>
                      <a:endParaRPr/>
                    </a:p>
                  </a:txBody>
                  <a:tcPr marT="45725" marB="45725" marR="91450" marL="91450" anchor="ctr"/>
                </a:tc>
              </a:tr>
              <a:tr h="370850">
                <a:tc>
                  <a:txBody>
                    <a:bodyPr/>
                    <a:lstStyle/>
                    <a:p>
                      <a:pPr indent="0" lvl="0" marL="0" marR="0" rtl="0" algn="l">
                        <a:spcBef>
                          <a:spcPts val="0"/>
                        </a:spcBef>
                        <a:spcAft>
                          <a:spcPts val="0"/>
                        </a:spcAft>
                        <a:buNone/>
                      </a:pPr>
                      <a:r>
                        <a:rPr lang="en-US" sz="1800"/>
                        <a:t>Mem</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bộ nhớ 8 hoặc 16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Mem8</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bộ nhớ 8 bit</a:t>
                      </a:r>
                      <a:endParaRPr sz="1800"/>
                    </a:p>
                  </a:txBody>
                  <a:tcPr marT="45725" marB="45725" marR="91450" marL="91450" anchor="ctr"/>
                </a:tc>
              </a:tr>
              <a:tr h="137150">
                <a:tc>
                  <a:txBody>
                    <a:bodyPr/>
                    <a:lstStyle/>
                    <a:p>
                      <a:pPr indent="0" lvl="0" marL="0" marR="0" rtl="0" algn="l">
                        <a:spcBef>
                          <a:spcPts val="0"/>
                        </a:spcBef>
                        <a:spcAft>
                          <a:spcPts val="0"/>
                        </a:spcAft>
                        <a:buNone/>
                      </a:pPr>
                      <a:r>
                        <a:rPr lang="en-US" sz="1800"/>
                        <a:t>Mem16</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bộ nhớ 16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Mem32</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bộ nhớ 32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Immed</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hằng 8 hoặc 16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Immed8</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hằng 8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Immed16</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hằng 16 bit</a:t>
                      </a:r>
                      <a:endParaRPr sz="1800"/>
                    </a:p>
                  </a:txBody>
                  <a:tcPr marT="45725" marB="45725" marR="91450" marL="91450" anchor="ctr"/>
                </a:tc>
              </a:tr>
              <a:tr h="370850">
                <a:tc>
                  <a:txBody>
                    <a:bodyPr/>
                    <a:lstStyle/>
                    <a:p>
                      <a:pPr indent="0" lvl="0" marL="0" marR="0" rtl="0" algn="l">
                        <a:spcBef>
                          <a:spcPts val="0"/>
                        </a:spcBef>
                        <a:spcAft>
                          <a:spcPts val="0"/>
                        </a:spcAft>
                        <a:buNone/>
                      </a:pPr>
                      <a:r>
                        <a:rPr lang="en-US" sz="1800"/>
                        <a:t>SegReg</a:t>
                      </a:r>
                      <a:endParaRPr/>
                    </a:p>
                  </a:txBody>
                  <a:tcPr marT="45725" marB="45725" marR="91450" marL="91450" anchor="ctr"/>
                </a:tc>
                <a:tc>
                  <a:txBody>
                    <a:bodyPr/>
                    <a:lstStyle/>
                    <a:p>
                      <a:pPr indent="0" lvl="0" marL="0" marR="0" rtl="0" algn="l">
                        <a:spcBef>
                          <a:spcPts val="0"/>
                        </a:spcBef>
                        <a:spcAft>
                          <a:spcPts val="0"/>
                        </a:spcAft>
                        <a:buNone/>
                      </a:pPr>
                      <a:r>
                        <a:rPr lang="en-US" sz="1800"/>
                        <a:t>Toán</a:t>
                      </a:r>
                      <a:r>
                        <a:rPr lang="en-US" sz="1800"/>
                        <a:t> hạng thanh ghi đoạn</a:t>
                      </a:r>
                      <a:endParaRPr sz="1800"/>
                    </a:p>
                  </a:txBody>
                  <a:tcPr marT="45725" marB="45725" marR="91450" marL="91450" anchor="ct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lệnh cơ bản (2)</a:t>
            </a:r>
            <a:endParaRPr/>
          </a:p>
        </p:txBody>
      </p:sp>
      <p:sp>
        <p:nvSpPr>
          <p:cNvPr id="437" name="Google Shape;437;p4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lệnh chuyển dữ liệu</a:t>
            </a:r>
            <a:endParaRPr/>
          </a:p>
          <a:p>
            <a:pPr indent="-285750" lvl="1" marL="742950" rtl="0" algn="l">
              <a:spcBef>
                <a:spcPts val="560"/>
              </a:spcBef>
              <a:spcAft>
                <a:spcPts val="0"/>
              </a:spcAft>
              <a:buClr>
                <a:schemeClr val="dk1"/>
              </a:buClr>
              <a:buSzPts val="2800"/>
              <a:buChar char="•"/>
            </a:pPr>
            <a:r>
              <a:rPr lang="en-US"/>
              <a:t>MOV, XCHG, PUSH, POP</a:t>
            </a:r>
            <a:endParaRPr/>
          </a:p>
          <a:p>
            <a:pPr indent="-342900" lvl="0" marL="342900" rtl="0" algn="l">
              <a:spcBef>
                <a:spcPts val="640"/>
              </a:spcBef>
              <a:spcAft>
                <a:spcPts val="0"/>
              </a:spcAft>
              <a:buClr>
                <a:schemeClr val="dk1"/>
              </a:buClr>
              <a:buSzPts val="1280"/>
              <a:buChar char="❑"/>
            </a:pPr>
            <a:r>
              <a:rPr lang="en-US"/>
              <a:t>Nhóm lệnh chuyển địa chỉ</a:t>
            </a:r>
            <a:endParaRPr/>
          </a:p>
          <a:p>
            <a:pPr indent="-285750" lvl="1" marL="742950" rtl="0" algn="l">
              <a:spcBef>
                <a:spcPts val="560"/>
              </a:spcBef>
              <a:spcAft>
                <a:spcPts val="0"/>
              </a:spcAft>
              <a:buClr>
                <a:schemeClr val="dk1"/>
              </a:buClr>
              <a:buSzPts val="2800"/>
              <a:buChar char="•"/>
            </a:pPr>
            <a:r>
              <a:rPr lang="en-US"/>
              <a:t>LEA</a:t>
            </a:r>
            <a:endParaRPr/>
          </a:p>
          <a:p>
            <a:pPr indent="-285750" lvl="1" marL="742950" rtl="0" algn="l">
              <a:spcBef>
                <a:spcPts val="560"/>
              </a:spcBef>
              <a:spcAft>
                <a:spcPts val="0"/>
              </a:spcAft>
              <a:buClr>
                <a:schemeClr val="dk1"/>
              </a:buClr>
              <a:buSzPts val="2800"/>
              <a:buChar char="•"/>
            </a:pPr>
            <a:r>
              <a:rPr lang="en-US"/>
              <a:t>LDS, LES</a:t>
            </a:r>
            <a:endParaRPr/>
          </a:p>
          <a:p>
            <a:pPr indent="-342900" lvl="0" marL="342900" rtl="0" algn="l">
              <a:spcBef>
                <a:spcPts val="640"/>
              </a:spcBef>
              <a:spcAft>
                <a:spcPts val="0"/>
              </a:spcAft>
              <a:buClr>
                <a:schemeClr val="dk1"/>
              </a:buClr>
              <a:buSzPts val="1280"/>
              <a:buChar char="❑"/>
            </a:pPr>
            <a:r>
              <a:rPr lang="en-US"/>
              <a:t>Nhóm lệnh chuyển dữ liệu qua cổng</a:t>
            </a:r>
            <a:endParaRPr/>
          </a:p>
          <a:p>
            <a:pPr indent="-285750" lvl="1" marL="742950" rtl="0" algn="l">
              <a:spcBef>
                <a:spcPts val="560"/>
              </a:spcBef>
              <a:spcAft>
                <a:spcPts val="0"/>
              </a:spcAft>
              <a:buClr>
                <a:schemeClr val="dk1"/>
              </a:buClr>
              <a:buSzPts val="2800"/>
              <a:buChar char="•"/>
            </a:pPr>
            <a:r>
              <a:rPr lang="en-US"/>
              <a:t>IN, OUT</a:t>
            </a:r>
            <a:endParaRPr/>
          </a:p>
          <a:p>
            <a:pPr indent="-342900" lvl="0" marL="342900" rtl="0" algn="l">
              <a:spcBef>
                <a:spcPts val="640"/>
              </a:spcBef>
              <a:spcAft>
                <a:spcPts val="0"/>
              </a:spcAft>
              <a:buClr>
                <a:schemeClr val="dk1"/>
              </a:buClr>
              <a:buSzPts val="1280"/>
              <a:buChar char="❑"/>
            </a:pPr>
            <a:r>
              <a:rPr lang="en-US"/>
              <a:t>Nhóm lệnh chuyển cờ hiệu</a:t>
            </a:r>
            <a:endParaRPr/>
          </a:p>
          <a:p>
            <a:pPr indent="-285750" lvl="1" marL="742950" rtl="0" algn="l">
              <a:spcBef>
                <a:spcPts val="560"/>
              </a:spcBef>
              <a:spcAft>
                <a:spcPts val="0"/>
              </a:spcAft>
              <a:buClr>
                <a:schemeClr val="dk1"/>
              </a:buClr>
              <a:buSzPts val="2800"/>
              <a:buChar char="•"/>
            </a:pPr>
            <a:r>
              <a:rPr lang="en-US"/>
              <a:t>LAHF, SAHF, PUSHF, POPF</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lệnh cơ bản (3)</a:t>
            </a:r>
            <a:endParaRPr/>
          </a:p>
        </p:txBody>
      </p:sp>
      <p:sp>
        <p:nvSpPr>
          <p:cNvPr id="443" name="Google Shape;443;p4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lệnh tính toán số học</a:t>
            </a:r>
            <a:endParaRPr/>
          </a:p>
          <a:p>
            <a:pPr indent="-285750" lvl="1" marL="742950" rtl="0" algn="l">
              <a:spcBef>
                <a:spcPts val="560"/>
              </a:spcBef>
              <a:spcAft>
                <a:spcPts val="0"/>
              </a:spcAft>
              <a:buClr>
                <a:schemeClr val="dk1"/>
              </a:buClr>
              <a:buSzPts val="2800"/>
              <a:buChar char="•"/>
            </a:pPr>
            <a:r>
              <a:rPr lang="en-US"/>
              <a:t>ADD, SUB, INC, DEC, MUL, DIV, NEG</a:t>
            </a:r>
            <a:endParaRPr/>
          </a:p>
          <a:p>
            <a:pPr indent="-285750" lvl="1" marL="742950" rtl="0" algn="l">
              <a:spcBef>
                <a:spcPts val="560"/>
              </a:spcBef>
              <a:spcAft>
                <a:spcPts val="0"/>
              </a:spcAft>
              <a:buClr>
                <a:schemeClr val="dk1"/>
              </a:buClr>
              <a:buSzPts val="2800"/>
              <a:buChar char="•"/>
            </a:pPr>
            <a:r>
              <a:rPr lang="en-US"/>
              <a:t>ADC, AAA, DAA, SBB, AAS, DAS, IMUL, AAM, IDIV, AAD, CBW, CWD</a:t>
            </a:r>
            <a:endParaRPr/>
          </a:p>
          <a:p>
            <a:pPr indent="-342900" lvl="0" marL="342900" rtl="0" algn="l">
              <a:spcBef>
                <a:spcPts val="640"/>
              </a:spcBef>
              <a:spcAft>
                <a:spcPts val="0"/>
              </a:spcAft>
              <a:buClr>
                <a:schemeClr val="dk1"/>
              </a:buClr>
              <a:buSzPts val="1280"/>
              <a:buChar char="❑"/>
            </a:pPr>
            <a:r>
              <a:rPr lang="en-US"/>
              <a:t>Nhóm lệnh dịch chuyển và quay</a:t>
            </a:r>
            <a:endParaRPr/>
          </a:p>
          <a:p>
            <a:pPr indent="-285750" lvl="1" marL="742950" rtl="0" algn="l">
              <a:spcBef>
                <a:spcPts val="560"/>
              </a:spcBef>
              <a:spcAft>
                <a:spcPts val="0"/>
              </a:spcAft>
              <a:buClr>
                <a:schemeClr val="dk1"/>
              </a:buClr>
              <a:buSzPts val="2800"/>
              <a:buChar char="•"/>
            </a:pPr>
            <a:r>
              <a:rPr lang="en-US"/>
              <a:t>SHL, SHR, ROL, ROR</a:t>
            </a:r>
            <a:endParaRPr/>
          </a:p>
          <a:p>
            <a:pPr indent="-285750" lvl="1" marL="742950" rtl="0" algn="l">
              <a:spcBef>
                <a:spcPts val="560"/>
              </a:spcBef>
              <a:spcAft>
                <a:spcPts val="0"/>
              </a:spcAft>
              <a:buClr>
                <a:schemeClr val="dk1"/>
              </a:buClr>
              <a:buSzPts val="2800"/>
              <a:buChar char="•"/>
            </a:pPr>
            <a:r>
              <a:rPr lang="en-US"/>
              <a:t>SAL, SAR, RCL, RCR</a:t>
            </a:r>
            <a:endParaRPr/>
          </a:p>
          <a:p>
            <a:pPr indent="-342900" lvl="0" marL="342900" rtl="0" algn="l">
              <a:spcBef>
                <a:spcPts val="640"/>
              </a:spcBef>
              <a:spcAft>
                <a:spcPts val="0"/>
              </a:spcAft>
              <a:buClr>
                <a:schemeClr val="dk1"/>
              </a:buClr>
              <a:buSzPts val="1280"/>
              <a:buChar char="❑"/>
            </a:pPr>
            <a:r>
              <a:rPr lang="en-US"/>
              <a:t>Nhóm lệnh logic</a:t>
            </a:r>
            <a:endParaRPr/>
          </a:p>
          <a:p>
            <a:pPr indent="-285750" lvl="1" marL="742950" rtl="0" algn="l">
              <a:spcBef>
                <a:spcPts val="560"/>
              </a:spcBef>
              <a:spcAft>
                <a:spcPts val="0"/>
              </a:spcAft>
              <a:buClr>
                <a:schemeClr val="dk1"/>
              </a:buClr>
              <a:buSzPts val="2800"/>
              <a:buChar char="•"/>
            </a:pPr>
            <a:r>
              <a:rPr lang="en-US"/>
              <a:t>AND, OR, XOR, NOT,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lệnh cơ bản (4)</a:t>
            </a:r>
            <a:endParaRPr/>
          </a:p>
        </p:txBody>
      </p:sp>
      <p:sp>
        <p:nvSpPr>
          <p:cNvPr id="449" name="Google Shape;449;p4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lệnh chuyển điều khiển</a:t>
            </a:r>
            <a:endParaRPr/>
          </a:p>
          <a:p>
            <a:pPr indent="-285750" lvl="1" marL="742950" rtl="0" algn="l">
              <a:spcBef>
                <a:spcPts val="560"/>
              </a:spcBef>
              <a:spcAft>
                <a:spcPts val="0"/>
              </a:spcAft>
              <a:buClr>
                <a:schemeClr val="dk1"/>
              </a:buClr>
              <a:buSzPts val="2800"/>
              <a:buChar char="•"/>
            </a:pPr>
            <a:r>
              <a:rPr lang="en-US"/>
              <a:t>Lệnh nhảy không điều kiện: JMP</a:t>
            </a:r>
            <a:endParaRPr/>
          </a:p>
          <a:p>
            <a:pPr indent="-285750" lvl="1" marL="742950" rtl="0" algn="l">
              <a:spcBef>
                <a:spcPts val="560"/>
              </a:spcBef>
              <a:spcAft>
                <a:spcPts val="0"/>
              </a:spcAft>
              <a:buClr>
                <a:schemeClr val="dk1"/>
              </a:buClr>
              <a:buSzPts val="2800"/>
              <a:buChar char="•"/>
            </a:pPr>
            <a:r>
              <a:rPr lang="en-US"/>
              <a:t>Lệnh so sánh: CMP</a:t>
            </a:r>
            <a:endParaRPr/>
          </a:p>
          <a:p>
            <a:pPr indent="-285750" lvl="1" marL="742950" rtl="0" algn="l">
              <a:spcBef>
                <a:spcPts val="560"/>
              </a:spcBef>
              <a:spcAft>
                <a:spcPts val="0"/>
              </a:spcAft>
              <a:buClr>
                <a:schemeClr val="dk1"/>
              </a:buClr>
              <a:buSzPts val="2800"/>
              <a:buChar char="•"/>
            </a:pPr>
            <a:r>
              <a:rPr lang="en-US"/>
              <a:t>Lệnh nhảy có điều kiện: JB, JNAE, JBE, JNA, JA, JNBE, JAE, JNB, JE, JZ, JNE, JNZ, JL, JNGE, JLE, JNG, JG, JNLE, JGE, JNL, JP, JNP, JS, JNS, JO, JNO, JC, JNC, JCXZ</a:t>
            </a:r>
            <a:endParaRPr/>
          </a:p>
          <a:p>
            <a:pPr indent="-285750" lvl="1" marL="742950" rtl="0" algn="l">
              <a:spcBef>
                <a:spcPts val="560"/>
              </a:spcBef>
              <a:spcAft>
                <a:spcPts val="0"/>
              </a:spcAft>
              <a:buClr>
                <a:schemeClr val="dk1"/>
              </a:buClr>
              <a:buSzPts val="2800"/>
              <a:buChar char="•"/>
            </a:pPr>
            <a:r>
              <a:rPr lang="en-US"/>
              <a:t>Lệnh lặp: LOOP, LOOPE, LOOPZ, LOOPNE, LOOPNZ</a:t>
            </a:r>
            <a:endParaRPr/>
          </a:p>
          <a:p>
            <a:pPr indent="-285750" lvl="1" marL="742950" rtl="0" algn="l">
              <a:spcBef>
                <a:spcPts val="560"/>
              </a:spcBef>
              <a:spcAft>
                <a:spcPts val="0"/>
              </a:spcAft>
              <a:buClr>
                <a:schemeClr val="dk1"/>
              </a:buClr>
              <a:buSzPts val="2800"/>
              <a:buChar char="•"/>
            </a:pPr>
            <a:r>
              <a:rPr lang="en-US"/>
              <a:t>Lệnh gọi chương trình con: CALL, RET, RETN, RETF</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Các lệnh cơ bản (5)</a:t>
            </a:r>
            <a:endParaRPr/>
          </a:p>
        </p:txBody>
      </p:sp>
      <p:sp>
        <p:nvSpPr>
          <p:cNvPr id="455" name="Google Shape;455;p4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Nhóm lệnh xử lý chuỗi</a:t>
            </a:r>
            <a:endParaRPr/>
          </a:p>
          <a:p>
            <a:pPr indent="-285750" lvl="1" marL="742950" rtl="0" algn="l">
              <a:spcBef>
                <a:spcPts val="560"/>
              </a:spcBef>
              <a:spcAft>
                <a:spcPts val="0"/>
              </a:spcAft>
              <a:buClr>
                <a:schemeClr val="dk1"/>
              </a:buClr>
              <a:buSzPts val="2800"/>
              <a:buChar char="•"/>
            </a:pPr>
            <a:r>
              <a:rPr lang="en-US"/>
              <a:t>MOVSB, MOVSW</a:t>
            </a:r>
            <a:endParaRPr/>
          </a:p>
          <a:p>
            <a:pPr indent="-285750" lvl="1" marL="742950" rtl="0" algn="l">
              <a:spcBef>
                <a:spcPts val="560"/>
              </a:spcBef>
              <a:spcAft>
                <a:spcPts val="0"/>
              </a:spcAft>
              <a:buClr>
                <a:schemeClr val="dk1"/>
              </a:buClr>
              <a:buSzPts val="2800"/>
              <a:buChar char="•"/>
            </a:pPr>
            <a:r>
              <a:rPr lang="en-US"/>
              <a:t>CMPSB, CMPSW</a:t>
            </a:r>
            <a:endParaRPr/>
          </a:p>
          <a:p>
            <a:pPr indent="-285750" lvl="1" marL="742950" rtl="0" algn="l">
              <a:spcBef>
                <a:spcPts val="560"/>
              </a:spcBef>
              <a:spcAft>
                <a:spcPts val="0"/>
              </a:spcAft>
              <a:buClr>
                <a:schemeClr val="dk1"/>
              </a:buClr>
              <a:buSzPts val="2800"/>
              <a:buChar char="•"/>
            </a:pPr>
            <a:r>
              <a:rPr lang="en-US"/>
              <a:t>SCASB, SCASW</a:t>
            </a:r>
            <a:endParaRPr/>
          </a:p>
          <a:p>
            <a:pPr indent="-285750" lvl="1" marL="742950" rtl="0" algn="l">
              <a:spcBef>
                <a:spcPts val="560"/>
              </a:spcBef>
              <a:spcAft>
                <a:spcPts val="0"/>
              </a:spcAft>
              <a:buClr>
                <a:schemeClr val="dk1"/>
              </a:buClr>
              <a:buSzPts val="2800"/>
              <a:buChar char="•"/>
            </a:pPr>
            <a:r>
              <a:rPr lang="en-US"/>
              <a:t>LODSB, LODSW</a:t>
            </a:r>
            <a:endParaRPr/>
          </a:p>
          <a:p>
            <a:pPr indent="-285750" lvl="1" marL="742950" rtl="0" algn="l">
              <a:spcBef>
                <a:spcPts val="560"/>
              </a:spcBef>
              <a:spcAft>
                <a:spcPts val="0"/>
              </a:spcAft>
              <a:buClr>
                <a:schemeClr val="dk1"/>
              </a:buClr>
              <a:buSzPts val="2800"/>
              <a:buChar char="•"/>
            </a:pPr>
            <a:r>
              <a:rPr lang="en-US"/>
              <a:t>STOSB, STOSW</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MOV (Move)</a:t>
            </a:r>
            <a:endParaRPr/>
          </a:p>
        </p:txBody>
      </p:sp>
      <p:sp>
        <p:nvSpPr>
          <p:cNvPr id="461" name="Google Shape;461;p4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MOV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Gán giá trị của toán hạng </a:t>
            </a:r>
            <a:r>
              <a:rPr lang="en-US">
                <a:solidFill>
                  <a:srgbClr val="FF0000"/>
                </a:solidFill>
              </a:rPr>
              <a:t>source</a:t>
            </a:r>
            <a:r>
              <a:rPr lang="en-US"/>
              <a:t> cho </a:t>
            </a:r>
            <a:r>
              <a:rPr lang="en-US">
                <a:solidFill>
                  <a:srgbClr val="FF0000"/>
                </a:solidFill>
              </a:rPr>
              <a:t>dest</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hoặc Immed</a:t>
            </a:r>
            <a:endParaRPr/>
          </a:p>
          <a:p>
            <a:pPr indent="-285750" lvl="1" marL="742950" rtl="0" algn="l">
              <a:spcBef>
                <a:spcPts val="560"/>
              </a:spcBef>
              <a:spcAft>
                <a:spcPts val="0"/>
              </a:spcAft>
              <a:buClr>
                <a:schemeClr val="dk1"/>
              </a:buClr>
              <a:buSzPts val="2800"/>
              <a:buChar char="•"/>
            </a:pPr>
            <a:r>
              <a:rPr lang="en-US"/>
              <a:t>dest và source phải cùng kích thước (8/16 bit)</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MOV  AX, BX</a:t>
            </a:r>
            <a:endParaRPr/>
          </a:p>
          <a:p>
            <a:pPr indent="0" lvl="1" marL="457200" rtl="0" algn="l">
              <a:spcBef>
                <a:spcPts val="560"/>
              </a:spcBef>
              <a:spcAft>
                <a:spcPts val="0"/>
              </a:spcAft>
              <a:buClr>
                <a:schemeClr val="dk1"/>
              </a:buClr>
              <a:buSzPts val="2800"/>
              <a:buNone/>
            </a:pPr>
            <a:r>
              <a:rPr lang="en-US"/>
              <a:t>MOV   AL, DS:[100h]</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MOV (2)</a:t>
            </a:r>
            <a:endParaRPr/>
          </a:p>
        </p:txBody>
      </p:sp>
      <p:sp>
        <p:nvSpPr>
          <p:cNvPr id="467" name="Google Shape;467;p4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Lệnh MOV không ảnh hưởng thanh ghi cờ hiệu</a:t>
            </a:r>
            <a:endParaRPr/>
          </a:p>
          <a:p>
            <a:pPr indent="-285750" lvl="1" marL="742950" rtl="0" algn="l">
              <a:spcBef>
                <a:spcPts val="560"/>
              </a:spcBef>
              <a:spcAft>
                <a:spcPts val="0"/>
              </a:spcAft>
              <a:buClr>
                <a:schemeClr val="dk1"/>
              </a:buClr>
              <a:buSzPts val="2800"/>
              <a:buChar char="•"/>
            </a:pPr>
            <a:r>
              <a:rPr lang="en-US"/>
              <a:t>Không thể chuyển hằng trực tiếp vào thanh ghi đoạn</a:t>
            </a:r>
            <a:endParaRPr/>
          </a:p>
          <a:p>
            <a:pPr indent="-285750" lvl="1" marL="742950" rtl="0" algn="l">
              <a:spcBef>
                <a:spcPts val="560"/>
              </a:spcBef>
              <a:spcAft>
                <a:spcPts val="0"/>
              </a:spcAft>
              <a:buClr>
                <a:schemeClr val="dk1"/>
              </a:buClr>
              <a:buSzPts val="2800"/>
              <a:buChar char="•"/>
            </a:pPr>
            <a:r>
              <a:rPr lang="en-US"/>
              <a:t>Không thể chuyển dữ liệu trực tiếp giữa hai thanh ghi đoạn</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MOV  DS, 0B800h	🡪 Sai</a:t>
            </a:r>
            <a:endParaRPr/>
          </a:p>
          <a:p>
            <a:pPr indent="0" lvl="1" marL="457200" rtl="0" algn="l">
              <a:spcBef>
                <a:spcPts val="560"/>
              </a:spcBef>
              <a:spcAft>
                <a:spcPts val="0"/>
              </a:spcAft>
              <a:buClr>
                <a:schemeClr val="dk1"/>
              </a:buClr>
              <a:buSzPts val="2800"/>
              <a:buNone/>
            </a:pPr>
            <a:r>
              <a:rPr lang="en-US"/>
              <a:t>MOV  DS, ES		🡪 Sai</a:t>
            </a:r>
            <a:endParaRPr/>
          </a:p>
          <a:p>
            <a:pPr indent="0" lvl="1" marL="457200" rtl="0" algn="l">
              <a:spcBef>
                <a:spcPts val="560"/>
              </a:spcBef>
              <a:spcAft>
                <a:spcPts val="0"/>
              </a:spcAft>
              <a:buClr>
                <a:schemeClr val="dk1"/>
              </a:buClr>
              <a:buSzPts val="2800"/>
              <a:buNone/>
            </a:pPr>
            <a:r>
              <a:rPr i="1" lang="en-US"/>
              <a:t>🡪 Sử dụng thanh ghi trung gian, thường là thanh ghi đa dụng</a:t>
            </a:r>
            <a:endParaRPr i="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XCHG</a:t>
            </a:r>
            <a:endParaRPr/>
          </a:p>
        </p:txBody>
      </p:sp>
      <p:sp>
        <p:nvSpPr>
          <p:cNvPr id="473" name="Google Shape;473;p4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XCHG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Hoán đổi giá trị của toán hạng </a:t>
            </a:r>
            <a:r>
              <a:rPr lang="en-US">
                <a:solidFill>
                  <a:srgbClr val="FF0000"/>
                </a:solidFill>
              </a:rPr>
              <a:t>source</a:t>
            </a:r>
            <a:r>
              <a:rPr lang="en-US"/>
              <a:t> với </a:t>
            </a:r>
            <a:r>
              <a:rPr lang="en-US">
                <a:solidFill>
                  <a:srgbClr val="FF0000"/>
                </a:solidFill>
              </a:rPr>
              <a:t>dest</a:t>
            </a:r>
            <a:endParaRPr/>
          </a:p>
          <a:p>
            <a:pPr indent="-285750" lvl="1" marL="742950" rtl="0" algn="l">
              <a:spcBef>
                <a:spcPts val="560"/>
              </a:spcBef>
              <a:spcAft>
                <a:spcPts val="0"/>
              </a:spcAft>
              <a:buClr>
                <a:schemeClr val="dk1"/>
              </a:buClr>
              <a:buSzPts val="2800"/>
              <a:buChar char="•"/>
            </a:pPr>
            <a:r>
              <a:rPr lang="en-US"/>
              <a:t>dest, source có thể là Reg, Mem</a:t>
            </a:r>
            <a:endParaRPr/>
          </a:p>
          <a:p>
            <a:pPr indent="-285750" lvl="1" marL="742950" rtl="0" algn="l">
              <a:spcBef>
                <a:spcPts val="560"/>
              </a:spcBef>
              <a:spcAft>
                <a:spcPts val="0"/>
              </a:spcAft>
              <a:buClr>
                <a:schemeClr val="dk1"/>
              </a:buClr>
              <a:buSzPts val="2800"/>
              <a:buChar char="•"/>
            </a:pPr>
            <a:r>
              <a:rPr lang="en-US"/>
              <a:t>dest và source phải cùng kích thước (8/16 bit)</a:t>
            </a:r>
            <a:endParaRPr/>
          </a:p>
          <a:p>
            <a:pPr indent="-285750" lvl="1" marL="742950" rtl="0" algn="l">
              <a:spcBef>
                <a:spcPts val="560"/>
              </a:spcBef>
              <a:spcAft>
                <a:spcPts val="0"/>
              </a:spcAft>
              <a:buClr>
                <a:schemeClr val="dk1"/>
              </a:buClr>
              <a:buSzPts val="2800"/>
              <a:buChar char="•"/>
            </a:pPr>
            <a:r>
              <a:rPr lang="en-US"/>
              <a:t>Không được hoán đổi 2 thanh ghi đoạn với nhau</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XCHG  AX, BX</a:t>
            </a:r>
            <a:endParaRPr/>
          </a:p>
          <a:p>
            <a:pPr indent="0" lvl="1" marL="457200" rtl="0" algn="l">
              <a:spcBef>
                <a:spcPts val="560"/>
              </a:spcBef>
              <a:spcAft>
                <a:spcPts val="0"/>
              </a:spcAft>
              <a:buClr>
                <a:schemeClr val="dk1"/>
              </a:buClr>
              <a:buSzPts val="2800"/>
              <a:buNone/>
            </a:pPr>
            <a:r>
              <a:rPr lang="en-US"/>
              <a:t>XCHG  AL, DS:[100h]</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PUSH</a:t>
            </a:r>
            <a:endParaRPr/>
          </a:p>
        </p:txBody>
      </p:sp>
      <p:sp>
        <p:nvSpPr>
          <p:cNvPr id="479" name="Google Shape;479;p4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PUSH   </a:t>
            </a:r>
            <a:r>
              <a:rPr i="1" lang="en-US">
                <a:solidFill>
                  <a:srgbClr val="FF0000"/>
                </a:solidFill>
              </a:rPr>
              <a:t>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Thêm một phần tử có giá trị là </a:t>
            </a:r>
            <a:r>
              <a:rPr lang="en-US">
                <a:solidFill>
                  <a:srgbClr val="FF0000"/>
                </a:solidFill>
              </a:rPr>
              <a:t>source</a:t>
            </a:r>
            <a:r>
              <a:rPr lang="en-US"/>
              <a:t> vào stack</a:t>
            </a:r>
            <a:endParaRPr>
              <a:solidFill>
                <a:srgbClr val="FF0000"/>
              </a:solidFill>
            </a:endParaRPr>
          </a:p>
          <a:p>
            <a:pPr indent="-285750" lvl="1" marL="742950" rtl="0" algn="l">
              <a:spcBef>
                <a:spcPts val="560"/>
              </a:spcBef>
              <a:spcAft>
                <a:spcPts val="0"/>
              </a:spcAft>
              <a:buClr>
                <a:schemeClr val="dk1"/>
              </a:buClr>
              <a:buSzPts val="2800"/>
              <a:buChar char="•"/>
            </a:pPr>
            <a:r>
              <a:rPr lang="en-US"/>
              <a:t>source có thể là Reg16, Mem16</a:t>
            </a:r>
            <a:endParaRPr/>
          </a:p>
          <a:p>
            <a:pPr indent="-285750" lvl="1" marL="742950" rtl="0" algn="l">
              <a:spcBef>
                <a:spcPts val="560"/>
              </a:spcBef>
              <a:spcAft>
                <a:spcPts val="0"/>
              </a:spcAft>
              <a:buClr>
                <a:schemeClr val="dk1"/>
              </a:buClr>
              <a:buSzPts val="2800"/>
              <a:buChar char="•"/>
            </a:pPr>
            <a:r>
              <a:rPr lang="en-US"/>
              <a:t>SP sẽ giảm đi 2 để trỏ đến offset của phần tử mới</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PUSH  AX</a:t>
            </a:r>
            <a:endParaRPr/>
          </a:p>
          <a:p>
            <a:pPr indent="0" lvl="1" marL="457200" rtl="0" algn="l">
              <a:spcBef>
                <a:spcPts val="560"/>
              </a:spcBef>
              <a:spcAft>
                <a:spcPts val="0"/>
              </a:spcAft>
              <a:buClr>
                <a:schemeClr val="dk1"/>
              </a:buClr>
              <a:buSzPts val="2800"/>
              <a:buNone/>
            </a:pPr>
            <a:r>
              <a:rPr lang="en-US"/>
              <a:t>PUSH  [BX + SI]</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POP</a:t>
            </a:r>
            <a:endParaRPr/>
          </a:p>
        </p:txBody>
      </p:sp>
      <p:sp>
        <p:nvSpPr>
          <p:cNvPr id="485" name="Google Shape;485;p49"/>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POP   </a:t>
            </a:r>
            <a:r>
              <a:rPr i="1" lang="en-US">
                <a:solidFill>
                  <a:srgbClr val="FF0000"/>
                </a:solidFill>
              </a:rPr>
              <a:t>dest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Lấy phần tử trên đỉnh stack đưa vào </a:t>
            </a:r>
            <a:r>
              <a:rPr lang="en-US">
                <a:solidFill>
                  <a:srgbClr val="FF0000"/>
                </a:solidFill>
              </a:rPr>
              <a:t>dest</a:t>
            </a:r>
            <a:endParaRPr/>
          </a:p>
          <a:p>
            <a:pPr indent="-285750" lvl="1" marL="742950" rtl="0" algn="l">
              <a:spcBef>
                <a:spcPts val="560"/>
              </a:spcBef>
              <a:spcAft>
                <a:spcPts val="0"/>
              </a:spcAft>
              <a:buClr>
                <a:schemeClr val="dk1"/>
              </a:buClr>
              <a:buSzPts val="2800"/>
              <a:buChar char="•"/>
            </a:pPr>
            <a:r>
              <a:rPr lang="en-US"/>
              <a:t>dest có thể là Reg16, Mem16</a:t>
            </a:r>
            <a:endParaRPr/>
          </a:p>
          <a:p>
            <a:pPr indent="-285750" lvl="1" marL="742950" rtl="0" algn="l">
              <a:spcBef>
                <a:spcPts val="560"/>
              </a:spcBef>
              <a:spcAft>
                <a:spcPts val="0"/>
              </a:spcAft>
              <a:buClr>
                <a:schemeClr val="dk1"/>
              </a:buClr>
              <a:buSzPts val="2800"/>
              <a:buChar char="•"/>
            </a:pPr>
            <a:r>
              <a:rPr lang="en-US"/>
              <a:t>SP tăng 2 đơn vị do lấy đi bớt 1 phần tử</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POP  BX</a:t>
            </a:r>
            <a:endParaRPr/>
          </a:p>
          <a:p>
            <a:pPr indent="0" lvl="1" marL="457200" rtl="0" algn="l">
              <a:spcBef>
                <a:spcPts val="560"/>
              </a:spcBef>
              <a:spcAft>
                <a:spcPts val="0"/>
              </a:spcAft>
              <a:buClr>
                <a:schemeClr val="dk1"/>
              </a:buClr>
              <a:buSzPts val="2800"/>
              <a:buNone/>
            </a:pPr>
            <a:r>
              <a:rPr lang="en-US"/>
              <a:t>POP  [BX + SI]</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LEA</a:t>
            </a:r>
            <a:endParaRPr/>
          </a:p>
        </p:txBody>
      </p:sp>
      <p:sp>
        <p:nvSpPr>
          <p:cNvPr id="491" name="Google Shape;491;p5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LEA   </a:t>
            </a:r>
            <a:r>
              <a:rPr i="1" lang="en-US">
                <a:solidFill>
                  <a:srgbClr val="FF0000"/>
                </a:solidFill>
              </a:rPr>
              <a:t>Reg16, Mem</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Lấy địa chỉ offset của toán hạng bộ nhớ </a:t>
            </a:r>
            <a:r>
              <a:rPr lang="en-US">
                <a:solidFill>
                  <a:srgbClr val="FF0000"/>
                </a:solidFill>
              </a:rPr>
              <a:t>Mem</a:t>
            </a:r>
            <a:r>
              <a:rPr lang="en-US"/>
              <a:t> lưu vào </a:t>
            </a:r>
            <a:r>
              <a:rPr lang="en-US">
                <a:solidFill>
                  <a:srgbClr val="FF0000"/>
                </a:solidFill>
              </a:rPr>
              <a:t>Reg16</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LEA   BX, B1		; BX = địa chỉ offset của B1</a:t>
            </a:r>
            <a:endParaRPr/>
          </a:p>
          <a:p>
            <a:pPr indent="0" lvl="1" marL="457200" rtl="0" algn="l">
              <a:spcBef>
                <a:spcPts val="560"/>
              </a:spcBef>
              <a:spcAft>
                <a:spcPts val="0"/>
              </a:spcAft>
              <a:buClr>
                <a:schemeClr val="dk1"/>
              </a:buClr>
              <a:buSzPts val="2800"/>
              <a:buNone/>
            </a:pPr>
            <a:r>
              <a:rPr lang="en-US"/>
              <a:t>LEA   SI, DS:[0800h]	; SI = 0800h</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ADD</a:t>
            </a:r>
            <a:endParaRPr/>
          </a:p>
        </p:txBody>
      </p:sp>
      <p:sp>
        <p:nvSpPr>
          <p:cNvPr id="497" name="Google Shape;497;p5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ADD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 source</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Immed</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ADD   AX, BX		; AX = AX + BX</a:t>
            </a:r>
            <a:endParaRPr/>
          </a:p>
          <a:p>
            <a:pPr indent="0" lvl="1" marL="457200" rtl="0" algn="l">
              <a:spcBef>
                <a:spcPts val="560"/>
              </a:spcBef>
              <a:spcAft>
                <a:spcPts val="0"/>
              </a:spcAft>
              <a:buClr>
                <a:schemeClr val="dk1"/>
              </a:buClr>
              <a:buSzPts val="2800"/>
              <a:buNone/>
            </a:pPr>
            <a:r>
              <a:rPr lang="en-US"/>
              <a:t>ADD   DX, 200h		; DX = DX + 200h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ADD (2)</a:t>
            </a:r>
            <a:endParaRPr/>
          </a:p>
        </p:txBody>
      </p:sp>
      <p:sp>
        <p:nvSpPr>
          <p:cNvPr id="503" name="Google Shape;503;p5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Không thể cộng trực tiếp 2 thanh ghi đoạn</a:t>
            </a:r>
            <a:endParaRPr/>
          </a:p>
          <a:p>
            <a:pPr indent="-285750" lvl="1" marL="742950" rtl="0" algn="l">
              <a:spcBef>
                <a:spcPts val="560"/>
              </a:spcBef>
              <a:spcAft>
                <a:spcPts val="0"/>
              </a:spcAft>
              <a:buClr>
                <a:schemeClr val="dk1"/>
              </a:buClr>
              <a:buSzPts val="2800"/>
              <a:buChar char="•"/>
            </a:pPr>
            <a:r>
              <a:rPr lang="en-US"/>
              <a:t>Lệnh ADD ảnh hưởng 6 cờ: AF, CF, OF, PF, SF, ZF</a:t>
            </a:r>
            <a:endParaRPr/>
          </a:p>
          <a:p>
            <a:pPr indent="-228600" lvl="2" marL="1143000" rtl="0" algn="l">
              <a:spcBef>
                <a:spcPts val="480"/>
              </a:spcBef>
              <a:spcAft>
                <a:spcPts val="0"/>
              </a:spcAft>
              <a:buClr>
                <a:schemeClr val="dk1"/>
              </a:buClr>
              <a:buSzPts val="2400"/>
              <a:buChar char="•"/>
            </a:pPr>
            <a:r>
              <a:rPr lang="en-US"/>
              <a:t>AF: bật 1 nếu kết quả phép cộng có nhớ/mượn với 4 bit thấp</a:t>
            </a:r>
            <a:endParaRPr/>
          </a:p>
          <a:p>
            <a:pPr indent="-228600" lvl="2" marL="1143000" rtl="0" algn="l">
              <a:spcBef>
                <a:spcPts val="480"/>
              </a:spcBef>
              <a:spcAft>
                <a:spcPts val="0"/>
              </a:spcAft>
              <a:buClr>
                <a:schemeClr val="dk1"/>
              </a:buClr>
              <a:buSzPts val="2400"/>
              <a:buChar char="•"/>
            </a:pPr>
            <a:r>
              <a:rPr lang="en-US"/>
              <a:t>CF: bật 1 nếu kết quả phép cộng có nhớ/mượn</a:t>
            </a:r>
            <a:endParaRPr/>
          </a:p>
          <a:p>
            <a:pPr indent="-228600" lvl="2" marL="1143000" rtl="0" algn="l">
              <a:spcBef>
                <a:spcPts val="480"/>
              </a:spcBef>
              <a:spcAft>
                <a:spcPts val="0"/>
              </a:spcAft>
              <a:buClr>
                <a:schemeClr val="dk1"/>
              </a:buClr>
              <a:buSzPts val="2400"/>
              <a:buChar char="•"/>
            </a:pPr>
            <a:r>
              <a:rPr lang="en-US"/>
              <a:t>PF: bật 1 nếu kết quả có tổng 8 bit thấp là số chẵn</a:t>
            </a:r>
            <a:endParaRPr/>
          </a:p>
          <a:p>
            <a:pPr indent="-228600" lvl="2" marL="1143000" rtl="0" algn="l">
              <a:spcBef>
                <a:spcPts val="480"/>
              </a:spcBef>
              <a:spcAft>
                <a:spcPts val="0"/>
              </a:spcAft>
              <a:buClr>
                <a:schemeClr val="dk1"/>
              </a:buClr>
              <a:buSzPts val="2400"/>
              <a:buChar char="•"/>
            </a:pPr>
            <a:r>
              <a:rPr lang="en-US"/>
              <a:t>ZF: bật 1 nếu kết quả là 0</a:t>
            </a:r>
            <a:endParaRPr/>
          </a:p>
          <a:p>
            <a:pPr indent="-228600" lvl="2" marL="1143000" rtl="0" algn="l">
              <a:spcBef>
                <a:spcPts val="480"/>
              </a:spcBef>
              <a:spcAft>
                <a:spcPts val="0"/>
              </a:spcAft>
              <a:buClr>
                <a:schemeClr val="dk1"/>
              </a:buClr>
              <a:buSzPts val="2400"/>
              <a:buChar char="•"/>
            </a:pPr>
            <a:r>
              <a:rPr lang="en-US"/>
              <a:t>SF: bật 1 nếu kết quả là số âm (bit cao nhất là 1)</a:t>
            </a:r>
            <a:endParaRPr/>
          </a:p>
          <a:p>
            <a:pPr indent="-228600" lvl="2" marL="1143000" rtl="0" algn="l">
              <a:spcBef>
                <a:spcPts val="480"/>
              </a:spcBef>
              <a:spcAft>
                <a:spcPts val="0"/>
              </a:spcAft>
              <a:buClr>
                <a:schemeClr val="dk1"/>
              </a:buClr>
              <a:buSzPts val="2400"/>
              <a:buChar char="•"/>
            </a:pPr>
            <a:r>
              <a:rPr lang="en-US"/>
              <a:t>OF: bật 1 nếu kết quả là số có dấu bị sai (không đủ chứa số có dấu trong dest)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INC</a:t>
            </a:r>
            <a:endParaRPr/>
          </a:p>
        </p:txBody>
      </p:sp>
      <p:sp>
        <p:nvSpPr>
          <p:cNvPr id="509" name="Google Shape;509;p5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INC   </a:t>
            </a:r>
            <a:r>
              <a:rPr i="1" lang="en-US">
                <a:solidFill>
                  <a:srgbClr val="FF0000"/>
                </a:solidFill>
              </a:rPr>
              <a:t>dest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+ 1</a:t>
            </a:r>
            <a:endParaRPr/>
          </a:p>
          <a:p>
            <a:pPr indent="-285750" lvl="1" marL="742950" rtl="0" algn="l">
              <a:spcBef>
                <a:spcPts val="560"/>
              </a:spcBef>
              <a:spcAft>
                <a:spcPts val="0"/>
              </a:spcAft>
              <a:buClr>
                <a:schemeClr val="dk1"/>
              </a:buClr>
              <a:buSzPts val="2800"/>
              <a:buChar char="•"/>
            </a:pPr>
            <a:r>
              <a:rPr lang="en-US"/>
              <a:t>dest có thể là Reg, Mem</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INC   AX		; AX = AX + 1</a:t>
            </a:r>
            <a:endParaRPr/>
          </a:p>
          <a:p>
            <a:pPr indent="0" lvl="1" marL="457200" rtl="0" algn="l">
              <a:spcBef>
                <a:spcPts val="560"/>
              </a:spcBef>
              <a:spcAft>
                <a:spcPts val="0"/>
              </a:spcAft>
              <a:buClr>
                <a:schemeClr val="dk1"/>
              </a:buClr>
              <a:buSzPts val="2800"/>
              <a:buNone/>
            </a:pPr>
            <a:r>
              <a:rPr lang="en-US"/>
              <a:t>INC   W1		; W1 = W1 + 1</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SUB</a:t>
            </a:r>
            <a:endParaRPr/>
          </a:p>
        </p:txBody>
      </p:sp>
      <p:sp>
        <p:nvSpPr>
          <p:cNvPr id="515" name="Google Shape;515;p5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SUB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 source</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Immed</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SUB   AX, BX		; AX = AX - BX</a:t>
            </a:r>
            <a:endParaRPr/>
          </a:p>
          <a:p>
            <a:pPr indent="0" lvl="1" marL="457200" rtl="0" algn="l">
              <a:spcBef>
                <a:spcPts val="560"/>
              </a:spcBef>
              <a:spcAft>
                <a:spcPts val="0"/>
              </a:spcAft>
              <a:buClr>
                <a:schemeClr val="dk1"/>
              </a:buClr>
              <a:buSzPts val="2800"/>
              <a:buNone/>
            </a:pPr>
            <a:r>
              <a:rPr lang="en-US"/>
              <a:t>SUB   DX, 200h		; DX = DX - 200h</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SUB (2)</a:t>
            </a:r>
            <a:endParaRPr/>
          </a:p>
        </p:txBody>
      </p:sp>
      <p:sp>
        <p:nvSpPr>
          <p:cNvPr id="521" name="Google Shape;521;p5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Không thể trừ trực tiếp 2 thanh ghi đoạn</a:t>
            </a:r>
            <a:endParaRPr/>
          </a:p>
          <a:p>
            <a:pPr indent="-285750" lvl="1" marL="742950" rtl="0" algn="l">
              <a:spcBef>
                <a:spcPts val="560"/>
              </a:spcBef>
              <a:spcAft>
                <a:spcPts val="0"/>
              </a:spcAft>
              <a:buClr>
                <a:schemeClr val="dk1"/>
              </a:buClr>
              <a:buSzPts val="2800"/>
              <a:buChar char="•"/>
            </a:pPr>
            <a:r>
              <a:rPr lang="en-US"/>
              <a:t>Lệnh SUB ảnh hưởng 6 cờ: AF, CF, OF, PF, SF, ZF</a:t>
            </a:r>
            <a:endParaRPr/>
          </a:p>
          <a:p>
            <a:pPr indent="-228600" lvl="2" marL="1143000" rtl="0" algn="l">
              <a:spcBef>
                <a:spcPts val="480"/>
              </a:spcBef>
              <a:spcAft>
                <a:spcPts val="0"/>
              </a:spcAft>
              <a:buClr>
                <a:schemeClr val="dk1"/>
              </a:buClr>
              <a:buSzPts val="2400"/>
              <a:buChar char="•"/>
            </a:pPr>
            <a:r>
              <a:rPr lang="en-US"/>
              <a:t>AF: bật 1 nếu kết quả phép trừ có nhớ/mượn với 4 bit thấp</a:t>
            </a:r>
            <a:endParaRPr/>
          </a:p>
          <a:p>
            <a:pPr indent="-228600" lvl="2" marL="1143000" rtl="0" algn="l">
              <a:spcBef>
                <a:spcPts val="480"/>
              </a:spcBef>
              <a:spcAft>
                <a:spcPts val="0"/>
              </a:spcAft>
              <a:buClr>
                <a:schemeClr val="dk1"/>
              </a:buClr>
              <a:buSzPts val="2400"/>
              <a:buChar char="•"/>
            </a:pPr>
            <a:r>
              <a:rPr lang="en-US"/>
              <a:t>CF: bật 1 nếu kết quả phép trừ có nhớ/mượn</a:t>
            </a:r>
            <a:endParaRPr/>
          </a:p>
          <a:p>
            <a:pPr indent="-228600" lvl="2" marL="1143000" rtl="0" algn="l">
              <a:spcBef>
                <a:spcPts val="480"/>
              </a:spcBef>
              <a:spcAft>
                <a:spcPts val="0"/>
              </a:spcAft>
              <a:buClr>
                <a:schemeClr val="dk1"/>
              </a:buClr>
              <a:buSzPts val="2400"/>
              <a:buChar char="•"/>
            </a:pPr>
            <a:r>
              <a:rPr lang="en-US"/>
              <a:t>PF: bật 1 nếu kết quả có tổng 8 bit thấp là số chẵn</a:t>
            </a:r>
            <a:endParaRPr/>
          </a:p>
          <a:p>
            <a:pPr indent="-228600" lvl="2" marL="1143000" rtl="0" algn="l">
              <a:spcBef>
                <a:spcPts val="480"/>
              </a:spcBef>
              <a:spcAft>
                <a:spcPts val="0"/>
              </a:spcAft>
              <a:buClr>
                <a:schemeClr val="dk1"/>
              </a:buClr>
              <a:buSzPts val="2400"/>
              <a:buChar char="•"/>
            </a:pPr>
            <a:r>
              <a:rPr lang="en-US"/>
              <a:t>ZF: bật 1 nếu kết quả là 0</a:t>
            </a:r>
            <a:endParaRPr/>
          </a:p>
          <a:p>
            <a:pPr indent="-228600" lvl="2" marL="1143000" rtl="0" algn="l">
              <a:spcBef>
                <a:spcPts val="480"/>
              </a:spcBef>
              <a:spcAft>
                <a:spcPts val="0"/>
              </a:spcAft>
              <a:buClr>
                <a:schemeClr val="dk1"/>
              </a:buClr>
              <a:buSzPts val="2400"/>
              <a:buChar char="•"/>
            </a:pPr>
            <a:r>
              <a:rPr lang="en-US"/>
              <a:t>SF: bật 1 nếu kết quả là số âm (bit cao nhất là 1)</a:t>
            </a:r>
            <a:endParaRPr/>
          </a:p>
          <a:p>
            <a:pPr indent="-228600" lvl="2" marL="1143000" rtl="0" algn="l">
              <a:spcBef>
                <a:spcPts val="480"/>
              </a:spcBef>
              <a:spcAft>
                <a:spcPts val="0"/>
              </a:spcAft>
              <a:buClr>
                <a:schemeClr val="dk1"/>
              </a:buClr>
              <a:buSzPts val="2400"/>
              <a:buChar char="•"/>
            </a:pPr>
            <a:r>
              <a:rPr lang="en-US"/>
              <a:t>OF: bật 1 nếu kết quả là số có dấu bị sai (không đủ chứa số có dấu trong dest)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DEC</a:t>
            </a:r>
            <a:endParaRPr/>
          </a:p>
        </p:txBody>
      </p:sp>
      <p:sp>
        <p:nvSpPr>
          <p:cNvPr id="527" name="Google Shape;527;p5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DEC   </a:t>
            </a:r>
            <a:r>
              <a:rPr i="1" lang="en-US">
                <a:solidFill>
                  <a:srgbClr val="FF0000"/>
                </a:solidFill>
              </a:rPr>
              <a:t>dest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- 1</a:t>
            </a:r>
            <a:endParaRPr/>
          </a:p>
          <a:p>
            <a:pPr indent="-285750" lvl="1" marL="742950" rtl="0" algn="l">
              <a:spcBef>
                <a:spcPts val="560"/>
              </a:spcBef>
              <a:spcAft>
                <a:spcPts val="0"/>
              </a:spcAft>
              <a:buClr>
                <a:schemeClr val="dk1"/>
              </a:buClr>
              <a:buSzPts val="2800"/>
              <a:buChar char="•"/>
            </a:pPr>
            <a:r>
              <a:rPr lang="en-US"/>
              <a:t>dest có thể là Reg, Mem</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DEC   AX		; AX = AX - 1</a:t>
            </a:r>
            <a:endParaRPr/>
          </a:p>
          <a:p>
            <a:pPr indent="0" lvl="1" marL="457200" rtl="0" algn="l">
              <a:spcBef>
                <a:spcPts val="560"/>
              </a:spcBef>
              <a:spcAft>
                <a:spcPts val="0"/>
              </a:spcAft>
              <a:buClr>
                <a:schemeClr val="dk1"/>
              </a:buClr>
              <a:buSzPts val="2800"/>
              <a:buNone/>
            </a:pPr>
            <a:r>
              <a:rPr lang="en-US"/>
              <a:t>DEC   W1		; W1 = W1 - 1</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NEG</a:t>
            </a:r>
            <a:endParaRPr/>
          </a:p>
        </p:txBody>
      </p:sp>
      <p:sp>
        <p:nvSpPr>
          <p:cNvPr id="533" name="Google Shape;533;p5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NEG   </a:t>
            </a:r>
            <a:r>
              <a:rPr i="1" lang="en-US">
                <a:solidFill>
                  <a:srgbClr val="FF0000"/>
                </a:solidFill>
              </a:rPr>
              <a:t>dest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 dest</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Lệnh NEG ảnh hưởng 6 cờ AF, CF, SF, PF, ZF, OF</a:t>
            </a:r>
            <a:endParaRPr/>
          </a:p>
          <a:p>
            <a:pPr indent="-342900" lvl="0" marL="342900" rtl="0" algn="l">
              <a:spcBef>
                <a:spcPts val="640"/>
              </a:spcBef>
              <a:spcAft>
                <a:spcPts val="0"/>
              </a:spcAft>
              <a:buClr>
                <a:schemeClr val="dk1"/>
              </a:buClr>
              <a:buSzPts val="1280"/>
              <a:buChar char="❑"/>
            </a:pPr>
            <a:r>
              <a:rPr lang="en-US"/>
              <a:t>Ví dụ</a:t>
            </a:r>
            <a:endParaRPr/>
          </a:p>
          <a:p>
            <a:pPr indent="0" lvl="1" marL="457200" rtl="0" algn="l">
              <a:spcBef>
                <a:spcPts val="560"/>
              </a:spcBef>
              <a:spcAft>
                <a:spcPts val="0"/>
              </a:spcAft>
              <a:buClr>
                <a:schemeClr val="dk1"/>
              </a:buClr>
              <a:buSzPts val="2800"/>
              <a:buNone/>
            </a:pPr>
            <a:r>
              <a:rPr lang="en-US"/>
              <a:t>NEG   AX		; AX = - AX</a:t>
            </a:r>
            <a:endParaRPr/>
          </a:p>
          <a:p>
            <a:pPr indent="0" lvl="1" marL="457200" rtl="0" algn="l">
              <a:spcBef>
                <a:spcPts val="560"/>
              </a:spcBef>
              <a:spcAft>
                <a:spcPts val="0"/>
              </a:spcAft>
              <a:buClr>
                <a:schemeClr val="dk1"/>
              </a:buClr>
              <a:buSzPts val="2800"/>
              <a:buNone/>
            </a:pPr>
            <a:r>
              <a:rPr lang="en-US"/>
              <a:t>DEC   W1		; W1 = - W1</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MUL</a:t>
            </a:r>
            <a:endParaRPr/>
          </a:p>
        </p:txBody>
      </p:sp>
      <p:sp>
        <p:nvSpPr>
          <p:cNvPr id="539" name="Google Shape;539;p5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MUL   </a:t>
            </a:r>
            <a:r>
              <a:rPr i="1" lang="en-US">
                <a:solidFill>
                  <a:srgbClr val="FF0000"/>
                </a:solidFill>
              </a:rPr>
              <a:t>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Nhân số nguyên không dấu, source có thể là Reg,  Mem</a:t>
            </a:r>
            <a:endParaRPr/>
          </a:p>
          <a:p>
            <a:pPr indent="-285750" lvl="1" marL="742950" rtl="0" algn="l">
              <a:spcBef>
                <a:spcPts val="560"/>
              </a:spcBef>
              <a:spcAft>
                <a:spcPts val="0"/>
              </a:spcAft>
              <a:buClr>
                <a:schemeClr val="dk1"/>
              </a:buClr>
              <a:buSzPts val="2800"/>
              <a:buChar char="•"/>
            </a:pPr>
            <a:r>
              <a:rPr lang="en-US"/>
              <a:t>Nếu source là </a:t>
            </a:r>
            <a:r>
              <a:rPr b="1" lang="en-US"/>
              <a:t>8 bit</a:t>
            </a:r>
            <a:r>
              <a:rPr lang="en-US"/>
              <a:t> thì </a:t>
            </a:r>
            <a:r>
              <a:rPr b="1" lang="en-US"/>
              <a:t>AX = AL * source</a:t>
            </a:r>
            <a:endParaRPr/>
          </a:p>
          <a:p>
            <a:pPr indent="-285750" lvl="1" marL="742950" rtl="0" algn="l">
              <a:spcBef>
                <a:spcPts val="560"/>
              </a:spcBef>
              <a:spcAft>
                <a:spcPts val="0"/>
              </a:spcAft>
              <a:buClr>
                <a:schemeClr val="dk1"/>
              </a:buClr>
              <a:buSzPts val="2800"/>
              <a:buChar char="•"/>
            </a:pPr>
            <a:r>
              <a:rPr lang="en-US"/>
              <a:t>Nếu source là </a:t>
            </a:r>
            <a:r>
              <a:rPr b="1" lang="en-US"/>
              <a:t>16 bit</a:t>
            </a:r>
            <a:r>
              <a:rPr lang="en-US"/>
              <a:t> thì </a:t>
            </a:r>
            <a:r>
              <a:rPr b="1" lang="en-US"/>
              <a:t>DX:AX = AX * source</a:t>
            </a:r>
            <a:br>
              <a:rPr lang="en-US"/>
            </a:br>
            <a:r>
              <a:rPr lang="en-US"/>
              <a:t>Trong đó DX là 16 bit cao và AX là 16 bit thấp của kết quả (</a:t>
            </a:r>
            <a:r>
              <a:rPr b="1" lang="en-US"/>
              <a:t>32 bit</a:t>
            </a:r>
            <a:r>
              <a:rPr lang="en-US"/>
              <a:t>)</a:t>
            </a:r>
            <a:endParaRPr/>
          </a:p>
          <a:p>
            <a:pPr indent="-285750" lvl="1" marL="742950" rtl="0" algn="l">
              <a:spcBef>
                <a:spcPts val="560"/>
              </a:spcBef>
              <a:spcAft>
                <a:spcPts val="0"/>
              </a:spcAft>
              <a:buClr>
                <a:schemeClr val="dk1"/>
              </a:buClr>
              <a:buSzPts val="2800"/>
              <a:buChar char="•"/>
            </a:pPr>
            <a:r>
              <a:rPr lang="en-US"/>
              <a:t>Cờ CF và OF bật 1 nếu phần cao của kết quả (AH/DX) khác 0</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MUL (2)</a:t>
            </a:r>
            <a:endParaRPr/>
          </a:p>
        </p:txBody>
      </p:sp>
      <p:sp>
        <p:nvSpPr>
          <p:cNvPr id="545" name="Google Shape;545;p59"/>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Ví dụ</a:t>
            </a:r>
            <a:endParaRPr/>
          </a:p>
          <a:p>
            <a:pPr indent="-285750" lvl="1" marL="742950" rtl="0" algn="l">
              <a:spcBef>
                <a:spcPts val="560"/>
              </a:spcBef>
              <a:spcAft>
                <a:spcPts val="0"/>
              </a:spcAft>
              <a:buClr>
                <a:schemeClr val="dk1"/>
              </a:buClr>
              <a:buSzPts val="2800"/>
              <a:buChar char="•"/>
            </a:pPr>
            <a:r>
              <a:rPr lang="en-US"/>
              <a:t>Nhân 8 bit</a:t>
            </a:r>
            <a:endParaRPr/>
          </a:p>
          <a:p>
            <a:pPr indent="0" lvl="1" marL="457200" rtl="0" algn="l">
              <a:spcBef>
                <a:spcPts val="560"/>
              </a:spcBef>
              <a:spcAft>
                <a:spcPts val="0"/>
              </a:spcAft>
              <a:buClr>
                <a:schemeClr val="dk1"/>
              </a:buClr>
              <a:buSzPts val="2800"/>
              <a:buNone/>
            </a:pPr>
            <a:r>
              <a:rPr lang="en-US"/>
              <a:t>		MOV  AL, 212</a:t>
            </a:r>
            <a:endParaRPr/>
          </a:p>
          <a:p>
            <a:pPr indent="0" lvl="1" marL="457200" rtl="0" algn="l">
              <a:spcBef>
                <a:spcPts val="560"/>
              </a:spcBef>
              <a:spcAft>
                <a:spcPts val="0"/>
              </a:spcAft>
              <a:buClr>
                <a:schemeClr val="dk1"/>
              </a:buClr>
              <a:buSzPts val="2800"/>
              <a:buNone/>
            </a:pPr>
            <a:r>
              <a:rPr lang="en-US"/>
              <a:t>		MOV  BL, 45</a:t>
            </a:r>
            <a:endParaRPr/>
          </a:p>
          <a:p>
            <a:pPr indent="0" lvl="1" marL="457200" rtl="0" algn="l">
              <a:spcBef>
                <a:spcPts val="560"/>
              </a:spcBef>
              <a:spcAft>
                <a:spcPts val="0"/>
              </a:spcAft>
              <a:buClr>
                <a:schemeClr val="dk1"/>
              </a:buClr>
              <a:buSzPts val="2800"/>
              <a:buNone/>
            </a:pPr>
            <a:r>
              <a:rPr lang="en-US"/>
              <a:t>		MUL   BL		; AX = AL * BL = 9540</a:t>
            </a:r>
            <a:endParaRPr/>
          </a:p>
          <a:p>
            <a:pPr indent="-285750" lvl="1" marL="742950" rtl="0" algn="l">
              <a:spcBef>
                <a:spcPts val="560"/>
              </a:spcBef>
              <a:spcAft>
                <a:spcPts val="0"/>
              </a:spcAft>
              <a:buClr>
                <a:schemeClr val="dk1"/>
              </a:buClr>
              <a:buSzPts val="2800"/>
              <a:buChar char="•"/>
            </a:pPr>
            <a:r>
              <a:rPr lang="en-US"/>
              <a:t>Nhân 16 bit</a:t>
            </a:r>
            <a:endParaRPr/>
          </a:p>
          <a:p>
            <a:pPr indent="0" lvl="1" marL="457200" rtl="0" algn="l">
              <a:spcBef>
                <a:spcPts val="560"/>
              </a:spcBef>
              <a:spcAft>
                <a:spcPts val="0"/>
              </a:spcAft>
              <a:buClr>
                <a:schemeClr val="dk1"/>
              </a:buClr>
              <a:buSzPts val="2800"/>
              <a:buNone/>
            </a:pPr>
            <a:r>
              <a:rPr lang="en-US"/>
              <a:t>		MOV   AX, 1990</a:t>
            </a:r>
            <a:endParaRPr/>
          </a:p>
          <a:p>
            <a:pPr indent="0" lvl="1" marL="457200" rtl="0" algn="l">
              <a:spcBef>
                <a:spcPts val="560"/>
              </a:spcBef>
              <a:spcAft>
                <a:spcPts val="0"/>
              </a:spcAft>
              <a:buClr>
                <a:schemeClr val="dk1"/>
              </a:buClr>
              <a:buSzPts val="2800"/>
              <a:buNone/>
            </a:pPr>
            <a:r>
              <a:rPr lang="en-US"/>
              <a:t>		MOV   BX, 2013</a:t>
            </a:r>
            <a:endParaRPr/>
          </a:p>
          <a:p>
            <a:pPr indent="0" lvl="1" marL="457200" rtl="0" algn="l">
              <a:spcBef>
                <a:spcPts val="560"/>
              </a:spcBef>
              <a:spcAft>
                <a:spcPts val="0"/>
              </a:spcAft>
              <a:buClr>
                <a:schemeClr val="dk1"/>
              </a:buClr>
              <a:buSzPts val="2800"/>
              <a:buNone/>
            </a:pPr>
            <a:r>
              <a:rPr lang="en-US"/>
              <a:t>		MUL    BX</a:t>
            </a:r>
            <a:endParaRPr/>
          </a:p>
          <a:p>
            <a:pPr indent="0" lvl="1" marL="457200" rtl="0" algn="l">
              <a:spcBef>
                <a:spcPts val="560"/>
              </a:spcBef>
              <a:spcAft>
                <a:spcPts val="0"/>
              </a:spcAft>
              <a:buClr>
                <a:schemeClr val="dk1"/>
              </a:buClr>
              <a:buSzPts val="2800"/>
              <a:buNone/>
            </a:pPr>
            <a:r>
              <a:rPr lang="en-US"/>
              <a:t>;  AX * BX = 003D1FEEh  🡪 DX = 003Dh , AX = 1FEEh</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DIV</a:t>
            </a:r>
            <a:endParaRPr/>
          </a:p>
        </p:txBody>
      </p:sp>
      <p:sp>
        <p:nvSpPr>
          <p:cNvPr id="551" name="Google Shape;551;p6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0" marL="0" rtl="0" algn="l">
              <a:spcBef>
                <a:spcPts val="640"/>
              </a:spcBef>
              <a:spcAft>
                <a:spcPts val="0"/>
              </a:spcAft>
              <a:buClr>
                <a:srgbClr val="FF0000"/>
              </a:buClr>
              <a:buSzPts val="1280"/>
              <a:buNone/>
            </a:pPr>
            <a:r>
              <a:rPr lang="en-US">
                <a:solidFill>
                  <a:srgbClr val="FF0000"/>
                </a:solidFill>
              </a:rPr>
              <a:t>		DIV   </a:t>
            </a:r>
            <a:r>
              <a:rPr i="1" lang="en-US">
                <a:solidFill>
                  <a:srgbClr val="FF0000"/>
                </a:solidFill>
              </a:rPr>
              <a:t>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Chia số nguyên không dấu, source có thể là Reg, Mem</a:t>
            </a:r>
            <a:endParaRPr/>
          </a:p>
          <a:p>
            <a:pPr indent="-285750" lvl="1" marL="742950" rtl="0" algn="l">
              <a:spcBef>
                <a:spcPts val="560"/>
              </a:spcBef>
              <a:spcAft>
                <a:spcPts val="0"/>
              </a:spcAft>
              <a:buClr>
                <a:schemeClr val="dk1"/>
              </a:buClr>
              <a:buSzPts val="2800"/>
              <a:buChar char="•"/>
            </a:pPr>
            <a:r>
              <a:rPr lang="en-US"/>
              <a:t>Nếu source 8 bit thì lấy AX chia cho source, phần nguyên lưu vào AL, phần dư lưu vào AH</a:t>
            </a:r>
            <a:endParaRPr/>
          </a:p>
          <a:p>
            <a:pPr indent="-285750" lvl="1" marL="742950" rtl="0" algn="l">
              <a:spcBef>
                <a:spcPts val="560"/>
              </a:spcBef>
              <a:spcAft>
                <a:spcPts val="0"/>
              </a:spcAft>
              <a:buClr>
                <a:schemeClr val="dk1"/>
              </a:buClr>
              <a:buSzPts val="2800"/>
              <a:buChar char="•"/>
            </a:pPr>
            <a:r>
              <a:rPr lang="en-US"/>
              <a:t>Nếu source là 16 bit thì ghép DX:AX thành toán hạng 32 bit chia cho source, phần nguyên lưu vào AX, phần dư lưu vào DX</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DIV (2)</a:t>
            </a:r>
            <a:endParaRPr/>
          </a:p>
        </p:txBody>
      </p:sp>
      <p:sp>
        <p:nvSpPr>
          <p:cNvPr id="557" name="Google Shape;557;p6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Ví dụ</a:t>
            </a:r>
            <a:endParaRPr/>
          </a:p>
          <a:p>
            <a:pPr indent="-285750" lvl="1" marL="742950" rtl="0" algn="l">
              <a:spcBef>
                <a:spcPts val="560"/>
              </a:spcBef>
              <a:spcAft>
                <a:spcPts val="0"/>
              </a:spcAft>
              <a:buClr>
                <a:schemeClr val="dk1"/>
              </a:buClr>
              <a:buSzPts val="2800"/>
              <a:buChar char="•"/>
            </a:pPr>
            <a:r>
              <a:rPr lang="en-US"/>
              <a:t>Chia 8 bit</a:t>
            </a:r>
            <a:endParaRPr/>
          </a:p>
          <a:p>
            <a:pPr indent="0" lvl="1" marL="457200" rtl="0" algn="l">
              <a:spcBef>
                <a:spcPts val="560"/>
              </a:spcBef>
              <a:spcAft>
                <a:spcPts val="0"/>
              </a:spcAft>
              <a:buClr>
                <a:schemeClr val="dk1"/>
              </a:buClr>
              <a:buSzPts val="2800"/>
              <a:buNone/>
            </a:pPr>
            <a:r>
              <a:rPr lang="en-US"/>
              <a:t>		MOV  AX, 1981</a:t>
            </a:r>
            <a:endParaRPr/>
          </a:p>
          <a:p>
            <a:pPr indent="0" lvl="1" marL="457200" rtl="0" algn="l">
              <a:spcBef>
                <a:spcPts val="560"/>
              </a:spcBef>
              <a:spcAft>
                <a:spcPts val="0"/>
              </a:spcAft>
              <a:buClr>
                <a:schemeClr val="dk1"/>
              </a:buClr>
              <a:buSzPts val="2800"/>
              <a:buNone/>
            </a:pPr>
            <a:r>
              <a:rPr lang="en-US"/>
              <a:t>		MOV  BL, 10</a:t>
            </a:r>
            <a:endParaRPr/>
          </a:p>
          <a:p>
            <a:pPr indent="0" lvl="1" marL="457200" rtl="0" algn="l">
              <a:spcBef>
                <a:spcPts val="560"/>
              </a:spcBef>
              <a:spcAft>
                <a:spcPts val="0"/>
              </a:spcAft>
              <a:buClr>
                <a:schemeClr val="dk1"/>
              </a:buClr>
              <a:buSzPts val="2800"/>
              <a:buNone/>
            </a:pPr>
            <a:r>
              <a:rPr lang="en-US"/>
              <a:t>		DIV     BL		; AL = 198 , AH = 1</a:t>
            </a:r>
            <a:endParaRPr/>
          </a:p>
          <a:p>
            <a:pPr indent="-285750" lvl="1" marL="742950" rtl="0" algn="l">
              <a:spcBef>
                <a:spcPts val="560"/>
              </a:spcBef>
              <a:spcAft>
                <a:spcPts val="0"/>
              </a:spcAft>
              <a:buClr>
                <a:schemeClr val="dk1"/>
              </a:buClr>
              <a:buSzPts val="2800"/>
              <a:buChar char="•"/>
            </a:pPr>
            <a:r>
              <a:rPr lang="en-US"/>
              <a:t>Chia 16 bit</a:t>
            </a:r>
            <a:endParaRPr/>
          </a:p>
          <a:p>
            <a:pPr indent="0" lvl="1" marL="457200" rtl="0" algn="l">
              <a:spcBef>
                <a:spcPts val="560"/>
              </a:spcBef>
              <a:spcAft>
                <a:spcPts val="0"/>
              </a:spcAft>
              <a:buClr>
                <a:schemeClr val="dk1"/>
              </a:buClr>
              <a:buSzPts val="2800"/>
              <a:buNone/>
            </a:pPr>
            <a:r>
              <a:rPr lang="en-US"/>
              <a:t>		MOV  AX, 2013</a:t>
            </a:r>
            <a:endParaRPr/>
          </a:p>
          <a:p>
            <a:pPr indent="0" lvl="1" marL="457200" rtl="0" algn="l">
              <a:spcBef>
                <a:spcPts val="560"/>
              </a:spcBef>
              <a:spcAft>
                <a:spcPts val="0"/>
              </a:spcAft>
              <a:buClr>
                <a:schemeClr val="dk1"/>
              </a:buClr>
              <a:buSzPts val="2800"/>
              <a:buNone/>
            </a:pPr>
            <a:r>
              <a:rPr lang="en-US"/>
              <a:t>		MOV  DX, 0</a:t>
            </a:r>
            <a:endParaRPr/>
          </a:p>
          <a:p>
            <a:pPr indent="0" lvl="1" marL="457200" rtl="0" algn="l">
              <a:spcBef>
                <a:spcPts val="560"/>
              </a:spcBef>
              <a:spcAft>
                <a:spcPts val="0"/>
              </a:spcAft>
              <a:buClr>
                <a:schemeClr val="dk1"/>
              </a:buClr>
              <a:buSzPts val="2800"/>
              <a:buNone/>
            </a:pPr>
            <a:r>
              <a:rPr lang="en-US"/>
              <a:t>		MOV  BX, 10</a:t>
            </a:r>
            <a:endParaRPr/>
          </a:p>
          <a:p>
            <a:pPr indent="0" lvl="1" marL="457200" rtl="0" algn="l">
              <a:spcBef>
                <a:spcPts val="560"/>
              </a:spcBef>
              <a:spcAft>
                <a:spcPts val="0"/>
              </a:spcAft>
              <a:buClr>
                <a:schemeClr val="dk1"/>
              </a:buClr>
              <a:buSzPts val="2800"/>
              <a:buNone/>
            </a:pPr>
            <a:r>
              <a:rPr lang="en-US"/>
              <a:t>		DIV     BX		; AX = 201 , DX = 3</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DIV (3)</a:t>
            </a:r>
            <a:endParaRPr/>
          </a:p>
        </p:txBody>
      </p:sp>
      <p:sp>
        <p:nvSpPr>
          <p:cNvPr id="563" name="Google Shape;563;p6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Lệnh DIV không ảnh hưởng các cờ hiệu</a:t>
            </a:r>
            <a:endParaRPr/>
          </a:p>
          <a:p>
            <a:pPr indent="-285750" lvl="1" marL="742950" rtl="0" algn="l">
              <a:spcBef>
                <a:spcPts val="560"/>
              </a:spcBef>
              <a:spcAft>
                <a:spcPts val="0"/>
              </a:spcAft>
              <a:buClr>
                <a:schemeClr val="dk1"/>
              </a:buClr>
              <a:buSzPts val="2800"/>
              <a:buChar char="•"/>
            </a:pPr>
            <a:r>
              <a:rPr lang="en-US"/>
              <a:t>CPU sẽ phát sinh ngắt nội bộ “divide overflow” và chấm dứt chương trình khi:</a:t>
            </a:r>
            <a:endParaRPr/>
          </a:p>
          <a:p>
            <a:pPr indent="-228600" lvl="2" marL="1143000" rtl="0" algn="l">
              <a:spcBef>
                <a:spcPts val="480"/>
              </a:spcBef>
              <a:spcAft>
                <a:spcPts val="0"/>
              </a:spcAft>
              <a:buClr>
                <a:schemeClr val="dk1"/>
              </a:buClr>
              <a:buSzPts val="2400"/>
              <a:buChar char="•"/>
            </a:pPr>
            <a:r>
              <a:rPr lang="en-US"/>
              <a:t>Chia số cho 0</a:t>
            </a:r>
            <a:endParaRPr/>
          </a:p>
          <a:p>
            <a:pPr indent="-228600" lvl="2" marL="1143000" rtl="0" algn="l">
              <a:spcBef>
                <a:spcPts val="480"/>
              </a:spcBef>
              <a:spcAft>
                <a:spcPts val="0"/>
              </a:spcAft>
              <a:buClr>
                <a:schemeClr val="dk1"/>
              </a:buClr>
              <a:buSzPts val="2400"/>
              <a:buChar char="•"/>
            </a:pPr>
            <a:r>
              <a:rPr lang="en-US"/>
              <a:t>Phần nguyên kết quả lớn hơn 255 đối với chia 8 bit</a:t>
            </a:r>
            <a:endParaRPr/>
          </a:p>
          <a:p>
            <a:pPr indent="-228600" lvl="2" marL="1143000" rtl="0" algn="l">
              <a:spcBef>
                <a:spcPts val="480"/>
              </a:spcBef>
              <a:spcAft>
                <a:spcPts val="0"/>
              </a:spcAft>
              <a:buClr>
                <a:schemeClr val="dk1"/>
              </a:buClr>
              <a:buSzPts val="2400"/>
              <a:buChar char="•"/>
            </a:pPr>
            <a:r>
              <a:rPr lang="en-US"/>
              <a:t>Phần nguyên kết quả lớn hơn 65535 đối với chia 16 bit</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SHL (Shift logical Left)</a:t>
            </a:r>
            <a:endParaRPr/>
          </a:p>
        </p:txBody>
      </p:sp>
      <p:sp>
        <p:nvSpPr>
          <p:cNvPr id="569" name="Google Shape;569;p6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SHL</a:t>
            </a:r>
            <a:r>
              <a:rPr i="1" lang="en-US">
                <a:solidFill>
                  <a:srgbClr val="FF0000"/>
                </a:solidFill>
              </a:rPr>
              <a:t> dest, 1</a:t>
            </a:r>
            <a:endParaRPr/>
          </a:p>
          <a:p>
            <a:pPr indent="0" lvl="2" marL="914400" rtl="0" algn="l">
              <a:spcBef>
                <a:spcPts val="480"/>
              </a:spcBef>
              <a:spcAft>
                <a:spcPts val="0"/>
              </a:spcAft>
              <a:buClr>
                <a:schemeClr val="dk1"/>
              </a:buClr>
              <a:buSzPts val="2400"/>
              <a:buNone/>
            </a:pPr>
            <a:r>
              <a:rPr lang="en-US"/>
              <a:t>Hay 	</a:t>
            </a:r>
            <a:r>
              <a:rPr lang="en-US">
                <a:solidFill>
                  <a:srgbClr val="FF0000"/>
                </a:solidFill>
              </a:rPr>
              <a:t>SHL </a:t>
            </a:r>
            <a:r>
              <a:rPr i="1" lang="en-US">
                <a:solidFill>
                  <a:srgbClr val="FF0000"/>
                </a:solidFill>
              </a:rPr>
              <a:t>dest, CL</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Dịch chuyển nội dung dest sang trái 1 bit, bit cao nhất (trái cùng) được đưa vào CF, thêm bit 0 vào phía phải</a:t>
            </a:r>
            <a:endParaRPr/>
          </a:p>
          <a:p>
            <a:pPr indent="-285750" lvl="1" marL="742950" rtl="0" algn="l">
              <a:spcBef>
                <a:spcPts val="560"/>
              </a:spcBef>
              <a:spcAft>
                <a:spcPts val="0"/>
              </a:spcAft>
              <a:buClr>
                <a:schemeClr val="dk1"/>
              </a:buClr>
              <a:buSzPts val="2800"/>
              <a:buChar char="•"/>
            </a:pPr>
            <a:r>
              <a:rPr lang="en-US"/>
              <a:t>SHL dest, CL: dịch chuyển sang trái với số lần nằm trong CL</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SHL (Shift logical Left) (2)</a:t>
            </a:r>
            <a:endParaRPr/>
          </a:p>
        </p:txBody>
      </p:sp>
      <p:sp>
        <p:nvSpPr>
          <p:cNvPr id="575" name="Google Shape;575;p6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SHL AL, 1</a:t>
            </a:r>
            <a:endParaRPr/>
          </a:p>
          <a:p>
            <a:pPr indent="0" lvl="0" marL="0" rtl="0" algn="l">
              <a:spcBef>
                <a:spcPts val="640"/>
              </a:spcBef>
              <a:spcAft>
                <a:spcPts val="0"/>
              </a:spcAft>
              <a:buClr>
                <a:schemeClr val="dk1"/>
              </a:buClr>
              <a:buSzPts val="1280"/>
              <a:buNone/>
            </a:pPr>
            <a:r>
              <a:rPr lang="en-US"/>
              <a:t>	kết quả: AL=00101100b, CF=1</a:t>
            </a:r>
            <a:endParaRPr/>
          </a:p>
          <a:p>
            <a:pPr indent="-342900" lvl="0" marL="342900" rtl="0" algn="l">
              <a:spcBef>
                <a:spcPts val="64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Nếu dest là số nguyên không dấu, SHL dest, 1 sẽ nhân dest với 2</a:t>
            </a:r>
            <a:endParaRPr/>
          </a:p>
          <a:p>
            <a:pPr indent="-285750" lvl="1" marL="742950" rtl="0" algn="l">
              <a:spcBef>
                <a:spcPts val="560"/>
              </a:spcBef>
              <a:spcAft>
                <a:spcPts val="0"/>
              </a:spcAft>
              <a:buClr>
                <a:schemeClr val="dk1"/>
              </a:buClr>
              <a:buSzPts val="2800"/>
              <a:buChar char="•"/>
            </a:pPr>
            <a:r>
              <a:rPr lang="en-US"/>
              <a:t>SHL ảnh hưởng các cờ CF, OF, PF, SF, ZF</a:t>
            </a:r>
            <a:endParaRPr/>
          </a:p>
          <a:p>
            <a:pPr indent="-285750" lvl="1" marL="742950" rtl="0" algn="l">
              <a:spcBef>
                <a:spcPts val="560"/>
              </a:spcBef>
              <a:spcAft>
                <a:spcPts val="0"/>
              </a:spcAft>
              <a:buClr>
                <a:schemeClr val="dk1"/>
              </a:buClr>
              <a:buSzPts val="2800"/>
              <a:buChar char="•"/>
            </a:pPr>
            <a:r>
              <a:rPr lang="en-US"/>
              <a:t>Lệnh SHR Tương tự như SHL nhưng sẽ dịch chuyển về bên phải</a:t>
            </a:r>
            <a:endParaRPr/>
          </a:p>
          <a:p>
            <a:pPr indent="-107950" lvl="1" marL="742950" rtl="0" algn="l">
              <a:spcBef>
                <a:spcPts val="560"/>
              </a:spcBef>
              <a:spcAft>
                <a:spcPts val="0"/>
              </a:spcAft>
              <a:buClr>
                <a:schemeClr val="dk1"/>
              </a:buClr>
              <a:buSzPts val="2800"/>
              <a:buNone/>
            </a:pPr>
            <a:r>
              <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ROL (Rotate Left)</a:t>
            </a:r>
            <a:endParaRPr/>
          </a:p>
        </p:txBody>
      </p:sp>
      <p:sp>
        <p:nvSpPr>
          <p:cNvPr id="581" name="Google Shape;581;p6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ROL</a:t>
            </a:r>
            <a:r>
              <a:rPr i="1" lang="en-US">
                <a:solidFill>
                  <a:srgbClr val="FF0000"/>
                </a:solidFill>
              </a:rPr>
              <a:t> dest, 1</a:t>
            </a:r>
            <a:endParaRPr/>
          </a:p>
          <a:p>
            <a:pPr indent="0" lvl="2" marL="914400" rtl="0" algn="l">
              <a:spcBef>
                <a:spcPts val="480"/>
              </a:spcBef>
              <a:spcAft>
                <a:spcPts val="0"/>
              </a:spcAft>
              <a:buClr>
                <a:schemeClr val="dk1"/>
              </a:buClr>
              <a:buSzPts val="2400"/>
              <a:buNone/>
            </a:pPr>
            <a:r>
              <a:rPr lang="en-US"/>
              <a:t>Hay 	</a:t>
            </a:r>
            <a:r>
              <a:rPr lang="en-US">
                <a:solidFill>
                  <a:srgbClr val="FF0000"/>
                </a:solidFill>
              </a:rPr>
              <a:t>ROL </a:t>
            </a:r>
            <a:r>
              <a:rPr i="1" lang="en-US">
                <a:solidFill>
                  <a:srgbClr val="FF0000"/>
                </a:solidFill>
              </a:rPr>
              <a:t>dest, CL</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Quay nội dung dest sang trái 1 bit, bit cao nhất (trái cùng) thành bit thấp nhất (phải cùng)</a:t>
            </a:r>
            <a:endParaRPr/>
          </a:p>
          <a:p>
            <a:pPr indent="-285750" lvl="1" marL="742950" rtl="0" algn="l">
              <a:spcBef>
                <a:spcPts val="560"/>
              </a:spcBef>
              <a:spcAft>
                <a:spcPts val="0"/>
              </a:spcAft>
              <a:buClr>
                <a:schemeClr val="dk1"/>
              </a:buClr>
              <a:buSzPts val="2800"/>
              <a:buChar char="•"/>
            </a:pPr>
            <a:r>
              <a:rPr lang="en-US"/>
              <a:t>ROL dest, CL: quay trái với số lần nằm trong CL</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ROL (Rotate Left) (2)</a:t>
            </a:r>
            <a:endParaRPr/>
          </a:p>
        </p:txBody>
      </p:sp>
      <p:sp>
        <p:nvSpPr>
          <p:cNvPr id="587" name="Google Shape;587;p6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ROL  AL, 1</a:t>
            </a:r>
            <a:endParaRPr/>
          </a:p>
          <a:p>
            <a:pPr indent="0" lvl="0" marL="0" rtl="0" algn="l">
              <a:spcBef>
                <a:spcPts val="640"/>
              </a:spcBef>
              <a:spcAft>
                <a:spcPts val="0"/>
              </a:spcAft>
              <a:buClr>
                <a:schemeClr val="dk1"/>
              </a:buClr>
              <a:buSzPts val="1280"/>
              <a:buNone/>
            </a:pPr>
            <a:r>
              <a:rPr lang="en-US"/>
              <a:t>	kết quả: AL=00101101b</a:t>
            </a:r>
            <a:endParaRPr/>
          </a:p>
          <a:p>
            <a:pPr indent="-342900" lvl="0" marL="342900" rtl="0" algn="l">
              <a:spcBef>
                <a:spcPts val="640"/>
              </a:spcBef>
              <a:spcAft>
                <a:spcPts val="0"/>
              </a:spcAft>
              <a:buClr>
                <a:schemeClr val="dk1"/>
              </a:buClr>
              <a:buSzPts val="1280"/>
              <a:buChar char="❑"/>
            </a:pPr>
            <a:r>
              <a:rPr lang="en-US"/>
              <a:t>Chú ý:</a:t>
            </a:r>
            <a:endParaRPr/>
          </a:p>
          <a:p>
            <a:pPr indent="-285750" lvl="1" marL="742950" rtl="0" algn="l">
              <a:spcBef>
                <a:spcPts val="560"/>
              </a:spcBef>
              <a:spcAft>
                <a:spcPts val="0"/>
              </a:spcAft>
              <a:buClr>
                <a:schemeClr val="dk1"/>
              </a:buClr>
              <a:buSzPts val="2800"/>
              <a:buChar char="•"/>
            </a:pPr>
            <a:r>
              <a:rPr lang="en-US"/>
              <a:t>ROL ảnh hưởng các cờ CF, OF</a:t>
            </a:r>
            <a:endParaRPr/>
          </a:p>
          <a:p>
            <a:pPr indent="-285750" lvl="1" marL="742950" rtl="0" algn="l">
              <a:spcBef>
                <a:spcPts val="560"/>
              </a:spcBef>
              <a:spcAft>
                <a:spcPts val="0"/>
              </a:spcAft>
              <a:buClr>
                <a:schemeClr val="dk1"/>
              </a:buClr>
              <a:buSzPts val="2800"/>
              <a:buChar char="•"/>
            </a:pPr>
            <a:r>
              <a:rPr lang="en-US"/>
              <a:t>Lệnh ROR (rotate Right) tương tự như ROL nhưng quay về phải</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AND</a:t>
            </a:r>
            <a:endParaRPr/>
          </a:p>
        </p:txBody>
      </p:sp>
      <p:sp>
        <p:nvSpPr>
          <p:cNvPr id="593" name="Google Shape;593;p6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AND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And source (thực hiện and từng bit 1)</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Immed</a:t>
            </a:r>
            <a:endParaRPr/>
          </a:p>
          <a:p>
            <a:pPr indent="-285750" lvl="1" marL="742950" rtl="0" algn="l">
              <a:spcBef>
                <a:spcPts val="560"/>
              </a:spcBef>
              <a:spcAft>
                <a:spcPts val="0"/>
              </a:spcAft>
              <a:buClr>
                <a:schemeClr val="dk1"/>
              </a:buClr>
              <a:buSzPts val="2800"/>
              <a:buChar char="•"/>
            </a:pPr>
            <a:r>
              <a:rPr lang="en-US"/>
              <a:t>Ảnh hưởng các cờ CF, OF, PF, SF, ZF</a:t>
            </a:r>
            <a:endParaRPr/>
          </a:p>
          <a:p>
            <a:pPr indent="-285750" lvl="1" marL="742950" rtl="0" algn="l">
              <a:spcBef>
                <a:spcPts val="560"/>
              </a:spcBef>
              <a:spcAft>
                <a:spcPts val="0"/>
              </a:spcAft>
              <a:buClr>
                <a:schemeClr val="dk1"/>
              </a:buClr>
              <a:buSzPts val="2800"/>
              <a:buChar char="•"/>
            </a:pPr>
            <a:r>
              <a:rPr lang="en-US"/>
              <a:t>Thường dùng để xóa 1 bit nào đó</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AND</a:t>
            </a:r>
            <a:endParaRPr/>
          </a:p>
        </p:txBody>
      </p:sp>
      <p:sp>
        <p:nvSpPr>
          <p:cNvPr id="599" name="Google Shape;599;p6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AND AL, </a:t>
            </a:r>
            <a:r>
              <a:rPr lang="en-US">
                <a:solidFill>
                  <a:srgbClr val="FF0000"/>
                </a:solidFill>
              </a:rPr>
              <a:t>00</a:t>
            </a:r>
            <a:r>
              <a:rPr lang="en-US"/>
              <a:t>111111b</a:t>
            </a:r>
            <a:endParaRPr/>
          </a:p>
          <a:p>
            <a:pPr indent="0" lvl="0" marL="0" rtl="0" algn="l">
              <a:spcBef>
                <a:spcPts val="640"/>
              </a:spcBef>
              <a:spcAft>
                <a:spcPts val="0"/>
              </a:spcAft>
              <a:buClr>
                <a:schemeClr val="dk1"/>
              </a:buClr>
              <a:buSzPts val="1280"/>
              <a:buNone/>
            </a:pPr>
            <a:r>
              <a:rPr lang="en-US"/>
              <a:t>	kết quả: AL=</a:t>
            </a:r>
            <a:r>
              <a:rPr lang="en-US">
                <a:solidFill>
                  <a:srgbClr val="FF0000"/>
                </a:solidFill>
              </a:rPr>
              <a:t>00</a:t>
            </a:r>
            <a:r>
              <a:rPr lang="en-US"/>
              <a:t>010110b</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OR</a:t>
            </a:r>
            <a:endParaRPr/>
          </a:p>
        </p:txBody>
      </p:sp>
      <p:sp>
        <p:nvSpPr>
          <p:cNvPr id="605" name="Google Shape;605;p69"/>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OR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OR source (thực hiện or từng bit 1)</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Immed</a:t>
            </a:r>
            <a:endParaRPr/>
          </a:p>
          <a:p>
            <a:pPr indent="-285750" lvl="1" marL="742950" rtl="0" algn="l">
              <a:spcBef>
                <a:spcPts val="560"/>
              </a:spcBef>
              <a:spcAft>
                <a:spcPts val="0"/>
              </a:spcAft>
              <a:buClr>
                <a:schemeClr val="dk1"/>
              </a:buClr>
              <a:buSzPts val="2800"/>
              <a:buChar char="•"/>
            </a:pPr>
            <a:r>
              <a:rPr lang="en-US"/>
              <a:t>Ảnh hưởng các cờ CF, OF, PF, SF, ZF</a:t>
            </a:r>
            <a:endParaRPr/>
          </a:p>
          <a:p>
            <a:pPr indent="-285750" lvl="1" marL="742950" rtl="0" algn="l">
              <a:spcBef>
                <a:spcPts val="560"/>
              </a:spcBef>
              <a:spcAft>
                <a:spcPts val="0"/>
              </a:spcAft>
              <a:buClr>
                <a:schemeClr val="dk1"/>
              </a:buClr>
              <a:buSzPts val="2800"/>
              <a:buChar char="•"/>
            </a:pPr>
            <a:r>
              <a:rPr lang="en-US"/>
              <a:t>Thường dùng để bật 1 bit nào đó</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OR</a:t>
            </a:r>
            <a:endParaRPr/>
          </a:p>
        </p:txBody>
      </p:sp>
      <p:sp>
        <p:nvSpPr>
          <p:cNvPr id="611" name="Google Shape;611;p7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OR AL, </a:t>
            </a:r>
            <a:r>
              <a:rPr lang="en-US">
                <a:solidFill>
                  <a:srgbClr val="FF0000"/>
                </a:solidFill>
              </a:rPr>
              <a:t>11</a:t>
            </a:r>
            <a:r>
              <a:rPr lang="en-US"/>
              <a:t>000000b</a:t>
            </a:r>
            <a:endParaRPr/>
          </a:p>
          <a:p>
            <a:pPr indent="0" lvl="0" marL="0" rtl="0" algn="l">
              <a:spcBef>
                <a:spcPts val="640"/>
              </a:spcBef>
              <a:spcAft>
                <a:spcPts val="0"/>
              </a:spcAft>
              <a:buClr>
                <a:schemeClr val="dk1"/>
              </a:buClr>
              <a:buSzPts val="1280"/>
              <a:buNone/>
            </a:pPr>
            <a:r>
              <a:rPr lang="en-US"/>
              <a:t>	kết quả: AL=</a:t>
            </a:r>
            <a:r>
              <a:rPr lang="en-US">
                <a:solidFill>
                  <a:srgbClr val="FF0000"/>
                </a:solidFill>
              </a:rPr>
              <a:t>11</a:t>
            </a:r>
            <a:r>
              <a:rPr lang="en-US"/>
              <a:t>010110b</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XOR</a:t>
            </a:r>
            <a:endParaRPr/>
          </a:p>
        </p:txBody>
      </p:sp>
      <p:sp>
        <p:nvSpPr>
          <p:cNvPr id="617" name="Google Shape;617;p7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XOR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dest = dest XOR source (thực hiện xor từng bit 1)</a:t>
            </a:r>
            <a:endParaRPr/>
          </a:p>
          <a:p>
            <a:pPr indent="-285750" lvl="1" marL="742950" rtl="0" algn="l">
              <a:spcBef>
                <a:spcPts val="560"/>
              </a:spcBef>
              <a:spcAft>
                <a:spcPts val="0"/>
              </a:spcAft>
              <a:buClr>
                <a:schemeClr val="dk1"/>
              </a:buClr>
              <a:buSzPts val="2800"/>
              <a:buChar char="•"/>
            </a:pPr>
            <a:r>
              <a:rPr lang="en-US"/>
              <a:t>Dest có thể là Reg, Mem</a:t>
            </a:r>
            <a:endParaRPr/>
          </a:p>
          <a:p>
            <a:pPr indent="-285750" lvl="1" marL="742950" rtl="0" algn="l">
              <a:spcBef>
                <a:spcPts val="560"/>
              </a:spcBef>
              <a:spcAft>
                <a:spcPts val="0"/>
              </a:spcAft>
              <a:buClr>
                <a:schemeClr val="dk1"/>
              </a:buClr>
              <a:buSzPts val="2800"/>
              <a:buChar char="•"/>
            </a:pPr>
            <a:r>
              <a:rPr lang="en-US"/>
              <a:t>Source có thể là Reg, Mem, Immed</a:t>
            </a:r>
            <a:endParaRPr/>
          </a:p>
          <a:p>
            <a:pPr indent="-285750" lvl="1" marL="742950" rtl="0" algn="l">
              <a:spcBef>
                <a:spcPts val="560"/>
              </a:spcBef>
              <a:spcAft>
                <a:spcPts val="0"/>
              </a:spcAft>
              <a:buClr>
                <a:schemeClr val="dk1"/>
              </a:buClr>
              <a:buSzPts val="2800"/>
              <a:buChar char="•"/>
            </a:pPr>
            <a:r>
              <a:rPr lang="en-US"/>
              <a:t>Ảnh hưởng các cờ CF, OF, PF, SF, ZF</a:t>
            </a:r>
            <a:endParaRPr/>
          </a:p>
          <a:p>
            <a:pPr indent="-285750" lvl="1" marL="742950" rtl="0" algn="l">
              <a:spcBef>
                <a:spcPts val="560"/>
              </a:spcBef>
              <a:spcAft>
                <a:spcPts val="0"/>
              </a:spcAft>
              <a:buClr>
                <a:schemeClr val="dk1"/>
              </a:buClr>
              <a:buSzPts val="2800"/>
              <a:buChar char="•"/>
            </a:pPr>
            <a:r>
              <a:rPr lang="en-US"/>
              <a:t>Dùng xác định các it khác nhau giữa 2 toán hạng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OR</a:t>
            </a:r>
            <a:endParaRPr/>
          </a:p>
        </p:txBody>
      </p:sp>
      <p:sp>
        <p:nvSpPr>
          <p:cNvPr id="623" name="Google Shape;623;p7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XOR 	 AL, 11000000b</a:t>
            </a:r>
            <a:endParaRPr/>
          </a:p>
          <a:p>
            <a:pPr indent="0" lvl="0" marL="0" rtl="0" algn="l">
              <a:spcBef>
                <a:spcPts val="640"/>
              </a:spcBef>
              <a:spcAft>
                <a:spcPts val="0"/>
              </a:spcAft>
              <a:buClr>
                <a:schemeClr val="dk1"/>
              </a:buClr>
              <a:buSzPts val="1280"/>
              <a:buNone/>
            </a:pPr>
            <a:r>
              <a:rPr lang="en-US"/>
              <a:t>	kết quả: 	 AL=01010110b</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NOT</a:t>
            </a:r>
            <a:endParaRPr/>
          </a:p>
        </p:txBody>
      </p:sp>
      <p:sp>
        <p:nvSpPr>
          <p:cNvPr id="629" name="Google Shape;629;p7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NOT  </a:t>
            </a:r>
            <a:r>
              <a:rPr i="1" lang="en-US">
                <a:solidFill>
                  <a:srgbClr val="FF0000"/>
                </a:solidFill>
              </a:rPr>
              <a:t>dest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Đảo ngược từng bit của toan hạng dest</a:t>
            </a:r>
            <a:endParaRPr/>
          </a:p>
          <a:p>
            <a:pPr indent="-285750" lvl="1" marL="742950" rtl="0" algn="l">
              <a:spcBef>
                <a:spcPts val="560"/>
              </a:spcBef>
              <a:spcAft>
                <a:spcPts val="0"/>
              </a:spcAft>
              <a:buClr>
                <a:schemeClr val="dk1"/>
              </a:buClr>
              <a:buSzPts val="2800"/>
              <a:buChar char="•"/>
            </a:pPr>
            <a:r>
              <a:rPr lang="en-US"/>
              <a:t>Không ảnh hưởng các cờ</a:t>
            </a:r>
            <a:endParaRPr/>
          </a:p>
          <a:p>
            <a:pPr indent="-342900" lvl="0" marL="342900" rtl="0" algn="l">
              <a:spcBef>
                <a:spcPts val="640"/>
              </a:spcBef>
              <a:spcAft>
                <a:spcPts val="0"/>
              </a:spcAft>
              <a:buClr>
                <a:schemeClr val="dk1"/>
              </a:buClr>
              <a:buSzPts val="1280"/>
              <a:buChar char="❑"/>
            </a:pPr>
            <a:r>
              <a:rPr lang="en-US"/>
              <a:t>Ví dụ</a:t>
            </a:r>
            <a:endParaRPr/>
          </a:p>
          <a:p>
            <a:pPr indent="0" lvl="0" marL="0" rtl="0" algn="l">
              <a:spcBef>
                <a:spcPts val="640"/>
              </a:spcBef>
              <a:spcAft>
                <a:spcPts val="0"/>
              </a:spcAft>
              <a:buClr>
                <a:schemeClr val="dk1"/>
              </a:buClr>
              <a:buSzPts val="1280"/>
              <a:buNone/>
            </a:pPr>
            <a:r>
              <a:rPr lang="en-US"/>
              <a:t>		MOV  AL, 10010110b</a:t>
            </a:r>
            <a:endParaRPr/>
          </a:p>
          <a:p>
            <a:pPr indent="0" lvl="0" marL="0" rtl="0" algn="l">
              <a:spcBef>
                <a:spcPts val="640"/>
              </a:spcBef>
              <a:spcAft>
                <a:spcPts val="0"/>
              </a:spcAft>
              <a:buClr>
                <a:schemeClr val="dk1"/>
              </a:buClr>
              <a:buSzPts val="1280"/>
              <a:buNone/>
            </a:pPr>
            <a:r>
              <a:rPr lang="en-US"/>
              <a:t>		NOT 	 AL</a:t>
            </a:r>
            <a:endParaRPr/>
          </a:p>
          <a:p>
            <a:pPr indent="0" lvl="0" marL="0" rtl="0" algn="l">
              <a:spcBef>
                <a:spcPts val="640"/>
              </a:spcBef>
              <a:spcAft>
                <a:spcPts val="0"/>
              </a:spcAft>
              <a:buClr>
                <a:schemeClr val="dk1"/>
              </a:buClr>
              <a:buSzPts val="1280"/>
              <a:buNone/>
            </a:pPr>
            <a:r>
              <a:rPr lang="en-US"/>
              <a:t>	kết quả: 	 AL=01101001b</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4"/>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TEST</a:t>
            </a:r>
            <a:endParaRPr/>
          </a:p>
        </p:txBody>
      </p:sp>
      <p:sp>
        <p:nvSpPr>
          <p:cNvPr id="635" name="Google Shape;635;p74"/>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TEST  </a:t>
            </a:r>
            <a:r>
              <a:rPr i="1" lang="en-US">
                <a:solidFill>
                  <a:srgbClr val="FF0000"/>
                </a:solidFill>
              </a:rPr>
              <a:t>dest, source</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Tương tự toan hạng AND nhưng không lưu kết quả</a:t>
            </a:r>
            <a:endParaRPr/>
          </a:p>
          <a:p>
            <a:pPr indent="-285750" lvl="1" marL="742950" rtl="0" algn="l">
              <a:spcBef>
                <a:spcPts val="560"/>
              </a:spcBef>
              <a:spcAft>
                <a:spcPts val="0"/>
              </a:spcAft>
              <a:buClr>
                <a:schemeClr val="dk1"/>
              </a:buClr>
              <a:buSzPts val="2800"/>
              <a:buChar char="•"/>
            </a:pPr>
            <a:r>
              <a:rPr lang="en-US"/>
              <a:t>Ảnh hưởng các cờ: CF, OF, PF, ZF, SF</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5"/>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JMP (Jump)</a:t>
            </a:r>
            <a:endParaRPr/>
          </a:p>
        </p:txBody>
      </p:sp>
      <p:sp>
        <p:nvSpPr>
          <p:cNvPr id="641" name="Google Shape;641;p75"/>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JMP  </a:t>
            </a:r>
            <a:r>
              <a:rPr i="1" lang="en-US">
                <a:solidFill>
                  <a:srgbClr val="FF0000"/>
                </a:solidFill>
              </a:rPr>
              <a:t>label	</a:t>
            </a:r>
            <a:r>
              <a:rPr i="1" lang="en-US"/>
              <a:t>hay</a:t>
            </a:r>
            <a:r>
              <a:rPr i="1" lang="en-US">
                <a:solidFill>
                  <a:srgbClr val="FF0000"/>
                </a:solidFill>
              </a:rPr>
              <a:t> </a:t>
            </a:r>
            <a:r>
              <a:rPr lang="en-US"/>
              <a:t>	</a:t>
            </a:r>
            <a:r>
              <a:rPr lang="en-US">
                <a:solidFill>
                  <a:srgbClr val="FF0000"/>
                </a:solidFill>
              </a:rPr>
              <a:t>JMP  </a:t>
            </a:r>
            <a:r>
              <a:rPr i="1" lang="en-US">
                <a:solidFill>
                  <a:srgbClr val="FF0000"/>
                </a:solidFill>
              </a:rPr>
              <a:t>target</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Chuyển điều khiển chương trình từ vị trí này đến vị trí khác</a:t>
            </a:r>
            <a:endParaRPr/>
          </a:p>
          <a:p>
            <a:pPr indent="-285750" lvl="1" marL="742950" rtl="0" algn="l">
              <a:spcBef>
                <a:spcPts val="560"/>
              </a:spcBef>
              <a:spcAft>
                <a:spcPts val="0"/>
              </a:spcAft>
              <a:buClr>
                <a:schemeClr val="dk1"/>
              </a:buClr>
              <a:buSzPts val="2800"/>
              <a:buChar char="•"/>
            </a:pPr>
            <a:r>
              <a:rPr lang="en-US"/>
              <a:t>Toán hạng target có thể là Reg hay Mem</a:t>
            </a:r>
            <a:endParaRPr/>
          </a:p>
          <a:p>
            <a:pPr indent="-285750" lvl="1" marL="742950" rtl="0" algn="l">
              <a:spcBef>
                <a:spcPts val="560"/>
              </a:spcBef>
              <a:spcAft>
                <a:spcPts val="0"/>
              </a:spcAft>
              <a:buClr>
                <a:schemeClr val="dk1"/>
              </a:buClr>
              <a:buSzPts val="2800"/>
              <a:buChar char="•"/>
            </a:pPr>
            <a:r>
              <a:rPr lang="en-US"/>
              <a:t>Lệnh JMP có thể short, near hay far</a:t>
            </a:r>
            <a:endParaRPr/>
          </a:p>
          <a:p>
            <a:pPr indent="-285750" lvl="1" marL="742950" rtl="0" algn="l">
              <a:spcBef>
                <a:spcPts val="560"/>
              </a:spcBef>
              <a:spcAft>
                <a:spcPts val="0"/>
              </a:spcAft>
              <a:buClr>
                <a:schemeClr val="dk1"/>
              </a:buClr>
              <a:buSzPts val="2800"/>
              <a:buChar char="•"/>
            </a:pPr>
            <a:r>
              <a:rPr lang="en-US"/>
              <a:t>Làm thay đổi nội dung CS:IP hay chỉ IP</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76"/>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nhảy có điều kiện</a:t>
            </a:r>
            <a:endParaRPr/>
          </a:p>
        </p:txBody>
      </p:sp>
      <p:sp>
        <p:nvSpPr>
          <p:cNvPr id="647" name="Google Shape;647;p76"/>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Lệnh nhảy không dấu: JB/ JNAE, JBE/JNA, JA/JNBE, JAE/JNB</a:t>
            </a:r>
            <a:endParaRPr/>
          </a:p>
          <a:p>
            <a:pPr indent="-342900" lvl="0" marL="342900" rtl="0" algn="l">
              <a:spcBef>
                <a:spcPts val="640"/>
              </a:spcBef>
              <a:spcAft>
                <a:spcPts val="0"/>
              </a:spcAft>
              <a:buClr>
                <a:schemeClr val="dk1"/>
              </a:buClr>
              <a:buSzPts val="1280"/>
              <a:buChar char="❑"/>
            </a:pPr>
            <a:r>
              <a:rPr lang="en-US"/>
              <a:t>Lệnh nhảy dùng chung: JE/JZ, JNE/JNZ</a:t>
            </a:r>
            <a:endParaRPr/>
          </a:p>
          <a:p>
            <a:pPr indent="-342900" lvl="0" marL="342900" rtl="0" algn="l">
              <a:spcBef>
                <a:spcPts val="640"/>
              </a:spcBef>
              <a:spcAft>
                <a:spcPts val="0"/>
              </a:spcAft>
              <a:buClr>
                <a:schemeClr val="dk1"/>
              </a:buClr>
              <a:buSzPts val="1280"/>
              <a:buChar char="❑"/>
            </a:pPr>
            <a:r>
              <a:rPr lang="en-US"/>
              <a:t>Lệnh nhảy có dấu: JL/JNGE, JLE/JNG, JG/JNLE, JGE/JNL</a:t>
            </a:r>
            <a:endParaRPr/>
          </a:p>
          <a:p>
            <a:pPr indent="-342900" lvl="0" marL="342900" rtl="0" algn="l">
              <a:spcBef>
                <a:spcPts val="640"/>
              </a:spcBef>
              <a:spcAft>
                <a:spcPts val="0"/>
              </a:spcAft>
              <a:buClr>
                <a:schemeClr val="dk1"/>
              </a:buClr>
              <a:buSzPts val="1280"/>
              <a:buChar char="❑"/>
            </a:pPr>
            <a:r>
              <a:rPr lang="en-US"/>
              <a:t>Các lệnh nhảy dựa vào cờ: JP, JNP, JS,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7"/>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CMP (Compare)</a:t>
            </a:r>
            <a:endParaRPr/>
          </a:p>
        </p:txBody>
      </p:sp>
      <p:sp>
        <p:nvSpPr>
          <p:cNvPr id="653" name="Google Shape;653;p77"/>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CMP  </a:t>
            </a:r>
            <a:r>
              <a:rPr i="1" lang="en-US">
                <a:solidFill>
                  <a:srgbClr val="FF0000"/>
                </a:solidFill>
              </a:rPr>
              <a:t>left, right	</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So sánh nội dung tóan hạng left và toán hạng right, kết quả so sánh lưu trong thanh ghi cờ hiệu</a:t>
            </a:r>
            <a:endParaRPr/>
          </a:p>
          <a:p>
            <a:pPr indent="-285750" lvl="1" marL="742950" rtl="0" algn="l">
              <a:spcBef>
                <a:spcPts val="560"/>
              </a:spcBef>
              <a:spcAft>
                <a:spcPts val="0"/>
              </a:spcAft>
              <a:buClr>
                <a:schemeClr val="dk1"/>
              </a:buClr>
              <a:buSzPts val="2800"/>
              <a:buChar char="•"/>
            </a:pPr>
            <a:r>
              <a:rPr lang="en-US"/>
              <a:t>Left là Reg, Mem</a:t>
            </a:r>
            <a:endParaRPr/>
          </a:p>
          <a:p>
            <a:pPr indent="-285750" lvl="1" marL="742950" rtl="0" algn="l">
              <a:spcBef>
                <a:spcPts val="560"/>
              </a:spcBef>
              <a:spcAft>
                <a:spcPts val="0"/>
              </a:spcAft>
              <a:buClr>
                <a:schemeClr val="dk1"/>
              </a:buClr>
              <a:buSzPts val="2800"/>
              <a:buChar char="•"/>
            </a:pPr>
            <a:r>
              <a:rPr lang="en-US"/>
              <a:t>Right là Reg, Mem, Immed</a:t>
            </a:r>
            <a:endParaRPr/>
          </a:p>
          <a:p>
            <a:pPr indent="-285750" lvl="1" marL="742950" rtl="0" algn="l">
              <a:spcBef>
                <a:spcPts val="560"/>
              </a:spcBef>
              <a:spcAft>
                <a:spcPts val="0"/>
              </a:spcAft>
              <a:buClr>
                <a:schemeClr val="dk1"/>
              </a:buClr>
              <a:buSzPts val="2800"/>
              <a:buChar char="•"/>
            </a:pPr>
            <a:r>
              <a:rPr lang="en-US"/>
              <a:t>Thường dùng với các lệnh nhảy</a:t>
            </a:r>
            <a:endParaRPr/>
          </a:p>
          <a:p>
            <a:pPr indent="-261620" lvl="0" marL="342900" rtl="0" algn="l">
              <a:spcBef>
                <a:spcPts val="640"/>
              </a:spcBef>
              <a:spcAft>
                <a:spcPts val="0"/>
              </a:spcAft>
              <a:buClr>
                <a:schemeClr val="dk1"/>
              </a:buClr>
              <a:buSzPts val="128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8"/>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CMP (2)</a:t>
            </a:r>
            <a:endParaRPr/>
          </a:p>
        </p:txBody>
      </p:sp>
      <p:sp>
        <p:nvSpPr>
          <p:cNvPr id="659" name="Google Shape;659;p78"/>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 chương trình so sánh nội dung AX và BX (số không dấu)</a:t>
            </a:r>
            <a:endParaRPr/>
          </a:p>
          <a:p>
            <a:pPr indent="-285750" lvl="1" marL="742950" rtl="0" algn="l">
              <a:spcBef>
                <a:spcPts val="560"/>
              </a:spcBef>
              <a:spcAft>
                <a:spcPts val="0"/>
              </a:spcAft>
              <a:buClr>
                <a:schemeClr val="dk1"/>
              </a:buClr>
              <a:buSzPts val="2800"/>
              <a:buChar char="•"/>
            </a:pPr>
            <a:r>
              <a:rPr lang="en-US"/>
              <a:t>Nếu Ax &gt; Bx: Ax = Ax – Bx</a:t>
            </a:r>
            <a:endParaRPr/>
          </a:p>
          <a:p>
            <a:pPr indent="-285750" lvl="1" marL="742950" rtl="0" algn="l">
              <a:spcBef>
                <a:spcPts val="560"/>
              </a:spcBef>
              <a:spcAft>
                <a:spcPts val="0"/>
              </a:spcAft>
              <a:buClr>
                <a:schemeClr val="dk1"/>
              </a:buClr>
              <a:buSzPts val="2800"/>
              <a:buChar char="•"/>
            </a:pPr>
            <a:r>
              <a:rPr lang="en-US"/>
              <a:t>Nếu Ax &lt; Bx: Bx = Bx – Ax</a:t>
            </a:r>
            <a:endParaRPr/>
          </a:p>
          <a:p>
            <a:pPr indent="-285750" lvl="1" marL="742950" rtl="0" algn="l">
              <a:spcBef>
                <a:spcPts val="560"/>
              </a:spcBef>
              <a:spcAft>
                <a:spcPts val="0"/>
              </a:spcAft>
              <a:buClr>
                <a:schemeClr val="dk1"/>
              </a:buClr>
              <a:buSzPts val="2800"/>
              <a:buChar char="•"/>
            </a:pPr>
            <a:r>
              <a:rPr lang="en-US"/>
              <a:t>Nếu Ax = Bx: Ax = Bx =0</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9"/>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CMP (3)</a:t>
            </a:r>
            <a:endParaRPr/>
          </a:p>
        </p:txBody>
      </p:sp>
      <p:sp>
        <p:nvSpPr>
          <p:cNvPr id="665" name="Google Shape;665;p79"/>
          <p:cNvSpPr txBox="1"/>
          <p:nvPr>
            <p:ph idx="1" type="body"/>
          </p:nvPr>
        </p:nvSpPr>
        <p:spPr>
          <a:xfrm>
            <a:off x="2362200" y="1600200"/>
            <a:ext cx="5638800" cy="512127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40000"/>
              <a:buNone/>
            </a:pPr>
            <a:r>
              <a:rPr lang="en-US" sz="2400"/>
              <a:t>CMP AX, BX</a:t>
            </a:r>
            <a:endParaRPr/>
          </a:p>
          <a:p>
            <a:pPr indent="0" lvl="0" marL="0" rtl="0" algn="l">
              <a:spcBef>
                <a:spcPts val="444"/>
              </a:spcBef>
              <a:spcAft>
                <a:spcPts val="0"/>
              </a:spcAft>
              <a:buClr>
                <a:schemeClr val="dk1"/>
              </a:buClr>
              <a:buSzPct val="40000"/>
              <a:buNone/>
            </a:pPr>
            <a:r>
              <a:rPr lang="en-US" sz="2400"/>
              <a:t>JA Label1</a:t>
            </a:r>
            <a:endParaRPr/>
          </a:p>
          <a:p>
            <a:pPr indent="0" lvl="0" marL="0" rtl="0" algn="l">
              <a:spcBef>
                <a:spcPts val="444"/>
              </a:spcBef>
              <a:spcAft>
                <a:spcPts val="0"/>
              </a:spcAft>
              <a:buClr>
                <a:schemeClr val="dk1"/>
              </a:buClr>
              <a:buSzPct val="40000"/>
              <a:buNone/>
            </a:pPr>
            <a:r>
              <a:rPr lang="en-US" sz="2400"/>
              <a:t>JB Label 2</a:t>
            </a:r>
            <a:endParaRPr/>
          </a:p>
          <a:p>
            <a:pPr indent="0" lvl="0" marL="0" rtl="0" algn="l">
              <a:spcBef>
                <a:spcPts val="444"/>
              </a:spcBef>
              <a:spcAft>
                <a:spcPts val="0"/>
              </a:spcAft>
              <a:buClr>
                <a:schemeClr val="dk1"/>
              </a:buClr>
              <a:buSzPct val="40000"/>
              <a:buNone/>
            </a:pPr>
            <a:r>
              <a:rPr lang="en-US" sz="2400"/>
              <a:t>Mov AX, 0</a:t>
            </a:r>
            <a:endParaRPr/>
          </a:p>
          <a:p>
            <a:pPr indent="0" lvl="0" marL="0" rtl="0" algn="l">
              <a:spcBef>
                <a:spcPts val="444"/>
              </a:spcBef>
              <a:spcAft>
                <a:spcPts val="0"/>
              </a:spcAft>
              <a:buClr>
                <a:schemeClr val="dk1"/>
              </a:buClr>
              <a:buSzPct val="40000"/>
              <a:buNone/>
            </a:pPr>
            <a:r>
              <a:rPr lang="en-US" sz="2400"/>
              <a:t>Mov BX, 0</a:t>
            </a:r>
            <a:endParaRPr/>
          </a:p>
          <a:p>
            <a:pPr indent="0" lvl="0" marL="0" rtl="0" algn="l">
              <a:spcBef>
                <a:spcPts val="444"/>
              </a:spcBef>
              <a:spcAft>
                <a:spcPts val="0"/>
              </a:spcAft>
              <a:buClr>
                <a:schemeClr val="dk1"/>
              </a:buClr>
              <a:buSzPct val="40000"/>
              <a:buNone/>
            </a:pPr>
            <a:r>
              <a:rPr lang="en-US" sz="2400"/>
              <a:t>JMP Label3</a:t>
            </a:r>
            <a:endParaRPr/>
          </a:p>
          <a:p>
            <a:pPr indent="0" lvl="0" marL="0" rtl="0" algn="l">
              <a:spcBef>
                <a:spcPts val="444"/>
              </a:spcBef>
              <a:spcAft>
                <a:spcPts val="0"/>
              </a:spcAft>
              <a:buClr>
                <a:schemeClr val="dk1"/>
              </a:buClr>
              <a:buSzPct val="40000"/>
              <a:buNone/>
            </a:pPr>
            <a:r>
              <a:rPr lang="en-US" sz="2400"/>
              <a:t>Label1:</a:t>
            </a:r>
            <a:endParaRPr/>
          </a:p>
          <a:p>
            <a:pPr indent="0" lvl="0" marL="0" rtl="0" algn="l">
              <a:spcBef>
                <a:spcPts val="444"/>
              </a:spcBef>
              <a:spcAft>
                <a:spcPts val="0"/>
              </a:spcAft>
              <a:buClr>
                <a:schemeClr val="dk1"/>
              </a:buClr>
              <a:buSzPct val="40000"/>
              <a:buNone/>
            </a:pPr>
            <a:r>
              <a:rPr lang="en-US" sz="2400"/>
              <a:t>	SUB AX, BX</a:t>
            </a:r>
            <a:endParaRPr/>
          </a:p>
          <a:p>
            <a:pPr indent="0" lvl="0" marL="0" rtl="0" algn="l">
              <a:spcBef>
                <a:spcPts val="444"/>
              </a:spcBef>
              <a:spcAft>
                <a:spcPts val="0"/>
              </a:spcAft>
              <a:buClr>
                <a:schemeClr val="dk1"/>
              </a:buClr>
              <a:buSzPct val="40000"/>
              <a:buNone/>
            </a:pPr>
            <a:r>
              <a:rPr lang="en-US" sz="2400"/>
              <a:t>	JMP Label3</a:t>
            </a:r>
            <a:endParaRPr/>
          </a:p>
          <a:p>
            <a:pPr indent="0" lvl="0" marL="0" rtl="0" algn="l">
              <a:spcBef>
                <a:spcPts val="444"/>
              </a:spcBef>
              <a:spcAft>
                <a:spcPts val="0"/>
              </a:spcAft>
              <a:buClr>
                <a:schemeClr val="dk1"/>
              </a:buClr>
              <a:buSzPct val="40000"/>
              <a:buNone/>
            </a:pPr>
            <a:r>
              <a:rPr lang="en-US" sz="2400"/>
              <a:t>Label2:</a:t>
            </a:r>
            <a:endParaRPr/>
          </a:p>
          <a:p>
            <a:pPr indent="0" lvl="0" marL="0" rtl="0" algn="l">
              <a:spcBef>
                <a:spcPts val="444"/>
              </a:spcBef>
              <a:spcAft>
                <a:spcPts val="0"/>
              </a:spcAft>
              <a:buClr>
                <a:schemeClr val="dk1"/>
              </a:buClr>
              <a:buSzPct val="40000"/>
              <a:buNone/>
            </a:pPr>
            <a:r>
              <a:rPr lang="en-US" sz="2400"/>
              <a:t>	SUB BX,AX</a:t>
            </a:r>
            <a:endParaRPr/>
          </a:p>
          <a:p>
            <a:pPr indent="0" lvl="0" marL="0" rtl="0" algn="l">
              <a:spcBef>
                <a:spcPts val="444"/>
              </a:spcBef>
              <a:spcAft>
                <a:spcPts val="0"/>
              </a:spcAft>
              <a:buClr>
                <a:schemeClr val="dk1"/>
              </a:buClr>
              <a:buSzPct val="40000"/>
              <a:buNone/>
            </a:pPr>
            <a:r>
              <a:rPr lang="en-US" sz="2400"/>
              <a:t>Label3:</a:t>
            </a:r>
            <a:endParaRPr/>
          </a:p>
          <a:p>
            <a:pPr indent="0" lvl="0" marL="0" rtl="0" algn="l">
              <a:spcBef>
                <a:spcPts val="444"/>
              </a:spcBef>
              <a:spcAft>
                <a:spcPts val="0"/>
              </a:spcAft>
              <a:buClr>
                <a:schemeClr val="dk1"/>
              </a:buClr>
              <a:buSzPct val="40000"/>
              <a:buNone/>
            </a:pPr>
            <a:r>
              <a:rPr lang="en-US" sz="2400"/>
              <a:t>………</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0"/>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LOOP</a:t>
            </a:r>
            <a:endParaRPr/>
          </a:p>
        </p:txBody>
      </p:sp>
      <p:sp>
        <p:nvSpPr>
          <p:cNvPr id="671" name="Google Shape;671;p80"/>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LOOP  short_label</a:t>
            </a:r>
            <a:r>
              <a:rPr i="1" lang="en-US">
                <a:solidFill>
                  <a:srgbClr val="FF0000"/>
                </a:solidFill>
              </a:rPr>
              <a:t>	</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Giảm CX xuống 1 đơn vị, nếu CX &lt;&gt; 0 thì chuyển đến short_label, ngược lại, các lệnh sau LOOP được thực hiện</a:t>
            </a:r>
            <a:endParaRPr/>
          </a:p>
          <a:p>
            <a:pPr indent="-285750" lvl="1" marL="742950" rtl="0" algn="l">
              <a:spcBef>
                <a:spcPts val="560"/>
              </a:spcBef>
              <a:spcAft>
                <a:spcPts val="0"/>
              </a:spcAft>
              <a:buClr>
                <a:schemeClr val="dk1"/>
              </a:buClr>
              <a:buSzPts val="2800"/>
              <a:buChar char="•"/>
            </a:pPr>
            <a:r>
              <a:rPr lang="en-US"/>
              <a:t>Số lần thực hiện tối đa bằng (Cx-1)</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1"/>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LOOP (2)</a:t>
            </a:r>
            <a:endParaRPr/>
          </a:p>
        </p:txBody>
      </p:sp>
      <p:sp>
        <p:nvSpPr>
          <p:cNvPr id="677" name="Google Shape;677;p81"/>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Ví dụ: dung lệnh INC tăng AX lên 5 đơn vị</a:t>
            </a:r>
            <a:endParaRPr/>
          </a:p>
          <a:p>
            <a:pPr indent="0" lvl="0" marL="0" rtl="0" algn="l">
              <a:spcBef>
                <a:spcPts val="640"/>
              </a:spcBef>
              <a:spcAft>
                <a:spcPts val="0"/>
              </a:spcAft>
              <a:buClr>
                <a:schemeClr val="dk1"/>
              </a:buClr>
              <a:buSzPts val="1280"/>
              <a:buNone/>
            </a:pPr>
            <a:r>
              <a:rPr lang="en-US"/>
              <a:t>	Mov Cx, 5</a:t>
            </a:r>
            <a:endParaRPr/>
          </a:p>
          <a:p>
            <a:pPr indent="0" lvl="0" marL="0" rtl="0" algn="l">
              <a:spcBef>
                <a:spcPts val="640"/>
              </a:spcBef>
              <a:spcAft>
                <a:spcPts val="0"/>
              </a:spcAft>
              <a:buClr>
                <a:schemeClr val="dk1"/>
              </a:buClr>
              <a:buSzPts val="1280"/>
              <a:buNone/>
            </a:pPr>
            <a:r>
              <a:rPr lang="en-US"/>
              <a:t>	Label:</a:t>
            </a:r>
            <a:endParaRPr/>
          </a:p>
          <a:p>
            <a:pPr indent="0" lvl="0" marL="0" rtl="0" algn="l">
              <a:spcBef>
                <a:spcPts val="640"/>
              </a:spcBef>
              <a:spcAft>
                <a:spcPts val="0"/>
              </a:spcAft>
              <a:buClr>
                <a:schemeClr val="dk1"/>
              </a:buClr>
              <a:buSzPts val="1280"/>
              <a:buNone/>
            </a:pPr>
            <a:r>
              <a:rPr lang="en-US"/>
              <a:t>		INC Ax</a:t>
            </a:r>
            <a:endParaRPr/>
          </a:p>
          <a:p>
            <a:pPr indent="0" lvl="0" marL="0" rtl="0" algn="l">
              <a:spcBef>
                <a:spcPts val="640"/>
              </a:spcBef>
              <a:spcAft>
                <a:spcPts val="0"/>
              </a:spcAft>
              <a:buClr>
                <a:schemeClr val="dk1"/>
              </a:buClr>
              <a:buSzPts val="1280"/>
              <a:buNone/>
            </a:pPr>
            <a:r>
              <a:rPr lang="en-US"/>
              <a:t>		LOOP Label</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2"/>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LOOPE (Loop while Equal)</a:t>
            </a:r>
            <a:endParaRPr/>
          </a:p>
        </p:txBody>
      </p:sp>
      <p:sp>
        <p:nvSpPr>
          <p:cNvPr id="683" name="Google Shape;683;p82"/>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LOOPE  short_label</a:t>
            </a:r>
            <a:r>
              <a:rPr i="1" lang="en-US">
                <a:solidFill>
                  <a:srgbClr val="FF0000"/>
                </a:solidFill>
              </a:rPr>
              <a:t>	</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Giảm CX xuống 1 đơn vị, nếu ZF=1 và CX &lt;&gt; 0 thì chuyển đến short_label, ngược lại, các lệnh sau LOOP được thực hiện</a:t>
            </a:r>
            <a:endParaRPr/>
          </a:p>
          <a:p>
            <a:pPr indent="-285750" lvl="1" marL="742950" rtl="0" algn="l">
              <a:spcBef>
                <a:spcPts val="560"/>
              </a:spcBef>
              <a:spcAft>
                <a:spcPts val="0"/>
              </a:spcAft>
              <a:buClr>
                <a:schemeClr val="dk1"/>
              </a:buClr>
              <a:buSzPts val="2800"/>
              <a:buChar char="•"/>
            </a:pPr>
            <a:r>
              <a:rPr lang="en-US"/>
              <a:t>Lệnh LOOPZ tương tự LOOPE</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3"/>
          <p:cNvSpPr txBox="1"/>
          <p:nvPr>
            <p:ph type="title"/>
          </p:nvPr>
        </p:nvSpPr>
        <p:spPr>
          <a:xfrm>
            <a:off x="304800" y="152400"/>
            <a:ext cx="85344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4000"/>
              <a:buFont typeface="Calibri"/>
              <a:buNone/>
            </a:pPr>
            <a:r>
              <a:rPr lang="en-US"/>
              <a:t>Lệnh LOOPNE (Loop while Not Equal)</a:t>
            </a:r>
            <a:endParaRPr/>
          </a:p>
        </p:txBody>
      </p:sp>
      <p:sp>
        <p:nvSpPr>
          <p:cNvPr id="689" name="Google Shape;689;p83"/>
          <p:cNvSpPr txBox="1"/>
          <p:nvPr>
            <p:ph idx="1" type="body"/>
          </p:nvPr>
        </p:nvSpPr>
        <p:spPr>
          <a:xfrm>
            <a:off x="304800" y="1600202"/>
            <a:ext cx="8534400" cy="5121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280"/>
              <a:buChar char="❑"/>
            </a:pPr>
            <a:r>
              <a:rPr lang="en-US"/>
              <a:t>Cú pháp</a:t>
            </a:r>
            <a:endParaRPr/>
          </a:p>
          <a:p>
            <a:pPr indent="0" lvl="2" marL="914400" rtl="0" algn="l">
              <a:spcBef>
                <a:spcPts val="480"/>
              </a:spcBef>
              <a:spcAft>
                <a:spcPts val="0"/>
              </a:spcAft>
              <a:buClr>
                <a:schemeClr val="dk1"/>
              </a:buClr>
              <a:buSzPts val="2400"/>
              <a:buNone/>
            </a:pPr>
            <a:r>
              <a:rPr lang="en-US"/>
              <a:t>	</a:t>
            </a:r>
            <a:r>
              <a:rPr lang="en-US">
                <a:solidFill>
                  <a:srgbClr val="FF0000"/>
                </a:solidFill>
              </a:rPr>
              <a:t>LOOPNE  short_label</a:t>
            </a:r>
            <a:r>
              <a:rPr i="1" lang="en-US">
                <a:solidFill>
                  <a:srgbClr val="FF0000"/>
                </a:solidFill>
              </a:rPr>
              <a:t>	</a:t>
            </a:r>
            <a:endParaRPr/>
          </a:p>
          <a:p>
            <a:pPr indent="-342900" lvl="0" marL="342900" rtl="0" algn="l">
              <a:spcBef>
                <a:spcPts val="640"/>
              </a:spcBef>
              <a:spcAft>
                <a:spcPts val="0"/>
              </a:spcAft>
              <a:buClr>
                <a:schemeClr val="dk1"/>
              </a:buClr>
              <a:buSzPts val="1280"/>
              <a:buChar char="❑"/>
            </a:pPr>
            <a:r>
              <a:rPr lang="en-US"/>
              <a:t>Ý  nghĩa:</a:t>
            </a:r>
            <a:endParaRPr/>
          </a:p>
          <a:p>
            <a:pPr indent="-285750" lvl="1" marL="742950" rtl="0" algn="l">
              <a:spcBef>
                <a:spcPts val="560"/>
              </a:spcBef>
              <a:spcAft>
                <a:spcPts val="0"/>
              </a:spcAft>
              <a:buClr>
                <a:schemeClr val="dk1"/>
              </a:buClr>
              <a:buSzPts val="2800"/>
              <a:buChar char="•"/>
            </a:pPr>
            <a:r>
              <a:rPr lang="en-US"/>
              <a:t>Giảm CX xuống 1 đơn vị, nếu ZF=0 và CX &lt;&gt; 0 thì chuyển đến short_label, ngược lại, các lệnh sau LOOP được thực hiện</a:t>
            </a:r>
            <a:endParaRPr/>
          </a:p>
          <a:p>
            <a:pPr indent="-285750" lvl="1" marL="742950" rtl="0" algn="l">
              <a:spcBef>
                <a:spcPts val="560"/>
              </a:spcBef>
              <a:spcAft>
                <a:spcPts val="0"/>
              </a:spcAft>
              <a:buClr>
                <a:schemeClr val="dk1"/>
              </a:buClr>
              <a:buSzPts val="2800"/>
              <a:buChar char="•"/>
            </a:pPr>
            <a:r>
              <a:rPr lang="en-US"/>
              <a:t>Lệnh LOOPNZ tương tự LOOPNE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2012-08-24T09:10:32Z</dcterms:created>
  <dc:creator>Nguyễn Duy Phúc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