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5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</p:sldIdLst>
  <p:sldSz cy="6858000" cx="9144000"/>
  <p:notesSz cx="7102475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7" roundtripDataSignature="AMtx7misnav58+e/15bjrgiv8+c26mY0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EB9499D-84D6-48C9-BF9B-6E59B651806B}">
  <a:tblStyle styleId="{5EB9499D-84D6-48C9-BF9B-6E59B651806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customschemas.google.com/relationships/presentationmetadata" Target="metadata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1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18c5e933e9_0_258:notes"/>
          <p:cNvSpPr/>
          <p:nvPr>
            <p:ph idx="2" type="sldImg"/>
          </p:nvPr>
        </p:nvSpPr>
        <p:spPr>
          <a:xfrm>
            <a:off x="993775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118c5e933e9_0_258:notes"/>
          <p:cNvSpPr txBox="1"/>
          <p:nvPr>
            <p:ph idx="1" type="body"/>
          </p:nvPr>
        </p:nvSpPr>
        <p:spPr>
          <a:xfrm>
            <a:off x="710247" y="4861435"/>
            <a:ext cx="56820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14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5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6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7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18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22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3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33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p3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1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21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4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34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7" name="Google Shape;217;p3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5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35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p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0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40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5" name="Google Shape;235;p4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1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41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8" name="Google Shape;248;p4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5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15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8" name="Google Shape;258;p1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6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116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7" name="Google Shape;267;p1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17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117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7" name="Google Shape;277;p1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18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118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6" name="Google Shape;286;p1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9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119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9" name="Google Shape;299;p1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20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120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9" name="Google Shape;309;p1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21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121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9" name="Google Shape;319;p1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22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122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8" name="Google Shape;328;p1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23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123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7" name="Google Shape;337;p1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24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124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6" name="Google Shape;346;p1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25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125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5" name="Google Shape;355;p1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26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126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5" name="Google Shape;365;p1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27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127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4" name="Google Shape;374;p1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28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128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7" name="Google Shape;387;p1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29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129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2" name="Google Shape;402;p1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30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p130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7" name="Google Shape;417;p1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118c5e933e9_0_368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g118c5e933e9_0_368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6" name="Google Shape;426;g118c5e933e9_0_36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118c5e933e9_0_282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g118c5e933e9_0_282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5" name="Google Shape;435;g118c5e933e9_0_28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118c5e933e9_0_379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g118c5e933e9_0_379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5" name="Google Shape;445;g118c5e933e9_0_37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118c5e933e9_0_390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g118c5e933e9_0_390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7" name="Google Shape;457;g118c5e933e9_0_39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118c5e933e9_0_399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g118c5e933e9_0_399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6" name="Google Shape;466;g118c5e933e9_0_39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118c5e933e9_0_415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g118c5e933e9_0_415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6" name="Google Shape;476;g118c5e933e9_0_4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118c5e933e9_0_643:notes"/>
          <p:cNvSpPr/>
          <p:nvPr>
            <p:ph idx="2" type="sldImg"/>
          </p:nvPr>
        </p:nvSpPr>
        <p:spPr>
          <a:xfrm>
            <a:off x="993775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g118c5e933e9_0_643:notes"/>
          <p:cNvSpPr txBox="1"/>
          <p:nvPr>
            <p:ph idx="1" type="body"/>
          </p:nvPr>
        </p:nvSpPr>
        <p:spPr>
          <a:xfrm>
            <a:off x="710247" y="4861435"/>
            <a:ext cx="56820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118c5e933e9_0_649:notes"/>
          <p:cNvSpPr/>
          <p:nvPr>
            <p:ph idx="2" type="sldImg"/>
          </p:nvPr>
        </p:nvSpPr>
        <p:spPr>
          <a:xfrm>
            <a:off x="993775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g118c5e933e9_0_649:notes"/>
          <p:cNvSpPr txBox="1"/>
          <p:nvPr>
            <p:ph idx="1" type="body"/>
          </p:nvPr>
        </p:nvSpPr>
        <p:spPr>
          <a:xfrm>
            <a:off x="710247" y="4861435"/>
            <a:ext cx="56820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118c5e933e9_0_655:notes"/>
          <p:cNvSpPr/>
          <p:nvPr>
            <p:ph idx="2" type="sldImg"/>
          </p:nvPr>
        </p:nvSpPr>
        <p:spPr>
          <a:xfrm>
            <a:off x="993775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g118c5e933e9_0_655:notes"/>
          <p:cNvSpPr txBox="1"/>
          <p:nvPr>
            <p:ph idx="1" type="body"/>
          </p:nvPr>
        </p:nvSpPr>
        <p:spPr>
          <a:xfrm>
            <a:off x="710247" y="4861435"/>
            <a:ext cx="56820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118c5e933e9_0_661:notes"/>
          <p:cNvSpPr/>
          <p:nvPr>
            <p:ph idx="2" type="sldImg"/>
          </p:nvPr>
        </p:nvSpPr>
        <p:spPr>
          <a:xfrm>
            <a:off x="993775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6" name="Google Shape;506;g118c5e933e9_0_661:notes"/>
          <p:cNvSpPr txBox="1"/>
          <p:nvPr>
            <p:ph idx="1" type="body"/>
          </p:nvPr>
        </p:nvSpPr>
        <p:spPr>
          <a:xfrm>
            <a:off x="710247" y="4861435"/>
            <a:ext cx="56820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118c5e933e9_0_668:notes"/>
          <p:cNvSpPr/>
          <p:nvPr>
            <p:ph idx="2" type="sldImg"/>
          </p:nvPr>
        </p:nvSpPr>
        <p:spPr>
          <a:xfrm>
            <a:off x="993775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" name="Google Shape;514;g118c5e933e9_0_668:notes"/>
          <p:cNvSpPr txBox="1"/>
          <p:nvPr>
            <p:ph idx="1" type="body"/>
          </p:nvPr>
        </p:nvSpPr>
        <p:spPr>
          <a:xfrm>
            <a:off x="710247" y="4861435"/>
            <a:ext cx="56820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118c5e933e9_0_674:notes"/>
          <p:cNvSpPr/>
          <p:nvPr>
            <p:ph idx="2" type="sldImg"/>
          </p:nvPr>
        </p:nvSpPr>
        <p:spPr>
          <a:xfrm>
            <a:off x="993775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g118c5e933e9_0_674:notes"/>
          <p:cNvSpPr txBox="1"/>
          <p:nvPr>
            <p:ph idx="1" type="body"/>
          </p:nvPr>
        </p:nvSpPr>
        <p:spPr>
          <a:xfrm>
            <a:off x="710247" y="4861435"/>
            <a:ext cx="56820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118c5e933e9_0_680:notes"/>
          <p:cNvSpPr/>
          <p:nvPr>
            <p:ph idx="2" type="sldImg"/>
          </p:nvPr>
        </p:nvSpPr>
        <p:spPr>
          <a:xfrm>
            <a:off x="993775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g118c5e933e9_0_680:notes"/>
          <p:cNvSpPr txBox="1"/>
          <p:nvPr>
            <p:ph idx="1" type="body"/>
          </p:nvPr>
        </p:nvSpPr>
        <p:spPr>
          <a:xfrm>
            <a:off x="710247" y="4861435"/>
            <a:ext cx="56820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118c5e933e9_0_687:notes"/>
          <p:cNvSpPr/>
          <p:nvPr>
            <p:ph idx="2" type="sldImg"/>
          </p:nvPr>
        </p:nvSpPr>
        <p:spPr>
          <a:xfrm>
            <a:off x="993775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6" name="Google Shape;536;g118c5e933e9_0_687:notes"/>
          <p:cNvSpPr txBox="1"/>
          <p:nvPr>
            <p:ph idx="1" type="body"/>
          </p:nvPr>
        </p:nvSpPr>
        <p:spPr>
          <a:xfrm>
            <a:off x="710247" y="4861435"/>
            <a:ext cx="56820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118c5e933e9_0_694:notes"/>
          <p:cNvSpPr/>
          <p:nvPr>
            <p:ph idx="2" type="sldImg"/>
          </p:nvPr>
        </p:nvSpPr>
        <p:spPr>
          <a:xfrm>
            <a:off x="993775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4" name="Google Shape;544;g118c5e933e9_0_694:notes"/>
          <p:cNvSpPr txBox="1"/>
          <p:nvPr>
            <p:ph idx="1" type="body"/>
          </p:nvPr>
        </p:nvSpPr>
        <p:spPr>
          <a:xfrm>
            <a:off x="710247" y="4861435"/>
            <a:ext cx="56820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118c5e933e9_0_701:notes"/>
          <p:cNvSpPr/>
          <p:nvPr>
            <p:ph idx="2" type="sldImg"/>
          </p:nvPr>
        </p:nvSpPr>
        <p:spPr>
          <a:xfrm>
            <a:off x="993775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2" name="Google Shape;552;g118c5e933e9_0_701:notes"/>
          <p:cNvSpPr txBox="1"/>
          <p:nvPr>
            <p:ph idx="1" type="body"/>
          </p:nvPr>
        </p:nvSpPr>
        <p:spPr>
          <a:xfrm>
            <a:off x="710247" y="4861435"/>
            <a:ext cx="56820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118c5e933e9_0_708:notes"/>
          <p:cNvSpPr/>
          <p:nvPr>
            <p:ph idx="2" type="sldImg"/>
          </p:nvPr>
        </p:nvSpPr>
        <p:spPr>
          <a:xfrm>
            <a:off x="993775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0" name="Google Shape;560;g118c5e933e9_0_708:notes"/>
          <p:cNvSpPr txBox="1"/>
          <p:nvPr>
            <p:ph idx="1" type="body"/>
          </p:nvPr>
        </p:nvSpPr>
        <p:spPr>
          <a:xfrm>
            <a:off x="710247" y="4861435"/>
            <a:ext cx="56820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118c5e933e9_0_715:notes"/>
          <p:cNvSpPr/>
          <p:nvPr>
            <p:ph idx="2" type="sldImg"/>
          </p:nvPr>
        </p:nvSpPr>
        <p:spPr>
          <a:xfrm>
            <a:off x="993775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8" name="Google Shape;568;g118c5e933e9_0_715:notes"/>
          <p:cNvSpPr txBox="1"/>
          <p:nvPr>
            <p:ph idx="1" type="body"/>
          </p:nvPr>
        </p:nvSpPr>
        <p:spPr>
          <a:xfrm>
            <a:off x="710247" y="4861435"/>
            <a:ext cx="56820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118c5e933e9_0_728:notes"/>
          <p:cNvSpPr/>
          <p:nvPr>
            <p:ph idx="2" type="sldImg"/>
          </p:nvPr>
        </p:nvSpPr>
        <p:spPr>
          <a:xfrm>
            <a:off x="993775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6" name="Google Shape;576;g118c5e933e9_0_728:notes"/>
          <p:cNvSpPr txBox="1"/>
          <p:nvPr>
            <p:ph idx="1" type="body"/>
          </p:nvPr>
        </p:nvSpPr>
        <p:spPr>
          <a:xfrm>
            <a:off x="710247" y="4861435"/>
            <a:ext cx="56820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0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0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6" name="Google Shape;26;p10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7" name="Google Shape;27;p10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0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3" name="Google Shape;33;p10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4" name="Google Shape;34;p10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10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6" name="Google Shape;36;p10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0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0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1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1" name="Google Shape;51;p11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2" name="Google Shape;52;p1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1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1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9" name="Google Shape;59;p1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18c5e933e9_0_44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g118c5e933e9_0_44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1" name="Google Shape;81;g118c5e933e9_0_44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p13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131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131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13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18c5e933e9_0_44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0" name="Google Shape;90;g118c5e933e9_0_44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1" name="Google Shape;91;g118c5e933e9_0_44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18c5e933e9_0_446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4" name="Google Shape;94;g118c5e933e9_0_44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18c5e933e9_0_45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7" name="Google Shape;97;g118c5e933e9_0_453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8" name="Google Shape;98;g118c5e933e9_0_453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9" name="Google Shape;99;g118c5e933e9_0_45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18c5e933e9_0_45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" name="Google Shape;102;g118c5e933e9_0_45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18c5e933e9_0_461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g118c5e933e9_0_461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g118c5e933e9_0_46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18c5e933e9_0_465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9" name="Google Shape;109;g118c5e933e9_0_46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18c5e933e9_0_468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118c5e933e9_0_468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3" name="Google Shape;113;g118c5e933e9_0_468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4" name="Google Shape;114;g118c5e933e9_0_468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5" name="Google Shape;115;g118c5e933e9_0_46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18c5e933e9_0_474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8" name="Google Shape;118;g118c5e933e9_0_47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18c5e933e9_0_477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1" name="Google Shape;121;g118c5e933e9_0_477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2" name="Google Shape;122;g118c5e933e9_0_47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18c5e933e9_0_48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18c5e933e9_0_43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g118c5e933e9_0_43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g118c5e933e9_0_43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6.png"/><Relationship Id="rId4" Type="http://schemas.openxmlformats.org/officeDocument/2006/relationships/image" Target="../media/image2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"/>
          <p:cNvSpPr txBox="1"/>
          <p:nvPr/>
        </p:nvSpPr>
        <p:spPr>
          <a:xfrm>
            <a:off x="838200" y="2282825"/>
            <a:ext cx="7772400" cy="22003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sz="3600">
                <a:solidFill>
                  <a:schemeClr val="dk1"/>
                </a:solidFill>
                <a:highlight>
                  <a:schemeClr val="lt1"/>
                </a:highlight>
              </a:rPr>
              <a:t>Информационная безопасность баз данных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ru-RU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Лекция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18c5e933e9_0_258"/>
          <p:cNvSpPr txBox="1"/>
          <p:nvPr>
            <p:ph type="title"/>
          </p:nvPr>
        </p:nvSpPr>
        <p:spPr>
          <a:xfrm>
            <a:off x="311700" y="1690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Модели представления данных</a:t>
            </a:r>
            <a:endParaRPr/>
          </a:p>
        </p:txBody>
      </p:sp>
      <p:sp>
        <p:nvSpPr>
          <p:cNvPr id="135" name="Google Shape;135;g118c5e933e9_0_258"/>
          <p:cNvSpPr txBox="1"/>
          <p:nvPr>
            <p:ph idx="1" type="body"/>
          </p:nvPr>
        </p:nvSpPr>
        <p:spPr>
          <a:xfrm>
            <a:off x="311700" y="737353"/>
            <a:ext cx="8520600" cy="26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-RU"/>
              <a:t>Модель данных</a:t>
            </a:r>
            <a:r>
              <a:rPr lang="ru-RU"/>
              <a:t> - абстракция, которая по отношению к некоторым данным позволяет позволяет воспринимать их уже как сведения учитывающие сами данные и их логические взаимодействия.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ru-RU"/>
              <a:t>Все модели можно разделить на 3 группы: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AutoNum type="arabicParenR"/>
            </a:pPr>
            <a:r>
              <a:rPr lang="ru-RU"/>
              <a:t>Инфологические;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ru-RU"/>
              <a:t>Концептуальные (даталогические или логические);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ru-RU"/>
              <a:t>Физические.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36" name="Google Shape;136;g118c5e933e9_0_25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137" name="Google Shape;137;g118c5e933e9_0_2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6788" y="3428953"/>
            <a:ext cx="5050434" cy="31242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144" name="Google Shape;144;p14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145" name="Google Shape;145;p14"/>
          <p:cNvSpPr txBox="1"/>
          <p:nvPr/>
        </p:nvSpPr>
        <p:spPr>
          <a:xfrm>
            <a:off x="561627" y="1021588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Модели инфологического уровня</a:t>
            </a:r>
            <a:endParaRPr b="1" i="0" sz="19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4"/>
          <p:cNvSpPr txBox="1"/>
          <p:nvPr/>
        </p:nvSpPr>
        <p:spPr>
          <a:xfrm>
            <a:off x="259266" y="1154691"/>
            <a:ext cx="8501151" cy="3691274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Представляет собой сведения о предметной области в естественной форме и удобной для восприятия.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Используется на ранних стадиях проектирования для описания структуры данных.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 ним относятся: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335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диаграммы Бахмана;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335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ER-диаграммы (диаграммы “сущность - связь”).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4"/>
          <p:cNvSpPr txBox="1"/>
          <p:nvPr/>
        </p:nvSpPr>
        <p:spPr>
          <a:xfrm>
            <a:off x="301976" y="305041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ru-RU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Инфологический уровень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154" name="Google Shape;154;p15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155" name="Google Shape;155;p15"/>
          <p:cNvSpPr txBox="1"/>
          <p:nvPr/>
        </p:nvSpPr>
        <p:spPr>
          <a:xfrm>
            <a:off x="443899" y="466204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Модели даталогического и физического уровня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5"/>
          <p:cNvSpPr txBox="1"/>
          <p:nvPr/>
        </p:nvSpPr>
        <p:spPr>
          <a:xfrm>
            <a:off x="391742" y="1018501"/>
            <a:ext cx="8360515" cy="145854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Модели даталогического уровня зависят от СУБД и делятся на 2 вида: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75" lvl="0" marL="3429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arenR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Документальные;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75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arenR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Фактографические.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5"/>
          <p:cNvSpPr txBox="1"/>
          <p:nvPr/>
        </p:nvSpPr>
        <p:spPr>
          <a:xfrm>
            <a:off x="443899" y="2756962"/>
            <a:ext cx="8595968" cy="199712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857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Модели физического уровня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75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arenR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Модели, основанные на файловых структурах;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75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arenR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Модели, основанные на странично-сегментной организации внешней памяти.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164" name="Google Shape;164;p16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165" name="Google Shape;165;p16"/>
          <p:cNvSpPr txBox="1"/>
          <p:nvPr/>
        </p:nvSpPr>
        <p:spPr>
          <a:xfrm>
            <a:off x="577074" y="832423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Требования к базам данных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392279" y="1734850"/>
            <a:ext cx="8414837" cy="1456526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-295275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-"/>
            </a:pPr>
            <a:r>
              <a:rPr b="0" i="0" lang="ru-RU" sz="1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адекватность предметной области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-"/>
            </a:pPr>
            <a:r>
              <a:rPr b="0" i="0" lang="ru-RU" sz="1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удобство использования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-"/>
            </a:pPr>
            <a:r>
              <a:rPr b="0" i="0" lang="ru-RU" sz="1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производительность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-"/>
            </a:pPr>
            <a:r>
              <a:rPr b="0" i="0" lang="ru-RU" sz="1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защищенность данных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173" name="Google Shape;173;p17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577075" y="528650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Моделирование данных 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7"/>
          <p:cNvSpPr txBox="1"/>
          <p:nvPr/>
        </p:nvSpPr>
        <p:spPr>
          <a:xfrm>
            <a:off x="577075" y="1018501"/>
            <a:ext cx="8154608" cy="311620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Моделирование включает в себя опрос пользователей, документирование требований и построение модели данных и прототипов на основе этих требований. Это процесс создания логического представления структуры базы данных.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Подходы к моделированию данных: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4313" lvl="0" marL="214313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Плоская модель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4313" lvl="0" marL="214313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Иерархическая модель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4313" lvl="0" marL="214313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Сетевая модель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4313" lvl="0" marL="214313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Модель «сущность-связь»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4313" lvl="0" marL="214313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Реляционная модель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182" name="Google Shape;182;p18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577074" y="784614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Плоская модель базы данных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0236" y="1486276"/>
            <a:ext cx="4503528" cy="2240316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 txBox="1"/>
          <p:nvPr/>
        </p:nvSpPr>
        <p:spPr>
          <a:xfrm>
            <a:off x="861718" y="4109288"/>
            <a:ext cx="7567863" cy="969474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один двумерный массив элементов данных, где все члены данного столбца считаются одинаковыми значениями, и предполагается, что все члены строки связаны друг с другом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192" name="Google Shape;192;p22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193" name="Google Shape;193;p22"/>
          <p:cNvSpPr txBox="1"/>
          <p:nvPr/>
        </p:nvSpPr>
        <p:spPr>
          <a:xfrm>
            <a:off x="577074" y="882310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Иерархическая модель данных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276" y="1700017"/>
            <a:ext cx="7343447" cy="3102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3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201" name="Google Shape;201;p33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202" name="Google Shape;202;p33"/>
          <p:cNvSpPr txBox="1"/>
          <p:nvPr/>
        </p:nvSpPr>
        <p:spPr>
          <a:xfrm>
            <a:off x="577074" y="497672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Сетевая модель данных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3" name="Google Shape;20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7691" y="866542"/>
            <a:ext cx="4128618" cy="40448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210" name="Google Shape;210;p21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401829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Реляционный подход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338206" y="1734850"/>
            <a:ext cx="8228279" cy="462536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Реляционный - от слова “relation” - отношение (между информационными объектами). Отношение (таблица) - динамическая модель некоторого реального объекта внешнего мира.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338205" y="2830430"/>
            <a:ext cx="8501151" cy="243531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Реляционную модель условно можно разделить на три части: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Структурная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Целостная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Манипуляционная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4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220" name="Google Shape;220;p34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221" name="Google Shape;221;p34"/>
          <p:cNvSpPr txBox="1"/>
          <p:nvPr/>
        </p:nvSpPr>
        <p:spPr>
          <a:xfrm>
            <a:off x="446218" y="850947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Структурная часть реляционной модели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0530" y="1580694"/>
            <a:ext cx="6281906" cy="4153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5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229" name="Google Shape;229;p35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230" name="Google Shape;230;p35"/>
          <p:cNvSpPr txBox="1"/>
          <p:nvPr/>
        </p:nvSpPr>
        <p:spPr>
          <a:xfrm>
            <a:off x="357441" y="1018500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Функции первичного ключа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5"/>
          <p:cNvSpPr txBox="1"/>
          <p:nvPr/>
        </p:nvSpPr>
        <p:spPr>
          <a:xfrm>
            <a:off x="259266" y="1583363"/>
            <a:ext cx="8688367" cy="3691274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-257175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arenR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исключение дублирующих данных;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75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arenR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упорядочивание кортежей для ускорения работы с данными (индексирование);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75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arenR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организация связей между отношениями.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Установка связей между отношениями в реляционной модели осуществляется с помощью внешних ключей.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0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238" name="Google Shape;238;p40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239" name="Google Shape;239;p40"/>
          <p:cNvSpPr txBox="1"/>
          <p:nvPr/>
        </p:nvSpPr>
        <p:spPr>
          <a:xfrm>
            <a:off x="335703" y="675372"/>
            <a:ext cx="66438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Функции внешнего ключа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40"/>
          <p:cNvSpPr txBox="1"/>
          <p:nvPr/>
        </p:nvSpPr>
        <p:spPr>
          <a:xfrm>
            <a:off x="259266" y="1361589"/>
            <a:ext cx="8688300" cy="8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Для реляционной модели, первичный ключ главного отношения должен присутствовать, в качестве внешнего ключа, в подчиненном отношении.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1" name="Google Shape;241;p40"/>
          <p:cNvGraphicFramePr/>
          <p:nvPr/>
        </p:nvGraphicFramePr>
        <p:xfrm>
          <a:off x="854283" y="31877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{5EB9499D-84D6-48C9-BF9B-6E59B651806B}</a:tableStyleId>
              </a:tblPr>
              <a:tblGrid>
                <a:gridCol w="708400"/>
                <a:gridCol w="1402425"/>
                <a:gridCol w="918425"/>
              </a:tblGrid>
              <a:tr h="27865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ru-RU" sz="1500" u="none" cap="none" strike="noStrike"/>
                        <a:t>Книги</a:t>
                      </a:r>
                      <a:endParaRPr b="1" sz="15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541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ru-RU" sz="1500" u="none" cap="none" strike="noStrike"/>
                        <a:t>№ книги *</a:t>
                      </a:r>
                      <a:endParaRPr b="1" sz="15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ru-RU" sz="1500" u="none" cap="none" strike="noStrike"/>
                        <a:t>Название</a:t>
                      </a:r>
                      <a:endParaRPr b="1" sz="15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ru-RU" sz="1500" u="none" cap="none" strike="noStrike"/>
                        <a:t>Автор</a:t>
                      </a:r>
                      <a:endParaRPr b="1" sz="15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6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ru-RU" sz="1500" u="none" cap="none" strike="noStrike"/>
                        <a:t>1</a:t>
                      </a:r>
                      <a:endParaRPr sz="15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ru-RU" sz="1500" u="none" cap="none" strike="noStrike"/>
                        <a:t>Математика</a:t>
                      </a:r>
                      <a:endParaRPr sz="15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ru-RU" sz="1500" u="none" cap="none" strike="noStrike"/>
                        <a:t>1</a:t>
                      </a:r>
                      <a:endParaRPr sz="15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6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ru-RU" sz="1500" u="none" cap="none" strike="noStrike"/>
                        <a:t>2</a:t>
                      </a:r>
                      <a:endParaRPr sz="15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ru-RU" sz="1500" u="none" cap="none" strike="noStrike"/>
                        <a:t>Математика</a:t>
                      </a:r>
                      <a:endParaRPr sz="15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ru-RU" sz="1500" u="none" cap="none" strike="noStrike"/>
                        <a:t>2</a:t>
                      </a:r>
                      <a:endParaRPr sz="15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6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ru-RU" sz="1500" u="none" cap="none" strike="noStrike"/>
                        <a:t>3</a:t>
                      </a:r>
                      <a:endParaRPr sz="15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ru-RU" sz="1500" u="none" cap="none" strike="noStrike"/>
                        <a:t>Физика</a:t>
                      </a:r>
                      <a:endParaRPr sz="15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ru-RU" sz="1500" u="none" cap="none" strike="noStrike"/>
                        <a:t>1</a:t>
                      </a:r>
                      <a:endParaRPr sz="15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2" name="Google Shape;242;p40"/>
          <p:cNvGraphicFramePr/>
          <p:nvPr/>
        </p:nvGraphicFramePr>
        <p:xfrm>
          <a:off x="5208061" y="342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{5EB9499D-84D6-48C9-BF9B-6E59B651806B}</a:tableStyleId>
              </a:tblPr>
              <a:tblGrid>
                <a:gridCol w="925750"/>
                <a:gridCol w="1515200"/>
              </a:tblGrid>
              <a:tr h="2786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ru-RU" sz="1500" u="none" cap="none" strike="noStrike"/>
                        <a:t>Авторы</a:t>
                      </a:r>
                      <a:endParaRPr b="1" sz="15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541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ru-RU" sz="1500" u="none" cap="none" strike="noStrike"/>
                        <a:t>№ автора *</a:t>
                      </a:r>
                      <a:endParaRPr b="1" sz="15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ru-RU" sz="1500" u="none" cap="none" strike="noStrike"/>
                        <a:t>ФИО</a:t>
                      </a:r>
                      <a:endParaRPr b="1" sz="15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6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ru-RU" sz="1500" u="none" cap="none" strike="noStrike"/>
                        <a:t>1</a:t>
                      </a:r>
                      <a:endParaRPr sz="15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ru-RU" sz="1500" u="none" cap="none" strike="noStrike"/>
                        <a:t>Эйнштейн</a:t>
                      </a:r>
                      <a:endParaRPr sz="15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6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ru-RU" sz="1500" u="none" cap="none" strike="noStrike"/>
                        <a:t>2</a:t>
                      </a:r>
                      <a:endParaRPr sz="15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ru-RU" sz="1500" u="none" cap="none" strike="noStrike"/>
                        <a:t>Пифагор</a:t>
                      </a:r>
                      <a:endParaRPr sz="15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43" name="Google Shape;243;p40"/>
          <p:cNvCxnSpPr/>
          <p:nvPr/>
        </p:nvCxnSpPr>
        <p:spPr>
          <a:xfrm rot="10800000">
            <a:off x="3657600" y="3764100"/>
            <a:ext cx="1552749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4" name="Google Shape;244;p40"/>
          <p:cNvSpPr txBox="1"/>
          <p:nvPr/>
        </p:nvSpPr>
        <p:spPr>
          <a:xfrm>
            <a:off x="3978361" y="3306367"/>
            <a:ext cx="1634210" cy="33907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ru-RU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Публикует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1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251" name="Google Shape;251;p41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252" name="Google Shape;252;p41"/>
          <p:cNvSpPr txBox="1"/>
          <p:nvPr/>
        </p:nvSpPr>
        <p:spPr>
          <a:xfrm>
            <a:off x="561626" y="1104295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вида реляционных связей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41"/>
          <p:cNvSpPr txBox="1"/>
          <p:nvPr/>
        </p:nvSpPr>
        <p:spPr>
          <a:xfrm>
            <a:off x="561627" y="1734851"/>
            <a:ext cx="3321896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85725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- 1:1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85725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- 1:М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85725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М:М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Связь 1:1 или М:М устанавливается, когда невозможно выделить главное или подчиненное отношение.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Связь М:М характеризуется как слабый тип связи или ее отсутствие.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4" name="Google Shape;25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3523" y="1706750"/>
            <a:ext cx="5038619" cy="38101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5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261" name="Google Shape;261;p115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262" name="Google Shape;262;p115"/>
          <p:cNvSpPr txBox="1"/>
          <p:nvPr/>
        </p:nvSpPr>
        <p:spPr>
          <a:xfrm>
            <a:off x="577074" y="115469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Связь M:M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3" name="Google Shape;263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8003" y="1734851"/>
            <a:ext cx="7167994" cy="3628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16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270" name="Google Shape;270;p116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271" name="Google Shape;271;p116"/>
          <p:cNvSpPr txBox="1"/>
          <p:nvPr/>
        </p:nvSpPr>
        <p:spPr>
          <a:xfrm>
            <a:off x="326174" y="115469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Целостность данных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16"/>
          <p:cNvSpPr txBox="1"/>
          <p:nvPr/>
        </p:nvSpPr>
        <p:spPr>
          <a:xfrm>
            <a:off x="326174" y="1575433"/>
            <a:ext cx="8453025" cy="1407956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Примеры нарушений целостности данных: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75" lvl="0" marL="3429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arenR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существование записей-сирот (дочерних записей, не имеющих связи с родительскими записями);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75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arenR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существование одинаковых первичных ключей.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3" name="Google Shape;273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2194" y="2911341"/>
            <a:ext cx="4339613" cy="30373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17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280" name="Google Shape;280;p117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281" name="Google Shape;281;p117"/>
          <p:cNvSpPr txBox="1"/>
          <p:nvPr/>
        </p:nvSpPr>
        <p:spPr>
          <a:xfrm>
            <a:off x="326173" y="115469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Реляционная алгебра в моделях данных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17"/>
          <p:cNvSpPr txBox="1"/>
          <p:nvPr/>
        </p:nvSpPr>
        <p:spPr>
          <a:xfrm>
            <a:off x="326173" y="1734851"/>
            <a:ext cx="8440994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Реляционная алгебра</a:t>
            </a: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(РА) - множество реляционных объектов с данной совокупностью применимых к ним операций.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Базовый вариант РА включает в себя 8 основных операций над отношениями, делящиеся на 2 группы: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75" lvl="0" marL="3429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arenR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Теоретико-множественные (объединение, вычитание, пересечение, произведение);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75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arenR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Специальные реляционные операции (выборка, проекция, деление, соединение) - развитие обычных теоретико-множественных операций, применительно к конкретным задачам манипулирования данными.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18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289" name="Google Shape;289;p118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290" name="Google Shape;290;p118"/>
          <p:cNvSpPr txBox="1"/>
          <p:nvPr/>
        </p:nvSpPr>
        <p:spPr>
          <a:xfrm>
            <a:off x="373116" y="1222672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Объединение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18"/>
          <p:cNvSpPr txBox="1"/>
          <p:nvPr/>
        </p:nvSpPr>
        <p:spPr>
          <a:xfrm>
            <a:off x="259266" y="1734851"/>
            <a:ext cx="8662876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Объединением 2-ух совместимых отношений R1 и R2 одинаковой размерности (R1 UNION R2) является отношение R, содержащее все элементы исходных отношений.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075" y="3227237"/>
            <a:ext cx="1997684" cy="12792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3" name="Google Shape;293;p118"/>
          <p:cNvGraphicFramePr/>
          <p:nvPr/>
        </p:nvGraphicFramePr>
        <p:xfrm>
          <a:off x="3039995" y="30453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{5EB9499D-84D6-48C9-BF9B-6E59B651806B}</a:tableStyleId>
              </a:tblPr>
              <a:tblGrid>
                <a:gridCol w="810550"/>
                <a:gridCol w="694800"/>
              </a:tblGrid>
              <a:tr h="2064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100" u="none" cap="none" strike="noStrike"/>
                        <a:t>Новости</a:t>
                      </a:r>
                      <a:endParaRPr b="1" sz="11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06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100" u="none" cap="none" strike="noStrike"/>
                        <a:t>Заголовок</a:t>
                      </a:r>
                      <a:endParaRPr b="1" sz="11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100" u="none" cap="none" strike="noStrike"/>
                        <a:t>Превью</a:t>
                      </a:r>
                      <a:endParaRPr b="1" sz="11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/>
                        <a:t>Заголовок 1</a:t>
                      </a:r>
                      <a:endParaRPr sz="11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/>
                        <a:t>Превью 1</a:t>
                      </a:r>
                      <a:endParaRPr sz="11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/>
                        <a:t>Заголовок 2</a:t>
                      </a:r>
                      <a:endParaRPr sz="11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/>
                        <a:t>Превью 2</a:t>
                      </a:r>
                      <a:endParaRPr sz="11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/>
                        <a:t>Заголовок 3</a:t>
                      </a:r>
                      <a:endParaRPr sz="11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/>
                        <a:t>Превью 3</a:t>
                      </a:r>
                      <a:endParaRPr sz="11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94" name="Google Shape;294;p118"/>
          <p:cNvGraphicFramePr/>
          <p:nvPr/>
        </p:nvGraphicFramePr>
        <p:xfrm>
          <a:off x="4969233" y="32272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{5EB9499D-84D6-48C9-BF9B-6E59B651806B}</a:tableStyleId>
              </a:tblPr>
              <a:tblGrid>
                <a:gridCol w="502625"/>
                <a:gridCol w="597475"/>
              </a:tblGrid>
              <a:tr h="2000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ru-RU" sz="1000" u="none" cap="none" strike="noStrike"/>
                        <a:t>Пользователи</a:t>
                      </a:r>
                      <a:endParaRPr b="1" sz="10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ru-RU" sz="1000" u="none" cap="none" strike="noStrike"/>
                        <a:t>Логин</a:t>
                      </a:r>
                      <a:endParaRPr b="1" sz="10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ru-RU" sz="1000" u="none" cap="none" strike="noStrike"/>
                        <a:t>Пароль</a:t>
                      </a:r>
                      <a:endParaRPr b="1" sz="10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000" u="none" cap="none" strike="noStrike"/>
                        <a:t>Логин 1</a:t>
                      </a:r>
                      <a:endParaRPr sz="10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000" u="none" cap="none" strike="noStrike"/>
                        <a:t>Пароль 1</a:t>
                      </a:r>
                      <a:endParaRPr sz="10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000" u="none" cap="none" strike="noStrike"/>
                        <a:t>Логин 2</a:t>
                      </a:r>
                      <a:endParaRPr sz="10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000" u="none" cap="none" strike="noStrike"/>
                        <a:t>Пароль 2</a:t>
                      </a:r>
                      <a:endParaRPr sz="10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000" u="none" cap="none" strike="noStrike"/>
                        <a:t>Логин 3</a:t>
                      </a:r>
                      <a:endParaRPr sz="10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000" u="none" cap="none" strike="noStrike"/>
                        <a:t>Пароль 3</a:t>
                      </a:r>
                      <a:endParaRPr sz="10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95" name="Google Shape;295;p118"/>
          <p:cNvGraphicFramePr/>
          <p:nvPr/>
        </p:nvGraphicFramePr>
        <p:xfrm>
          <a:off x="6782730" y="3045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{5EB9499D-84D6-48C9-BF9B-6E59B651806B}</a:tableStyleId>
              </a:tblPr>
              <a:tblGrid>
                <a:gridCol w="787050"/>
                <a:gridCol w="718300"/>
              </a:tblGrid>
              <a:tr h="3653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ru-RU" sz="1000" u="none" cap="none" strike="noStrike"/>
                        <a:t>Новости UNION Пользователи</a:t>
                      </a:r>
                      <a:endParaRPr b="1" sz="10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ru-RU" sz="1000" u="none" cap="none" strike="noStrike"/>
                        <a:t>Заголовок</a:t>
                      </a:r>
                      <a:endParaRPr b="1" sz="10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ru-RU" sz="1000" u="none" cap="none" strike="noStrike"/>
                        <a:t>Превью</a:t>
                      </a:r>
                      <a:endParaRPr b="1" sz="10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000" u="none" cap="none" strike="noStrike"/>
                        <a:t>Заголовок 1</a:t>
                      </a:r>
                      <a:endParaRPr sz="10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000" u="none" cap="none" strike="noStrike"/>
                        <a:t>Превью 1</a:t>
                      </a:r>
                      <a:endParaRPr sz="10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000" u="none" cap="none" strike="noStrike"/>
                        <a:t>Заголовок 2</a:t>
                      </a:r>
                      <a:endParaRPr sz="10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000" u="none" cap="none" strike="noStrike"/>
                        <a:t>Превью 2</a:t>
                      </a:r>
                      <a:endParaRPr sz="10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000" u="none" cap="none" strike="noStrike"/>
                        <a:t>Заголовок 3</a:t>
                      </a:r>
                      <a:endParaRPr sz="10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000" u="none" cap="none" strike="noStrike"/>
                        <a:t>Превью 3</a:t>
                      </a:r>
                      <a:endParaRPr sz="10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000" u="none" cap="none" strike="noStrike"/>
                        <a:t>Логин 1</a:t>
                      </a:r>
                      <a:endParaRPr sz="10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000" u="none" cap="none" strike="noStrike"/>
                        <a:t>Пароль 1</a:t>
                      </a:r>
                      <a:endParaRPr sz="10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000" u="none" cap="none" strike="noStrike"/>
                        <a:t>Логин 2</a:t>
                      </a:r>
                      <a:endParaRPr sz="10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000" u="none" cap="none" strike="noStrike"/>
                        <a:t>Пароль 2</a:t>
                      </a:r>
                      <a:endParaRPr sz="10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000" u="none" cap="none" strike="noStrike"/>
                        <a:t>Логин 3</a:t>
                      </a:r>
                      <a:endParaRPr sz="10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000" u="none" cap="none" strike="noStrike"/>
                        <a:t>Пароль 3</a:t>
                      </a:r>
                      <a:endParaRPr sz="1000" u="none" cap="none" strike="noStrike"/>
                    </a:p>
                  </a:txBody>
                  <a:tcPr marT="19050" marB="19050" marR="21425" marL="2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19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302" name="Google Shape;302;p119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303" name="Google Shape;303;p119"/>
          <p:cNvSpPr txBox="1"/>
          <p:nvPr/>
        </p:nvSpPr>
        <p:spPr>
          <a:xfrm>
            <a:off x="414248" y="125988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Вычитание (разность)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19"/>
          <p:cNvSpPr txBox="1"/>
          <p:nvPr/>
        </p:nvSpPr>
        <p:spPr>
          <a:xfrm>
            <a:off x="414248" y="1773644"/>
            <a:ext cx="8404899" cy="3671043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Вычитанием двух совместимых отношений R1 и R2 одинаковой размерности (R1 MINUS R2) является отношение R, тело которого состоит из множества кортежей, принадлежащих R1, но не принадлежащих R2.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5" name="Google Shape;305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88801" y="3167314"/>
            <a:ext cx="3366398" cy="2181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20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312" name="Google Shape;312;p120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313" name="Google Shape;313;p120"/>
          <p:cNvSpPr txBox="1"/>
          <p:nvPr/>
        </p:nvSpPr>
        <p:spPr>
          <a:xfrm>
            <a:off x="326174" y="12281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Пересечение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20"/>
          <p:cNvSpPr txBox="1"/>
          <p:nvPr/>
        </p:nvSpPr>
        <p:spPr>
          <a:xfrm>
            <a:off x="326174" y="1710083"/>
            <a:ext cx="8525215" cy="3691274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Пересечение двух совместимых отношений R1 и R2 одинаковой размерности (R1 INSERT R2) порождает отношение R с телом, включающим в себя кортежи принадлежащие одновременно двум отношениям.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5" name="Google Shape;315;p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9014" y="2959199"/>
            <a:ext cx="4002979" cy="2442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21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322" name="Google Shape;322;p121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323" name="Google Shape;323;p121"/>
          <p:cNvSpPr txBox="1"/>
          <p:nvPr/>
        </p:nvSpPr>
        <p:spPr>
          <a:xfrm>
            <a:off x="428462" y="1233459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Правила контроля целостности данных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21"/>
          <p:cNvSpPr txBox="1"/>
          <p:nvPr/>
        </p:nvSpPr>
        <p:spPr>
          <a:xfrm>
            <a:off x="259267" y="1720800"/>
            <a:ext cx="8513183" cy="1903713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-257175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arenR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Каждой записи главной таблицы соответствует &gt;= 0 записей подчиненной таблицы;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75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arenR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 подчиненной таблице нет записей не имеющих родительской записи в главной таблице;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75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arenR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Каждая запись подчиненной таблицы имеет только 1 запись главной таблицы.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22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331" name="Google Shape;331;p122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332" name="Google Shape;332;p122"/>
          <p:cNvSpPr txBox="1"/>
          <p:nvPr/>
        </p:nvSpPr>
        <p:spPr>
          <a:xfrm>
            <a:off x="577074" y="1240485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Условие сохранения целостности данных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22"/>
          <p:cNvSpPr/>
          <p:nvPr/>
        </p:nvSpPr>
        <p:spPr>
          <a:xfrm>
            <a:off x="421105" y="1734851"/>
            <a:ext cx="8085221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57175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arenR"/>
            </a:pPr>
            <a:r>
              <a:rPr b="0" i="0" lang="ru-RU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Данные вводятся сначала в главную таблицу, потом - в подчиненную.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75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arenR"/>
            </a:pPr>
            <a:r>
              <a:rPr b="0" i="0" lang="ru-RU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Запрещен ввод в поле связи в подчиненной таблице значений не совпадающих ни с одним значением поля связи главной таблицы.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75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arenR"/>
            </a:pPr>
            <a:r>
              <a:rPr b="0" i="0" lang="ru-RU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Редактировать поля связи главной таблицы разрешено только если у этой записи нет подчиненных. Либо оно должно производиться каскадно - в главной и подчиненной таблице одновременно.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75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arenR"/>
            </a:pPr>
            <a:r>
              <a:rPr b="0" i="0" lang="ru-RU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Можно удалять те записи главной таблицы, у которых нет подчиненных. Либо необходимо производить каскадное удаление.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23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340" name="Google Shape;340;p123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341" name="Google Shape;341;p123"/>
          <p:cNvSpPr txBox="1"/>
          <p:nvPr/>
        </p:nvSpPr>
        <p:spPr>
          <a:xfrm>
            <a:off x="375196" y="1233459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Избыточность. Аномалии операций с данными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23"/>
          <p:cNvSpPr txBox="1"/>
          <p:nvPr/>
        </p:nvSpPr>
        <p:spPr>
          <a:xfrm>
            <a:off x="259267" y="1720800"/>
            <a:ext cx="8513183" cy="1903713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857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Виды аномалий операций с данными: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28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Аномалия вставки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28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Аномалия удаления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28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Аномалия обновления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28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Аномалия выборки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24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349" name="Google Shape;349;p124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350" name="Google Shape;350;p124"/>
          <p:cNvSpPr txBox="1"/>
          <p:nvPr/>
        </p:nvSpPr>
        <p:spPr>
          <a:xfrm>
            <a:off x="499483" y="1018500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Аномалия удаления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1" name="Google Shape;351;p1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2605" y="1564107"/>
            <a:ext cx="7158791" cy="39886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25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358" name="Google Shape;358;p125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359" name="Google Shape;359;p125"/>
          <p:cNvSpPr txBox="1"/>
          <p:nvPr/>
        </p:nvSpPr>
        <p:spPr>
          <a:xfrm>
            <a:off x="279973" y="1233862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Метод нормальных форм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25"/>
          <p:cNvSpPr txBox="1"/>
          <p:nvPr/>
        </p:nvSpPr>
        <p:spPr>
          <a:xfrm>
            <a:off x="233775" y="1721606"/>
            <a:ext cx="8525215" cy="3782478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Классический метод проектирования реляционных баз данных.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Основан на анализе </a:t>
            </a: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функциональных зависимостей</a:t>
            </a: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(ФЗ) между атрибутами отношений.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Функциональные зависимости описывают устойчивые отношения между объектами и их свойствами в рассматриваемой предметной области.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25"/>
          <p:cNvSpPr/>
          <p:nvPr/>
        </p:nvSpPr>
        <p:spPr>
          <a:xfrm>
            <a:off x="279973" y="3760755"/>
            <a:ext cx="8432816" cy="1708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Атрибут В </a:t>
            </a:r>
            <a:r>
              <a:rPr b="1" i="0" lang="ru-RU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функционально зависит</a:t>
            </a:r>
            <a:r>
              <a:rPr b="0" i="0" lang="ru-RU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от атрибута А (</a:t>
            </a:r>
            <a:r>
              <a:rPr b="1" i="0" lang="ru-RU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 -&gt; В</a:t>
            </a:r>
            <a:r>
              <a:rPr b="0" i="0" lang="ru-RU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 если каждому значению А соответствует в точности одно значение В. То есть, во всех кортежах с одинаковым значением А, В будет также иметь одно и то же значение. А и В </a:t>
            </a:r>
            <a:r>
              <a:rPr b="0" i="0" lang="ru-RU" sz="21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могут</a:t>
            </a:r>
            <a:r>
              <a:rPr b="0" i="0" lang="ru-RU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состоять из &gt;=2 атрибутов, то есть быть составными.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26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368" name="Google Shape;368;p126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369" name="Google Shape;369;p126"/>
          <p:cNvSpPr txBox="1"/>
          <p:nvPr/>
        </p:nvSpPr>
        <p:spPr>
          <a:xfrm>
            <a:off x="577074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Нормальные формы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0" name="Google Shape;370;p1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0856" y="1556961"/>
            <a:ext cx="6762289" cy="4443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27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377" name="Google Shape;377;p127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378" name="Google Shape;378;p127"/>
          <p:cNvSpPr txBox="1"/>
          <p:nvPr/>
        </p:nvSpPr>
        <p:spPr>
          <a:xfrm>
            <a:off x="506053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1НФ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27"/>
          <p:cNvSpPr txBox="1"/>
          <p:nvPr/>
        </p:nvSpPr>
        <p:spPr>
          <a:xfrm>
            <a:off x="326174" y="1630021"/>
            <a:ext cx="8356772" cy="2251823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Определение 1: </a:t>
            </a: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отношение находится в 1НФ, если все его атрибуты являются простыми (имеют единственное значение). Исходное отношение всегда находится в 1НФ.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Определение 2: </a:t>
            </a: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Переменная отношения находится в первой нормальной форме тогда и только тогда, когда в любом допустимом значении отношения каждый его кортеж содержит только одно значение для каждого из атрибутов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80" name="Google Shape;380;p127"/>
          <p:cNvGraphicFramePr/>
          <p:nvPr/>
        </p:nvGraphicFramePr>
        <p:xfrm>
          <a:off x="1453219" y="42403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{5EB9499D-84D6-48C9-BF9B-6E59B651806B}</a:tableStyleId>
              </a:tblPr>
              <a:tblGrid>
                <a:gridCol w="985850"/>
                <a:gridCol w="1321600"/>
              </a:tblGrid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Сотрудник*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Номер телефона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12425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Иванов И. И.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283-56-82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390-57-34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Петров П. П.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708-62-34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81" name="Google Shape;381;p127"/>
          <p:cNvGraphicFramePr/>
          <p:nvPr/>
        </p:nvGraphicFramePr>
        <p:xfrm>
          <a:off x="4572000" y="42213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{5EB9499D-84D6-48C9-BF9B-6E59B651806B}</a:tableStyleId>
              </a:tblPr>
              <a:tblGrid>
                <a:gridCol w="1000125"/>
                <a:gridCol w="1285875"/>
              </a:tblGrid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Сотрудник*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6299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Номер телефона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Иванов И. И.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6299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283-56-82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Иванов И. И.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6299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390-57-34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Петров П. П.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6299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708-62-34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2" name="Google Shape;382;p127"/>
          <p:cNvSpPr txBox="1"/>
          <p:nvPr/>
        </p:nvSpPr>
        <p:spPr>
          <a:xfrm>
            <a:off x="1298794" y="3948196"/>
            <a:ext cx="2776725" cy="35617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75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-RU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 1 - НЕнормализованная форма (НЕ 1НФ)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27"/>
          <p:cNvSpPr txBox="1"/>
          <p:nvPr/>
        </p:nvSpPr>
        <p:spPr>
          <a:xfrm>
            <a:off x="4422038" y="3948196"/>
            <a:ext cx="2585925" cy="35617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75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-RU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 2 - нормализованное отношение (1НФ)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28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390" name="Google Shape;390;p128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391" name="Google Shape;391;p128"/>
          <p:cNvSpPr txBox="1"/>
          <p:nvPr/>
        </p:nvSpPr>
        <p:spPr>
          <a:xfrm>
            <a:off x="385105" y="1211409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2НФ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28"/>
          <p:cNvSpPr txBox="1"/>
          <p:nvPr/>
        </p:nvSpPr>
        <p:spPr>
          <a:xfrm>
            <a:off x="233775" y="1721606"/>
            <a:ext cx="8688367" cy="17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Определение 1: </a:t>
            </a: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отношение находится во 2НФ, если оно находится в 1НФ и каждый неключевой атрибут функционально полно зависит от первичного ключа (составного).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Определение 2: </a:t>
            </a: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переменная отношения находится во второй нормальной форме тогда и только тогда, когда она находится в первой нормальной форме и каждый неключевой атрибут неприводимо зависит от её потенциального ключа.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93" name="Google Shape;393;p128"/>
          <p:cNvGraphicFramePr/>
          <p:nvPr/>
        </p:nvGraphicFramePr>
        <p:xfrm>
          <a:off x="385105" y="43429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{5EB9499D-84D6-48C9-BF9B-6E59B651806B}</a:tableStyleId>
              </a:tblPr>
              <a:tblGrid>
                <a:gridCol w="757250"/>
                <a:gridCol w="757250"/>
                <a:gridCol w="621500"/>
                <a:gridCol w="1235875"/>
              </a:tblGrid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Сотрудник*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Должность*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534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Зарплата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489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Наличие компьютера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Гришин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Кладовщик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534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20000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2489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Нет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Васильев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Программист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534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40000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2489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Есть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Иванов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Кладовщик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534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25000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2489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Нет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94" name="Google Shape;394;p128"/>
          <p:cNvSpPr txBox="1"/>
          <p:nvPr/>
        </p:nvSpPr>
        <p:spPr>
          <a:xfrm>
            <a:off x="326174" y="4122700"/>
            <a:ext cx="3094650" cy="35617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75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-RU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 3 - НЕнормализованное отношение (НЕ 2НФ)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95" name="Google Shape;395;p128"/>
          <p:cNvGraphicFramePr/>
          <p:nvPr/>
        </p:nvGraphicFramePr>
        <p:xfrm>
          <a:off x="5163422" y="393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{5EB9499D-84D6-48C9-BF9B-6E59B651806B}</a:tableStyleId>
              </a:tblPr>
              <a:tblGrid>
                <a:gridCol w="785825"/>
                <a:gridCol w="757250"/>
                <a:gridCol w="657225"/>
              </a:tblGrid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Сотрудник*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Должность*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534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Зарплата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Гришин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Кладовщик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534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20000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Васильев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Программист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534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40000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Иванов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Кладовщик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534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25000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96" name="Google Shape;396;p128"/>
          <p:cNvSpPr txBox="1"/>
          <p:nvPr/>
        </p:nvSpPr>
        <p:spPr>
          <a:xfrm>
            <a:off x="5252879" y="3613388"/>
            <a:ext cx="1881000" cy="35617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75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-RU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 4 - Сотрудники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97" name="Google Shape;397;p128"/>
          <p:cNvGraphicFramePr/>
          <p:nvPr/>
        </p:nvGraphicFramePr>
        <p:xfrm>
          <a:off x="5163422" y="50838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{5EB9499D-84D6-48C9-BF9B-6E59B651806B}</a:tableStyleId>
              </a:tblPr>
              <a:tblGrid>
                <a:gridCol w="800100"/>
                <a:gridCol w="1400175"/>
              </a:tblGrid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Должность*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820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Наличие компьютера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Кладовщик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820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Нет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Программист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820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Есть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98" name="Google Shape;398;p128"/>
          <p:cNvSpPr txBox="1"/>
          <p:nvPr/>
        </p:nvSpPr>
        <p:spPr>
          <a:xfrm>
            <a:off x="5204270" y="4683024"/>
            <a:ext cx="2001150" cy="35617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75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-RU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 5 - Наличие компьютера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29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405" name="Google Shape;405;p129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406" name="Google Shape;406;p129"/>
          <p:cNvSpPr txBox="1"/>
          <p:nvPr/>
        </p:nvSpPr>
        <p:spPr>
          <a:xfrm>
            <a:off x="387076" y="1290882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3НФ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29"/>
          <p:cNvSpPr txBox="1"/>
          <p:nvPr/>
        </p:nvSpPr>
        <p:spPr>
          <a:xfrm>
            <a:off x="233775" y="1721606"/>
            <a:ext cx="8688367" cy="126045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Определение 1:</a:t>
            </a: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отношение находится в ЗНФ, если оно находится в 2НФ и каждый неключевой атрибут нетранзитивно зависит от первичного ключа.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Определение 2: </a:t>
            </a: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отношение находится в ЗНФ в том и только в том случае, если все неключевые атрибуты отношения взаимно независимы и полностью зависят от первичного ключа.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08" name="Google Shape;408;p129"/>
          <p:cNvGraphicFramePr/>
          <p:nvPr/>
        </p:nvGraphicFramePr>
        <p:xfrm>
          <a:off x="509361" y="3984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{5EB9499D-84D6-48C9-BF9B-6E59B651806B}</a:tableStyleId>
              </a:tblPr>
              <a:tblGrid>
                <a:gridCol w="792950"/>
                <a:gridCol w="778675"/>
                <a:gridCol w="892975"/>
              </a:tblGrid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Сотрудник*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Отдел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Телефон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Гришин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Бухгалтерия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11-22-33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Васильев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Бухгалтерия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11-22-33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Петров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Снабжение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44-55-66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9" name="Google Shape;409;p129"/>
          <p:cNvSpPr txBox="1"/>
          <p:nvPr/>
        </p:nvSpPr>
        <p:spPr>
          <a:xfrm>
            <a:off x="326174" y="3641237"/>
            <a:ext cx="2951550" cy="35617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75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-RU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 6 - НЕнормализованное отношение (НЕ 3НФ)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10" name="Google Shape;410;p129"/>
          <p:cNvGraphicFramePr/>
          <p:nvPr/>
        </p:nvGraphicFramePr>
        <p:xfrm>
          <a:off x="5359231" y="3784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{5EB9499D-84D6-48C9-BF9B-6E59B651806B}</a:tableStyleId>
              </a:tblPr>
              <a:tblGrid>
                <a:gridCol w="764375"/>
                <a:gridCol w="857250"/>
              </a:tblGrid>
              <a:tr h="200025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Отдел*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Телефон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Бухгалтерия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11-22-33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Снабжение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44-55-66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11" name="Google Shape;411;p129"/>
          <p:cNvGraphicFramePr/>
          <p:nvPr/>
        </p:nvGraphicFramePr>
        <p:xfrm>
          <a:off x="5309225" y="4973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{5EB9499D-84D6-48C9-BF9B-6E59B651806B}</a:tableStyleId>
              </a:tblPr>
              <a:tblGrid>
                <a:gridCol w="792950"/>
                <a:gridCol w="928700"/>
              </a:tblGrid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Сотрудник*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Отдел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Гришин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Бухгалтерия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Васильев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Бухгалтерия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Петров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Снабжение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2" name="Google Shape;412;p129"/>
          <p:cNvSpPr txBox="1"/>
          <p:nvPr/>
        </p:nvSpPr>
        <p:spPr>
          <a:xfrm>
            <a:off x="5435637" y="3347126"/>
            <a:ext cx="1653300" cy="35617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75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-RU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 7 - Отделы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29"/>
          <p:cNvSpPr txBox="1"/>
          <p:nvPr/>
        </p:nvSpPr>
        <p:spPr>
          <a:xfrm>
            <a:off x="5435637" y="4594532"/>
            <a:ext cx="1345950" cy="35617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75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-RU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 8 - Сотрудники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30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420" name="Google Shape;420;p130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421" name="Google Shape;421;p130"/>
          <p:cNvSpPr txBox="1"/>
          <p:nvPr/>
        </p:nvSpPr>
        <p:spPr>
          <a:xfrm>
            <a:off x="509882" y="1240485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Язык SQL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30"/>
          <p:cNvSpPr/>
          <p:nvPr/>
        </p:nvSpPr>
        <p:spPr>
          <a:xfrm>
            <a:off x="421105" y="1734851"/>
            <a:ext cx="8085221" cy="24976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-средства манипулирования данными (Data Manipulation Language, DML);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 средства определения данных (Data Definition Language, DDL);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-расширения, предусмотренные стандартом, но не входящие в основное ядро языка;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-дополнительные средства, обеспечивающие описание особенностей, специфических для конкретной СУБД. 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18c5e933e9_0_368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429" name="Google Shape;429;g118c5e933e9_0_368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430" name="Google Shape;430;g118c5e933e9_0_368"/>
          <p:cNvSpPr txBox="1"/>
          <p:nvPr/>
        </p:nvSpPr>
        <p:spPr>
          <a:xfrm>
            <a:off x="577074" y="1240484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Простые типы данных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g118c5e933e9_0_368"/>
          <p:cNvSpPr/>
          <p:nvPr/>
        </p:nvSpPr>
        <p:spPr>
          <a:xfrm>
            <a:off x="421105" y="1734850"/>
            <a:ext cx="8085221" cy="31892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Целые числа (int, integer)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Вещественные числа (real, double precision)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Десятичные числа (decimal, numeric)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 Строки фиксированной длины (char)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 Строки переменной длины (varchar, tex)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 Дата (date)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 Время суток (time)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 Отметки времени (timestamp)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 Логический тип (boolean)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118c5e933e9_0_282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438" name="Google Shape;438;g118c5e933e9_0_282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439" name="Google Shape;439;g118c5e933e9_0_282"/>
          <p:cNvSpPr txBox="1"/>
          <p:nvPr/>
        </p:nvSpPr>
        <p:spPr>
          <a:xfrm>
            <a:off x="577075" y="1246889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Основные конструкции и синтаксис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g118c5e933e9_0_282"/>
          <p:cNvSpPr/>
          <p:nvPr/>
        </p:nvSpPr>
        <p:spPr>
          <a:xfrm>
            <a:off x="577075" y="2516778"/>
            <a:ext cx="7006237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Например: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ru-RU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 current_date;</a:t>
            </a:r>
            <a:endParaRPr b="0" i="1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ru-RU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current_date </a:t>
            </a:r>
            <a:endParaRPr b="0" i="1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ru-RU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--------------</a:t>
            </a:r>
            <a:endParaRPr b="0" i="1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ru-RU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2023-02-15 (1 row) </a:t>
            </a:r>
            <a:endParaRPr b="0" i="1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g118c5e933e9_0_282"/>
          <p:cNvSpPr/>
          <p:nvPr/>
        </p:nvSpPr>
        <p:spPr>
          <a:xfrm>
            <a:off x="561626" y="1822606"/>
            <a:ext cx="7800321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Оператор SQL = вид оператора + clause (предложение)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118c5e933e9_0_379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448" name="Google Shape;448;g118c5e933e9_0_379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449" name="Google Shape;449;g118c5e933e9_0_379"/>
          <p:cNvSpPr txBox="1"/>
          <p:nvPr/>
        </p:nvSpPr>
        <p:spPr>
          <a:xfrm>
            <a:off x="577074" y="1183172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Описание данных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0" name="Google Shape;450;g118c5e933e9_0_3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075" y="1660566"/>
            <a:ext cx="3334217" cy="1291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g118c5e933e9_0_3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8065" y="1660567"/>
            <a:ext cx="4358861" cy="1291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g118c5e933e9_0_37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1626" y="3429000"/>
            <a:ext cx="3077601" cy="70084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g118c5e933e9_0_379"/>
          <p:cNvSpPr txBox="1"/>
          <p:nvPr/>
        </p:nvSpPr>
        <p:spPr>
          <a:xfrm>
            <a:off x="561627" y="4129839"/>
            <a:ext cx="3865995" cy="1544989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PRIMARY 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FOREIGN 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118c5e933e9_0_390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460" name="Google Shape;460;g118c5e933e9_0_390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461" name="Google Shape;461;g118c5e933e9_0_390"/>
          <p:cNvSpPr txBox="1"/>
          <p:nvPr/>
        </p:nvSpPr>
        <p:spPr>
          <a:xfrm>
            <a:off x="499483" y="1396895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Заполнение таблиц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2" name="Google Shape;462;g118c5e933e9_0_3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091" y="2047671"/>
            <a:ext cx="6617062" cy="1658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118c5e933e9_0_399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469" name="Google Shape;469;g118c5e933e9_0_399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470" name="Google Shape;470;g118c5e933e9_0_399"/>
          <p:cNvSpPr txBox="1"/>
          <p:nvPr/>
        </p:nvSpPr>
        <p:spPr>
          <a:xfrm>
            <a:off x="577074" y="1269759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Чтение данных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1" name="Google Shape;471;g118c5e933e9_0_3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2396" y="1734851"/>
            <a:ext cx="5390451" cy="1703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g118c5e933e9_0_3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32396" y="3652824"/>
            <a:ext cx="5026271" cy="18384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118c5e933e9_0_415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479" name="Google Shape;479;g118c5e933e9_0_415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480" name="Google Shape;480;g118c5e933e9_0_415"/>
          <p:cNvSpPr txBox="1"/>
          <p:nvPr/>
        </p:nvSpPr>
        <p:spPr>
          <a:xfrm>
            <a:off x="490606" y="1252004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Модификация данных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1" name="Google Shape;481;g118c5e933e9_0_4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8152" y="1734851"/>
            <a:ext cx="4787696" cy="1734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g118c5e933e9_0_4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3916" y="3683842"/>
            <a:ext cx="4921504" cy="14393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118c5e933e9_0_643"/>
          <p:cNvSpPr txBox="1"/>
          <p:nvPr>
            <p:ph type="title"/>
          </p:nvPr>
        </p:nvSpPr>
        <p:spPr>
          <a:xfrm>
            <a:off x="311700" y="791156"/>
            <a:ext cx="8520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Основные понятия</a:t>
            </a:r>
            <a:endParaRPr/>
          </a:p>
        </p:txBody>
      </p:sp>
      <p:sp>
        <p:nvSpPr>
          <p:cNvPr id="488" name="Google Shape;488;g118c5e933e9_0_643"/>
          <p:cNvSpPr txBox="1"/>
          <p:nvPr>
            <p:ph idx="1" type="body"/>
          </p:nvPr>
        </p:nvSpPr>
        <p:spPr>
          <a:xfrm>
            <a:off x="311700" y="2048844"/>
            <a:ext cx="8520600" cy="60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Метод «сущность-связь» основывается на одноименной инфологической модели, которая также получила название Entity Relationship или модель ER-диаграмм. Основными понятиями этой модели являются: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/>
              <a:t>сущность;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/>
              <a:t>атрибут сущности;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/>
              <a:t>ключ сущности;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/>
              <a:t>связь между сущностями;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/>
              <a:t>степень связи;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/>
              <a:t>класс принадлежности экземпляров сущности;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/>
              <a:t>диаграммы ЕR -типа.</a:t>
            </a:r>
            <a:endParaRPr/>
          </a:p>
        </p:txBody>
      </p:sp>
      <p:sp>
        <p:nvSpPr>
          <p:cNvPr id="489" name="Google Shape;489;g118c5e933e9_0_643"/>
          <p:cNvSpPr txBox="1"/>
          <p:nvPr>
            <p:ph idx="12" type="sldNum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118c5e933e9_0_649"/>
          <p:cNvSpPr txBox="1"/>
          <p:nvPr>
            <p:ph type="title"/>
          </p:nvPr>
        </p:nvSpPr>
        <p:spPr>
          <a:xfrm>
            <a:off x="311700" y="791156"/>
            <a:ext cx="8520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Сущность</a:t>
            </a:r>
            <a:endParaRPr/>
          </a:p>
        </p:txBody>
      </p:sp>
      <p:sp>
        <p:nvSpPr>
          <p:cNvPr id="495" name="Google Shape;495;g118c5e933e9_0_649"/>
          <p:cNvSpPr txBox="1"/>
          <p:nvPr>
            <p:ph idx="1" type="body"/>
          </p:nvPr>
        </p:nvSpPr>
        <p:spPr>
          <a:xfrm>
            <a:off x="311700" y="2048844"/>
            <a:ext cx="8520600" cy="60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/>
              <a:t>Сущность представляет собой объект, информация о котором хранится в БД. Экземпляры сущности отличаются друг от друга и однозначно идентифицируются.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ru-RU"/>
              <a:t>Названиями сущностей являются, как правило, существительные.</a:t>
            </a:r>
            <a:endParaRPr/>
          </a:p>
        </p:txBody>
      </p:sp>
      <p:sp>
        <p:nvSpPr>
          <p:cNvPr id="496" name="Google Shape;496;g118c5e933e9_0_649"/>
          <p:cNvSpPr txBox="1"/>
          <p:nvPr>
            <p:ph idx="12" type="sldNum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118c5e933e9_0_655"/>
          <p:cNvSpPr txBox="1"/>
          <p:nvPr>
            <p:ph type="title"/>
          </p:nvPr>
        </p:nvSpPr>
        <p:spPr>
          <a:xfrm>
            <a:off x="311700" y="791156"/>
            <a:ext cx="8520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Атрибут и связь</a:t>
            </a:r>
            <a:endParaRPr/>
          </a:p>
        </p:txBody>
      </p:sp>
      <p:sp>
        <p:nvSpPr>
          <p:cNvPr id="502" name="Google Shape;502;g118c5e933e9_0_655"/>
          <p:cNvSpPr txBox="1"/>
          <p:nvPr>
            <p:ph idx="1" type="body"/>
          </p:nvPr>
        </p:nvSpPr>
        <p:spPr>
          <a:xfrm>
            <a:off x="311700" y="2048844"/>
            <a:ext cx="8520600" cy="60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Атрибут представляет собой свойство сущности. Это понятие аналогично понятию атрибута в отношении.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Ключ сущности - атрибут или набор атрибутов, используемый для идентификации экземпляра сущности. Как видно из определения, понятие ключа сущности аналогично понятию ключа отношения.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ru-RU"/>
              <a:t>Связь двух или более сущностей - предполагает зависимость между атрибутами этих сущностей. Название связи обычно представляется глаголом.</a:t>
            </a:r>
            <a:endParaRPr/>
          </a:p>
        </p:txBody>
      </p:sp>
      <p:sp>
        <p:nvSpPr>
          <p:cNvPr id="503" name="Google Shape;503;g118c5e933e9_0_655"/>
          <p:cNvSpPr txBox="1"/>
          <p:nvPr>
            <p:ph idx="12" type="sldNum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118c5e933e9_0_661"/>
          <p:cNvSpPr txBox="1"/>
          <p:nvPr>
            <p:ph type="title"/>
          </p:nvPr>
        </p:nvSpPr>
        <p:spPr>
          <a:xfrm>
            <a:off x="311700" y="791156"/>
            <a:ext cx="8520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Степень и класс</a:t>
            </a:r>
            <a:endParaRPr/>
          </a:p>
        </p:txBody>
      </p:sp>
      <p:sp>
        <p:nvSpPr>
          <p:cNvPr id="509" name="Google Shape;509;g118c5e933e9_0_661"/>
          <p:cNvSpPr txBox="1"/>
          <p:nvPr>
            <p:ph idx="1" type="body"/>
          </p:nvPr>
        </p:nvSpPr>
        <p:spPr>
          <a:xfrm>
            <a:off x="311700" y="2048844"/>
            <a:ext cx="8520600" cy="60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-RU">
                <a:solidFill>
                  <a:schemeClr val="dk1"/>
                </a:solidFill>
              </a:rPr>
              <a:t>Степень связи</a:t>
            </a:r>
            <a:r>
              <a:rPr lang="ru-RU">
                <a:solidFill>
                  <a:schemeClr val="dk1"/>
                </a:solidFill>
              </a:rPr>
              <a:t> является характеристикой связи между сущностями, которая может быть типа: 1:1, 1:М, М:1, М:М (где 1 - один (-), а М - много (⋗)).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ru-RU">
                <a:solidFill>
                  <a:schemeClr val="dk1"/>
                </a:solidFill>
              </a:rPr>
              <a:t>Класс принадлежности</a:t>
            </a:r>
            <a:r>
              <a:rPr lang="ru-RU">
                <a:solidFill>
                  <a:schemeClr val="dk1"/>
                </a:solidFill>
              </a:rPr>
              <a:t> сущности может быть: обязательным ( | ) и необязательным (        ).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ru-RU">
                <a:solidFill>
                  <a:schemeClr val="dk1"/>
                </a:solidFill>
              </a:rPr>
              <a:t>Класс принадлежности сущности является обязательным, если все экземпляры этой сущности обязательно участвуют в рассматриваемой связи, в противном случае класс принадлежности сущности является необязательным.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10" name="Google Shape;510;g118c5e933e9_0_661"/>
          <p:cNvSpPr/>
          <p:nvPr/>
        </p:nvSpPr>
        <p:spPr>
          <a:xfrm>
            <a:off x="2479900" y="3193467"/>
            <a:ext cx="169500" cy="2259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g118c5e933e9_0_661"/>
          <p:cNvSpPr txBox="1"/>
          <p:nvPr>
            <p:ph idx="12" type="sldNum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118c5e933e9_0_668"/>
          <p:cNvSpPr txBox="1"/>
          <p:nvPr>
            <p:ph type="title"/>
          </p:nvPr>
        </p:nvSpPr>
        <p:spPr>
          <a:xfrm>
            <a:off x="311700" y="791156"/>
            <a:ext cx="8520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Процесс проектирования</a:t>
            </a:r>
            <a:endParaRPr/>
          </a:p>
        </p:txBody>
      </p:sp>
      <p:sp>
        <p:nvSpPr>
          <p:cNvPr id="517" name="Google Shape;517;g118c5e933e9_0_668"/>
          <p:cNvSpPr txBox="1"/>
          <p:nvPr>
            <p:ph idx="1" type="body"/>
          </p:nvPr>
        </p:nvSpPr>
        <p:spPr>
          <a:xfrm>
            <a:off x="311700" y="2048844"/>
            <a:ext cx="8520600" cy="60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400"/>
              <a:t>Процесс проектирования базы данных итерационный, допускающий возврат к предыдущим этапам для пересмотра ранее принятых решений и включает следующие этапы: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ru-RU" sz="1400"/>
              <a:t>выделение сущностей и связей между ними;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ru-RU" sz="1400"/>
              <a:t>построение диаграмм ЕR-типа с учетом всех сущностей и их связей;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ru-RU" sz="1400"/>
              <a:t>формирование набора предварительных отношений с указанием предполагаемого первичного ключа для каждого отношения и использованием диаграмм ЕR-типа;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ru-RU" sz="1400"/>
              <a:t>добавление неключевых атрибутов в отношения;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ru-RU" sz="1400"/>
              <a:t>приведение предварительных отношений к нормальной форме Бойса-Кодда, например, с помощью метода нормальных форм;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ru-RU" sz="1400"/>
              <a:t>пересмотр ЕR-диаграмм в следующих случаях:</a:t>
            </a:r>
            <a:endParaRPr sz="1400"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ru-RU" sz="1400"/>
              <a:t>некоторые отношения не приводятся к нормальной форме Бойса-Кодда;</a:t>
            </a:r>
            <a:endParaRPr sz="1400"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ru-RU" sz="1400"/>
              <a:t>некоторым атрибутам не находится логически обоснованных мест в предварительных отношениях.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 sz="1400"/>
              <a:t>После преобразования ЕR-диаграмм, осуществляется повторное выполнение предыдущих этапов проектирования (возврат к этапу 1).</a:t>
            </a:r>
            <a:endParaRPr sz="1400"/>
          </a:p>
        </p:txBody>
      </p:sp>
      <p:sp>
        <p:nvSpPr>
          <p:cNvPr id="518" name="Google Shape;518;g118c5e933e9_0_668"/>
          <p:cNvSpPr txBox="1"/>
          <p:nvPr>
            <p:ph idx="12" type="sldNum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118c5e933e9_0_674"/>
          <p:cNvSpPr txBox="1"/>
          <p:nvPr>
            <p:ph type="title"/>
          </p:nvPr>
        </p:nvSpPr>
        <p:spPr>
          <a:xfrm>
            <a:off x="311700" y="791156"/>
            <a:ext cx="8520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Формирование предварительных отношений</a:t>
            </a:r>
            <a:endParaRPr/>
          </a:p>
        </p:txBody>
      </p:sp>
      <p:sp>
        <p:nvSpPr>
          <p:cNvPr id="524" name="Google Shape;524;g118c5e933e9_0_674"/>
          <p:cNvSpPr txBox="1"/>
          <p:nvPr>
            <p:ph idx="1" type="body"/>
          </p:nvPr>
        </p:nvSpPr>
        <p:spPr>
          <a:xfrm>
            <a:off x="311700" y="2048844"/>
            <a:ext cx="8520600" cy="60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ru-RU"/>
              <a:t>Одним из узловых этапов проектирования является этап формирования отношений. В зависимости от класса принадлежности и степени связи выделяют 6 правил формирования предварительных отношений из исходной ЕR-диаграммы.</a:t>
            </a:r>
            <a:endParaRPr/>
          </a:p>
        </p:txBody>
      </p:sp>
      <p:sp>
        <p:nvSpPr>
          <p:cNvPr id="525" name="Google Shape;525;g118c5e933e9_0_674"/>
          <p:cNvSpPr txBox="1"/>
          <p:nvPr>
            <p:ph idx="12" type="sldNum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118c5e933e9_0_680"/>
          <p:cNvSpPr txBox="1"/>
          <p:nvPr>
            <p:ph type="title"/>
          </p:nvPr>
        </p:nvSpPr>
        <p:spPr>
          <a:xfrm>
            <a:off x="311700" y="791156"/>
            <a:ext cx="8520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1 правило</a:t>
            </a:r>
            <a:endParaRPr/>
          </a:p>
        </p:txBody>
      </p:sp>
      <p:sp>
        <p:nvSpPr>
          <p:cNvPr id="531" name="Google Shape;531;g118c5e933e9_0_680"/>
          <p:cNvSpPr txBox="1"/>
          <p:nvPr>
            <p:ph idx="1" type="body"/>
          </p:nvPr>
        </p:nvSpPr>
        <p:spPr>
          <a:xfrm>
            <a:off x="311700" y="2048844"/>
            <a:ext cx="8520600" cy="60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ru-RU"/>
              <a:t>Правило 1. Если степень бинарной связи 1:1 и класс принадлежности обеих сущностей обязательный, то формируется одно отношение. Первичным ключом этого отношения может быть ключ любой из двух сущностей.</a:t>
            </a:r>
            <a:endParaRPr/>
          </a:p>
        </p:txBody>
      </p:sp>
      <p:pic>
        <p:nvPicPr>
          <p:cNvPr id="532" name="Google Shape;532;g118c5e933e9_0_6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8825" y="4065533"/>
            <a:ext cx="5086350" cy="87630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g118c5e933e9_0_680"/>
          <p:cNvSpPr txBox="1"/>
          <p:nvPr>
            <p:ph idx="12" type="sldNum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118c5e933e9_0_687"/>
          <p:cNvSpPr txBox="1"/>
          <p:nvPr>
            <p:ph type="title"/>
          </p:nvPr>
        </p:nvSpPr>
        <p:spPr>
          <a:xfrm>
            <a:off x="311700" y="791156"/>
            <a:ext cx="8520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2 правило</a:t>
            </a:r>
            <a:endParaRPr/>
          </a:p>
        </p:txBody>
      </p:sp>
      <p:sp>
        <p:nvSpPr>
          <p:cNvPr id="539" name="Google Shape;539;g118c5e933e9_0_687"/>
          <p:cNvSpPr txBox="1"/>
          <p:nvPr>
            <p:ph idx="1" type="body"/>
          </p:nvPr>
        </p:nvSpPr>
        <p:spPr>
          <a:xfrm>
            <a:off x="311700" y="2048844"/>
            <a:ext cx="8520600" cy="60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ru-RU"/>
              <a:t>Правило 2. Если степень связи 1:1 и класс принадлежности одной сущности обязательный, а второй - необязательный, то под каждую из сущностей формируется по отношению с первичными ключами, являющимися ключами соответствующих сущностей. Далее к отношению, сущность которого имеет обязательный класс принадлежности, добавляется в качестве атрибута ключ сущности с необязательным классом принадлежности.</a:t>
            </a:r>
            <a:endParaRPr/>
          </a:p>
        </p:txBody>
      </p:sp>
      <p:pic>
        <p:nvPicPr>
          <p:cNvPr id="540" name="Google Shape;540;g118c5e933e9_0_6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1525" y="4621333"/>
            <a:ext cx="6162675" cy="942975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g118c5e933e9_0_687"/>
          <p:cNvSpPr txBox="1"/>
          <p:nvPr>
            <p:ph idx="12" type="sldNum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118c5e933e9_0_694"/>
          <p:cNvSpPr txBox="1"/>
          <p:nvPr>
            <p:ph type="title"/>
          </p:nvPr>
        </p:nvSpPr>
        <p:spPr>
          <a:xfrm>
            <a:off x="311700" y="791156"/>
            <a:ext cx="8520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3 правило</a:t>
            </a:r>
            <a:endParaRPr/>
          </a:p>
        </p:txBody>
      </p:sp>
      <p:sp>
        <p:nvSpPr>
          <p:cNvPr id="547" name="Google Shape;547;g118c5e933e9_0_694"/>
          <p:cNvSpPr txBox="1"/>
          <p:nvPr>
            <p:ph idx="1" type="body"/>
          </p:nvPr>
        </p:nvSpPr>
        <p:spPr>
          <a:xfrm>
            <a:off x="311700" y="2048844"/>
            <a:ext cx="8520600" cy="60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ru-RU"/>
              <a:t>Правило 3. Если степень связи 1:1 и класс принадлежности обеих сущностей является необязательным, то необходимо использовать три отношения. Два отношения соответствуют связываемым сущностям, ключи которых являются первичными в этих отношениях. Третье отношение является связным между первыми двумя, поэтому его ключ объединяет ключевые атрибуты связываемых отношений.</a:t>
            </a:r>
            <a:endParaRPr/>
          </a:p>
        </p:txBody>
      </p:sp>
      <p:pic>
        <p:nvPicPr>
          <p:cNvPr id="548" name="Google Shape;548;g118c5e933e9_0_6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3988" y="4659000"/>
            <a:ext cx="6296025" cy="885825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g118c5e933e9_0_694"/>
          <p:cNvSpPr txBox="1"/>
          <p:nvPr>
            <p:ph idx="12" type="sldNum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118c5e933e9_0_701"/>
          <p:cNvSpPr txBox="1"/>
          <p:nvPr>
            <p:ph type="title"/>
          </p:nvPr>
        </p:nvSpPr>
        <p:spPr>
          <a:xfrm>
            <a:off x="311700" y="791156"/>
            <a:ext cx="8520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4 правило</a:t>
            </a:r>
            <a:endParaRPr/>
          </a:p>
        </p:txBody>
      </p:sp>
      <p:sp>
        <p:nvSpPr>
          <p:cNvPr id="555" name="Google Shape;555;g118c5e933e9_0_701"/>
          <p:cNvSpPr txBox="1"/>
          <p:nvPr>
            <p:ph idx="1" type="body"/>
          </p:nvPr>
        </p:nvSpPr>
        <p:spPr>
          <a:xfrm>
            <a:off x="311700" y="2048844"/>
            <a:ext cx="8520600" cy="60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ru-RU"/>
              <a:t>Правило 4. Если степень связи между сущностями 1:М (или М:1) и класс принадлежности М-связной сущности обязательный, то достаточно формирование двух отношений (по одному на каждую из сущностей). При этом первичными ключами этих отношений являются ключи их сущностей. Кроме того, ключ 1-связной сущности добавляется как атрибут (внешний ключ) в отношение, соответствующее М-связной сущности.</a:t>
            </a:r>
            <a:endParaRPr/>
          </a:p>
        </p:txBody>
      </p:sp>
      <p:pic>
        <p:nvPicPr>
          <p:cNvPr id="556" name="Google Shape;556;g118c5e933e9_0_7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6650" y="4589167"/>
            <a:ext cx="6181725" cy="971550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g118c5e933e9_0_701"/>
          <p:cNvSpPr txBox="1"/>
          <p:nvPr>
            <p:ph idx="12" type="sldNum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18c5e933e9_0_708"/>
          <p:cNvSpPr txBox="1"/>
          <p:nvPr>
            <p:ph type="title"/>
          </p:nvPr>
        </p:nvSpPr>
        <p:spPr>
          <a:xfrm>
            <a:off x="311700" y="791156"/>
            <a:ext cx="8520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5 правило</a:t>
            </a:r>
            <a:endParaRPr/>
          </a:p>
        </p:txBody>
      </p:sp>
      <p:sp>
        <p:nvSpPr>
          <p:cNvPr id="563" name="Google Shape;563;g118c5e933e9_0_708"/>
          <p:cNvSpPr txBox="1"/>
          <p:nvPr>
            <p:ph idx="1" type="body"/>
          </p:nvPr>
        </p:nvSpPr>
        <p:spPr>
          <a:xfrm>
            <a:off x="311700" y="2048844"/>
            <a:ext cx="8520600" cy="60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ru-RU"/>
              <a:t>Правило 5. Если степень связи 1:М (М:1) и класс принадлежности М-связной сущности является необязательным, то необходимо формирование трех отношений. Два отношения соответствуют связываемым сущностям, ключи которых являются первичными в этих отношениях. Третье отношение является связным между первыми двумя (его ключ объединяет ключевые атрибуты связываемых отношений).</a:t>
            </a:r>
            <a:endParaRPr/>
          </a:p>
        </p:txBody>
      </p:sp>
      <p:pic>
        <p:nvPicPr>
          <p:cNvPr id="564" name="Google Shape;564;g118c5e933e9_0_7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7625" y="4772067"/>
            <a:ext cx="6296025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g118c5e933e9_0_708"/>
          <p:cNvSpPr txBox="1"/>
          <p:nvPr>
            <p:ph idx="12" type="sldNum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18c5e933e9_0_715"/>
          <p:cNvSpPr txBox="1"/>
          <p:nvPr>
            <p:ph type="title"/>
          </p:nvPr>
        </p:nvSpPr>
        <p:spPr>
          <a:xfrm>
            <a:off x="311700" y="791156"/>
            <a:ext cx="8520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6 правило</a:t>
            </a:r>
            <a:endParaRPr/>
          </a:p>
        </p:txBody>
      </p:sp>
      <p:sp>
        <p:nvSpPr>
          <p:cNvPr id="571" name="Google Shape;571;g118c5e933e9_0_715"/>
          <p:cNvSpPr txBox="1"/>
          <p:nvPr>
            <p:ph idx="1" type="body"/>
          </p:nvPr>
        </p:nvSpPr>
        <p:spPr>
          <a:xfrm>
            <a:off x="311700" y="2048844"/>
            <a:ext cx="8520600" cy="60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ru-RU"/>
              <a:t>Правило 6. Если степень связи М:М, то независимо от класса принадлежности сущностей формируются три отношения. Два отношения соответствуют связываемым сущностям и их ключи являются первичными ключами этих отношений. Третье отношение является связным между первыми двумя, а его ключ объединяет ключевые атрибуты связываемых отношений.</a:t>
            </a:r>
            <a:endParaRPr/>
          </a:p>
        </p:txBody>
      </p:sp>
      <p:pic>
        <p:nvPicPr>
          <p:cNvPr id="572" name="Google Shape;572;g118c5e933e9_0_7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7175" y="4659000"/>
            <a:ext cx="6296025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g118c5e933e9_0_715"/>
          <p:cNvSpPr txBox="1"/>
          <p:nvPr>
            <p:ph idx="12" type="sldNum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118c5e933e9_0_728"/>
          <p:cNvSpPr txBox="1"/>
          <p:nvPr>
            <p:ph type="title"/>
          </p:nvPr>
        </p:nvSpPr>
        <p:spPr>
          <a:xfrm>
            <a:off x="311700" y="791156"/>
            <a:ext cx="8520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Пример ER-диаграммы</a:t>
            </a:r>
            <a:endParaRPr/>
          </a:p>
        </p:txBody>
      </p:sp>
      <p:pic>
        <p:nvPicPr>
          <p:cNvPr id="579" name="Google Shape;579;g118c5e933e9_0_7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1975" y="1503200"/>
            <a:ext cx="5981700" cy="3495675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g118c5e933e9_0_728"/>
          <p:cNvSpPr txBox="1"/>
          <p:nvPr>
            <p:ph idx="12" type="sldNum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2021-08-31T10:18:59Z</dcterms:created>
  <dc:creator>User</dc:creator>
</cp:coreProperties>
</file>