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los Text"/>
      <p:regular r:id="rId22"/>
      <p:bold r:id="rId23"/>
    </p:embeddedFont>
    <p:embeddedFont>
      <p:font typeface="Golos Text SemiBold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GoogleSlidesCustomDataVersion2">
      <go:slidesCustomData xmlns:go="http://customooxmlschemas.google.com/" r:id="rId26" roundtripDataSignature="AMtx7mh8MIcN+hF4XM21FjI7daZElSoR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BCB8EF7-1C80-4DC8-A1F4-ABA92F8332E5}">
  <a:tblStyle styleId="{ABCB8EF7-1C80-4DC8-A1F4-ABA92F8332E5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11" orient="horz"/>
        <p:guide pos="287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GolosText-regular.fntdata"/><Relationship Id="rId21" Type="http://schemas.openxmlformats.org/officeDocument/2006/relationships/slide" Target="slides/slide15.xml"/><Relationship Id="rId24" Type="http://schemas.openxmlformats.org/officeDocument/2006/relationships/font" Target="fonts/GolosTextSemiBold-regular.fntdata"/><Relationship Id="rId23" Type="http://schemas.openxmlformats.org/officeDocument/2006/relationships/font" Target="fonts/GolosTex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customschemas.google.com/relationships/presentationmetadata" Target="metadata"/><Relationship Id="rId25" Type="http://schemas.openxmlformats.org/officeDocument/2006/relationships/font" Target="fonts/GolosTextSemiBold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Здравствуйте! Мы представляем доклад о законодательных актах и национальных стандартах Вьетнама в области информационной безопасности.</a:t>
            </a:r>
            <a:endParaRPr b="0" sz="2500"/>
          </a:p>
        </p:txBody>
      </p:sp>
      <p:sp>
        <p:nvSpPr>
          <p:cNvPr id="138" name="Google Shape;13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Международная практика обеспечения информационной безопасности основана на стандартах ISO и NIST.</a:t>
            </a:r>
            <a:endParaRPr sz="2500"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Они определяют требования к системе управления ИБ, мерам контроля и управлению рисками.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i="1"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i="1" lang="en-US" sz="2500">
                <a:latin typeface="Times New Roman"/>
                <a:ea typeface="Times New Roman"/>
                <a:cs typeface="Times New Roman"/>
                <a:sym typeface="Times New Roman"/>
              </a:rPr>
              <a:t>(không cần đọc)</a:t>
            </a:r>
            <a:endParaRPr i="1"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2750" lvl="0" marL="571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rial"/>
              <a:buChar char="•"/>
            </a:pPr>
            <a:r>
              <a:rPr i="1" lang="en-US" sz="2500">
                <a:latin typeface="Times New Roman"/>
                <a:ea typeface="Times New Roman"/>
                <a:cs typeface="Times New Roman"/>
                <a:sym typeface="Times New Roman"/>
              </a:rPr>
              <a:t>ISO/IEC 27001 определяет требования к системе менеджмента информационной безопасности.</a:t>
            </a:r>
            <a:endParaRPr sz="2500"/>
          </a:p>
          <a:p>
            <a:pPr indent="-412750" lvl="0" marL="571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rial"/>
              <a:buChar char="•"/>
            </a:pPr>
            <a:r>
              <a:rPr i="1" lang="en-US" sz="2500">
                <a:latin typeface="Times New Roman"/>
                <a:ea typeface="Times New Roman"/>
                <a:cs typeface="Times New Roman"/>
                <a:sym typeface="Times New Roman"/>
              </a:rPr>
              <a:t>ISO/IEC 27002 содержит основные меры контроля безопасности.</a:t>
            </a:r>
            <a:endParaRPr sz="2500"/>
          </a:p>
          <a:p>
            <a:pPr indent="-412750" lvl="0" marL="571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rial"/>
              <a:buChar char="•"/>
            </a:pPr>
            <a:r>
              <a:rPr i="1" lang="en-US" sz="2500">
                <a:latin typeface="Times New Roman"/>
                <a:ea typeface="Times New Roman"/>
                <a:cs typeface="Times New Roman"/>
                <a:sym typeface="Times New Roman"/>
              </a:rPr>
              <a:t>ISO/IEC 27005 посвящён управлению рисками.</a:t>
            </a:r>
            <a:endParaRPr sz="2500"/>
          </a:p>
          <a:p>
            <a:pPr indent="-412750" lvl="0" marL="571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rial"/>
              <a:buChar char="•"/>
            </a:pPr>
            <a:r>
              <a:rPr i="1" lang="en-US" sz="2500">
                <a:latin typeface="Times New Roman"/>
                <a:ea typeface="Times New Roman"/>
                <a:cs typeface="Times New Roman"/>
                <a:sym typeface="Times New Roman"/>
              </a:rPr>
              <a:t>Кроме того, NIST SP 800-53 включает каталог мер безопасности для информационных систем.</a:t>
            </a:r>
            <a:endParaRPr sz="2500"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Эти стандарты формируют основу современной практики кибербезопасности и используются в различных странах мира.</a:t>
            </a:r>
            <a:endParaRPr sz="2500"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Для нашей темы это важно, потому что национальные стандарты Вьетнама TCVN во многом гармонизированы с международными подходами и обеспечивают практическую реализацию законодательных требований.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4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500"/>
              <a:t>Целью нашей работы является анализ нормативной системы информационной безопасности Вьетнама и её роли в формировании национальной системы кибербезопасности.</a:t>
            </a:r>
            <a:endParaRPr b="0"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rial"/>
              <a:buChar char="•"/>
            </a:pPr>
            <a:r>
              <a:rPr b="1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достижения этой цели, мы решили следующие задачи как показаны на слайде 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rial"/>
              <a:buChar char="•"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Информационная безопасность представляет собой комплекс мер по защите информации, информационных систем и инфраструктуры от внутренних и внешних угроз.</a:t>
            </a:r>
            <a:endParaRPr sz="25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rial"/>
              <a:buChar char="•"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Для государства информационная безопасность имеет стратегическое значение, так как она обеспечивает устойчивость управления, защиту экономических и оборонных систем, а также безопасность критически важных сервисов.</a:t>
            </a:r>
            <a:endParaRPr sz="25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rial"/>
              <a:buChar char="•"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Во Вьетнаме информационная безопасность рассматривается как важный элемент национальной безопасности и цифрового суверенитета.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500"/>
              <a:t>В мировой практике выделяют три модели регулирования кибербезопасности: либеральную, смешанную и централизованную.</a:t>
            </a:r>
            <a:endParaRPr sz="2500"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500"/>
              <a:t>Во Вьетнаме реализуется централизованная модель, потому что государство устанавливает обязательные требования, контролирует критически важные системы и координирует реагирование на инциденты.</a:t>
            </a:r>
            <a:endParaRPr sz="2500"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i="1" lang="en-US" sz="2500"/>
              <a:t>Российская Федерация использует многоуровневую государственно-центричную модель, в которой важную роль играют законы, требования регуляторов и отраслевые стандарты. (nếu hỏi mới đọc)</a:t>
            </a:r>
            <a:b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2500"/>
              <a:t>Сравнение нормативных систем Российской Федерации и Вьетнама показывает, что обе страны рассматривают информационную безопасность как элемент национальной безопасности.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2500"/>
              <a:t>Однако механизмы регулирования различаются.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2500"/>
              <a:t>В России система регулирования носит многоуровневый характер и включает федеральные законы, доктрины и обязательные требования регуляторов.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2500"/>
              <a:t>Во Вьетнаме система более централизована и строится вокруг р</a:t>
            </a:r>
            <a:r>
              <a:rPr b="1" lang="en-US" sz="2500"/>
              <a:t>а</a:t>
            </a:r>
            <a:r>
              <a:rPr lang="en-US" sz="2500"/>
              <a:t>мочного закона и национальных стандартов TCVN.</a:t>
            </a:r>
            <a:endParaRPr sz="2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500"/>
              <a:t>КИИ (Критическая информационная инфраструктура)</a:t>
            </a:r>
            <a:r>
              <a:rPr lang="en-US" sz="2500"/>
              <a:t> </a:t>
            </a:r>
            <a:endParaRPr sz="2500"/>
          </a:p>
        </p:txBody>
      </p:sp>
      <p:sp>
        <p:nvSpPr>
          <p:cNvPr id="180" name="Google Shape;18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После сравнения с Российской Федерацией перейдём к системе регулирования во Вьетнаме.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Её ос</a:t>
            </a:r>
            <a:r>
              <a:rPr b="1" lang="en-US" sz="2500">
                <a:latin typeface="Times New Roman"/>
                <a:ea typeface="Times New Roman"/>
                <a:cs typeface="Times New Roman"/>
                <a:sym typeface="Times New Roman"/>
              </a:rPr>
              <a:t>но</a:t>
            </a: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вой является рамочный Закон о кибербезопасности. Далее его положения конкретизируются через подзаконные акты, национальные стандарты TCVN и о</a:t>
            </a:r>
            <a:r>
              <a:rPr b="1" lang="en-US" sz="2500">
                <a:latin typeface="Times New Roman"/>
                <a:ea typeface="Times New Roman"/>
                <a:cs typeface="Times New Roman"/>
                <a:sym typeface="Times New Roman"/>
              </a:rPr>
              <a:t>т</a:t>
            </a: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раслевые документы.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Таким образом, во Вьетнаме действует последовательная модель регулирования: сначала закон задаёт общие принципы, затем стандарты определяют практические меры защиты, а </a:t>
            </a:r>
            <a:r>
              <a:rPr b="1" lang="en-US" sz="2500">
                <a:latin typeface="Times New Roman"/>
                <a:ea typeface="Times New Roman"/>
                <a:cs typeface="Times New Roman"/>
                <a:sym typeface="Times New Roman"/>
              </a:rPr>
              <a:t>от</a:t>
            </a: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раслевые акты адаптируют эти требования к конкретным сферам.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Основным законо</a:t>
            </a:r>
            <a:r>
              <a:rPr b="1" lang="en-US" sz="2500">
                <a:latin typeface="Times New Roman"/>
                <a:ea typeface="Times New Roman"/>
                <a:cs typeface="Times New Roman"/>
                <a:sym typeface="Times New Roman"/>
              </a:rPr>
              <a:t>да</a:t>
            </a: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тельным актом в сфере информационной безопасности во Вьетнаме является Закон о кибербезопасности.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Он определяет принципы защиты национального киберпространства, устанавливает требования к безопасности данных и регулирует защиту критически важных информационных систем.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Кроме того, закон предусматривает меры по предотвращению киберугроз, реагированию на инциденты и координации действий государственных органов в сфере кибербезопасности.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TCVN — это национальные стандарты Вьетнама, которые играют важную роль в сфере информационной безопасности.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Они устанавливают единые требования к защите информационных систем, служат основой для аудита, проверок и оценки соответствия, а также помогают </a:t>
            </a: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практически</a:t>
            </a: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 реализовать положения закона.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Таким образом, стандарты TCVN обеспечивают переход от законодательных требований к конкретным мерам защиты, применяемым в государственных и критически важных системах.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Google Shape;208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Người t3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Одним из наиболее важных национальных стандартов в сфере информационной безопасности Вьетнама является TCVN 14423:2025 (четырнадцать тысяч четыреста двадцать три, две тысячи двадцать пять)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Этот стандарт устанавливает требования к защите государственных информационных систем и систем, важных для национальной безопасности.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Его значение заключается в том, что он переводит общие положения Закона о кибербезопасности в конкретные организационные и технические меры.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Кроме того, стандарт используется как основа для мониторинга, проверок и оценки соответствия, то есть играет ключевую роль в практической реализации государственной политики в сфере кибербезопасности.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" name="Google Shape;216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Стандарт TCVN 14423:2025 (четырнадцать тысяч четыреста двадцать три, две тысячи двадцать пять) определяет основные меры защиты информационных систем.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К ним относятся управление рисками, управление активами, контроль доступа, управление уязвимостями и мониторинг событий безопасности.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Кроме того, стандарт включает меры защиты от вредоносного программного обеспечения, резервное копирование данных и процедуры реагирования на инциденты.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Таким образом, стандарт охватывает полный цикл обеспечения информационной безопасности информационных систем.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Помимо общих законодательных требований и стандартов TCVN, во Вьетнаме действует отраслевое регулирование информационной безопасности.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В банковском секторе действует специальный документ — Thông tư 46/2025/TT-NHNN. Государственного банка Вьетнама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Он устанавливает требования к сети, контролю подключений, мониторингу безопасности и устранению уязвимостей.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Это показывает, как общие нормы закона и стандарты TCVN применяются на практике в отдельных отраслях.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Система управления информационной безопасностью во Вьетнаме включает несколько государственных органов.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Ключевую роль играют Министерство общественной безопасности и Министерство обороны.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Также важную функцию выполняют отраслевые регуляторы и национальные центры мониторинга, которые занимаются выявлением и анализом киберугроз.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" name="Google Shape;242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•В ходе работы мы пришли к выводу, что система информационной безопасности Вьетнама имеет централизованный и комплексный характер.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•Её основой является Закон о кибербезопасности, который дополняется национальными стандартами TCVN и отраслевыми нормативными актами.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•Ключевое значение имеет стандарт TCVN 14423:2025 (четырнадцать тысяч четыреста двадцать три, две тысячи двадцать пять) , поскольку он устанавливает конкретные требования к защите государственных и критически важных информационных систем.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•Таким образом, нормативная база Вьетнама формирует устойчивую модель регулирования, направленную на защиту киберпространства, данных и национальной инфраструктуры.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" name="Google Shape;251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b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Спасибо за внимание. Готовы ответить на ваши вопросы</a:t>
            </a:r>
            <a:endParaRPr sz="2500"/>
          </a:p>
        </p:txBody>
      </p:sp>
      <p:sp>
        <p:nvSpPr>
          <p:cNvPr id="259" name="Google Shape;259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0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0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0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0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20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kfql">
  <p:cSld name="Ckfql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" type="body"/>
          </p:nvPr>
        </p:nvSpPr>
        <p:spPr>
          <a:xfrm>
            <a:off x="457200" y="1211943"/>
            <a:ext cx="7467600" cy="3447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1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31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Пользовательский макет">
  <p:cSld name="10_Пользовательский маке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4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617" name="adj"/>
            </a:avLst>
          </a:prstGeom>
          <a:noFill/>
          <a:ln>
            <a:noFill/>
          </a:ln>
        </p:spPr>
      </p:sp>
      <p:sp>
        <p:nvSpPr>
          <p:cNvPr id="29" name="Google Shape;29;p44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4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 sz="14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">
  <p:cSld name="Финал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3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3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7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7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льзовательский макет">
  <p:cSld name="Пользовательский макет">
    <p:bg>
      <p:bgPr>
        <a:solidFill>
          <a:srgbClr val="FFFFFF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4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4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4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5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784" name="adj"/>
            </a:avLst>
          </a:prstGeom>
          <a:noFill/>
          <a:ln>
            <a:noFill/>
          </a:ln>
        </p:spPr>
      </p:sp>
      <p:sp>
        <p:nvSpPr>
          <p:cNvPr id="45" name="Google Shape;45;p25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5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Пользовательский макет">
  <p:cSld name="6_Пользовательский макет">
    <p:bg>
      <p:bgPr>
        <a:solidFill>
          <a:srgbClr val="FFFFFF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6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6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8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8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Пользовательский макет">
  <p:cSld name="3_Пользовательский макет"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9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9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952" name="adj"/>
            </a:avLst>
          </a:prstGeom>
          <a:noFill/>
          <a:ln>
            <a:noFill/>
          </a:ln>
        </p:spPr>
      </p:sp>
      <p:sp>
        <p:nvSpPr>
          <p:cNvPr id="59" name="Google Shape;59;p29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Пользовательский макет">
  <p:cSld name="7_Пользовательский макет"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0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0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Пользовательский макет">
  <p:cSld name="4_Пользовательский макет">
    <p:bg>
      <p:bgPr>
        <a:solidFill>
          <a:srgbClr val="FFFFFF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2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8957" name="adj"/>
            </a:avLst>
          </a:prstGeom>
          <a:noFill/>
          <a:ln>
            <a:noFill/>
          </a:ln>
        </p:spPr>
      </p:sp>
      <p:sp>
        <p:nvSpPr>
          <p:cNvPr id="66" name="Google Shape;66;p32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Пользовательский макет">
  <p:cSld name="8_Пользовательский макет">
    <p:bg>
      <p:bgPr>
        <a:solidFill>
          <a:srgbClr val="FFFFF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3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3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Пользовательский макет">
  <p:cSld name="2_Пользовательский макет">
    <p:bg>
      <p:bgPr>
        <a:solidFill>
          <a:srgbClr val="FFFFFF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4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4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34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34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4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Пользовательский макет">
  <p:cSld name="5_Пользовательский макет">
    <p:bg>
      <p:bgPr>
        <a:solidFill>
          <a:srgbClr val="FFFFFF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5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617" name="adj"/>
            </a:avLst>
          </a:prstGeom>
          <a:noFill/>
          <a:ln>
            <a:noFill/>
          </a:ln>
        </p:spPr>
      </p:sp>
      <p:sp>
        <p:nvSpPr>
          <p:cNvPr id="78" name="Google Shape;78;p35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5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6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6"/>
          <p:cNvSpPr txBox="1"/>
          <p:nvPr>
            <p:ph idx="1" type="body"/>
          </p:nvPr>
        </p:nvSpPr>
        <p:spPr>
          <a:xfrm>
            <a:off x="3102428" y="943208"/>
            <a:ext cx="5526315" cy="3875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36"/>
          <p:cNvSpPr/>
          <p:nvPr>
            <p:ph idx="2" type="pic"/>
          </p:nvPr>
        </p:nvSpPr>
        <p:spPr>
          <a:xfrm>
            <a:off x="457200" y="943208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84" name="Google Shape;84;p36"/>
          <p:cNvSpPr/>
          <p:nvPr>
            <p:ph idx="3" type="pic"/>
          </p:nvPr>
        </p:nvSpPr>
        <p:spPr>
          <a:xfrm>
            <a:off x="457200" y="2935720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Пользовательский макет">
  <p:cSld name="9_Пользовательский макет"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7"/>
          <p:cNvSpPr txBox="1"/>
          <p:nvPr>
            <p:ph idx="1" type="body"/>
          </p:nvPr>
        </p:nvSpPr>
        <p:spPr>
          <a:xfrm>
            <a:off x="457201" y="1059322"/>
            <a:ext cx="3897086" cy="17346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37"/>
          <p:cNvSpPr txBox="1"/>
          <p:nvPr>
            <p:ph idx="2" type="body"/>
          </p:nvPr>
        </p:nvSpPr>
        <p:spPr>
          <a:xfrm>
            <a:off x="457202" y="3105836"/>
            <a:ext cx="3897084" cy="16403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37"/>
          <p:cNvSpPr txBox="1"/>
          <p:nvPr>
            <p:ph idx="3" type="body"/>
          </p:nvPr>
        </p:nvSpPr>
        <p:spPr>
          <a:xfrm>
            <a:off x="4789714" y="1059322"/>
            <a:ext cx="3632201" cy="3686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37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8"/>
          <p:cNvSpPr txBox="1"/>
          <p:nvPr>
            <p:ph idx="1" type="body"/>
          </p:nvPr>
        </p:nvSpPr>
        <p:spPr>
          <a:xfrm>
            <a:off x="457201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38"/>
          <p:cNvSpPr txBox="1"/>
          <p:nvPr>
            <p:ph idx="2" type="body"/>
          </p:nvPr>
        </p:nvSpPr>
        <p:spPr>
          <a:xfrm>
            <a:off x="320945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38"/>
          <p:cNvSpPr txBox="1"/>
          <p:nvPr>
            <p:ph idx="3" type="body"/>
          </p:nvPr>
        </p:nvSpPr>
        <p:spPr>
          <a:xfrm>
            <a:off x="596980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38"/>
          <p:cNvSpPr txBox="1"/>
          <p:nvPr>
            <p:ph idx="4" type="body"/>
          </p:nvPr>
        </p:nvSpPr>
        <p:spPr>
          <a:xfrm>
            <a:off x="457200" y="3287828"/>
            <a:ext cx="2588883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302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95" name="Google Shape;95;p38"/>
          <p:cNvSpPr txBox="1"/>
          <p:nvPr>
            <p:ph idx="5" type="body"/>
          </p:nvPr>
        </p:nvSpPr>
        <p:spPr>
          <a:xfrm>
            <a:off x="3207251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96" name="Google Shape;96;p38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8"/>
          <p:cNvSpPr txBox="1"/>
          <p:nvPr>
            <p:ph idx="6" type="body"/>
          </p:nvPr>
        </p:nvSpPr>
        <p:spPr>
          <a:xfrm>
            <a:off x="5967600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98" name="Google Shape;98;p38"/>
          <p:cNvSpPr/>
          <p:nvPr>
            <p:ph idx="7" type="pic"/>
          </p:nvPr>
        </p:nvSpPr>
        <p:spPr>
          <a:xfrm>
            <a:off x="469081" y="944463"/>
            <a:ext cx="2577001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99" name="Google Shape;99;p38"/>
          <p:cNvSpPr/>
          <p:nvPr>
            <p:ph idx="8" type="pic"/>
          </p:nvPr>
        </p:nvSpPr>
        <p:spPr>
          <a:xfrm>
            <a:off x="3221666" y="944462"/>
            <a:ext cx="2577001" cy="1883023"/>
          </a:xfrm>
          <a:prstGeom prst="roundRect">
            <a:avLst>
              <a:gd fmla="val 12905" name="adj"/>
            </a:avLst>
          </a:prstGeom>
          <a:noFill/>
          <a:ln>
            <a:noFill/>
          </a:ln>
        </p:spPr>
      </p:sp>
      <p:sp>
        <p:nvSpPr>
          <p:cNvPr id="100" name="Google Shape;100;p38"/>
          <p:cNvSpPr/>
          <p:nvPr>
            <p:ph idx="9" type="pic"/>
          </p:nvPr>
        </p:nvSpPr>
        <p:spPr>
          <a:xfrm>
            <a:off x="5980690" y="944463"/>
            <a:ext cx="2577001" cy="1883023"/>
          </a:xfrm>
          <a:prstGeom prst="roundRect">
            <a:avLst>
              <a:gd fmla="val 10512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9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39"/>
          <p:cNvSpPr txBox="1"/>
          <p:nvPr>
            <p:ph idx="1" type="body"/>
          </p:nvPr>
        </p:nvSpPr>
        <p:spPr>
          <a:xfrm>
            <a:off x="5733143" y="949330"/>
            <a:ext cx="2895600" cy="3895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39"/>
          <p:cNvSpPr/>
          <p:nvPr>
            <p:ph idx="2" type="pic"/>
          </p:nvPr>
        </p:nvSpPr>
        <p:spPr>
          <a:xfrm>
            <a:off x="457200" y="949329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05" name="Google Shape;105;p39"/>
          <p:cNvSpPr/>
          <p:nvPr>
            <p:ph idx="3" type="pic"/>
          </p:nvPr>
        </p:nvSpPr>
        <p:spPr>
          <a:xfrm>
            <a:off x="3095171" y="949328"/>
            <a:ext cx="2532744" cy="1883023"/>
          </a:xfrm>
          <a:prstGeom prst="roundRect">
            <a:avLst>
              <a:gd fmla="val 11879" name="adj"/>
            </a:avLst>
          </a:prstGeom>
          <a:noFill/>
          <a:ln>
            <a:noFill/>
          </a:ln>
        </p:spPr>
      </p:sp>
      <p:sp>
        <p:nvSpPr>
          <p:cNvPr id="106" name="Google Shape;106;p39"/>
          <p:cNvSpPr/>
          <p:nvPr>
            <p:ph idx="4" type="pic"/>
          </p:nvPr>
        </p:nvSpPr>
        <p:spPr>
          <a:xfrm>
            <a:off x="3095171" y="2962031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07" name="Google Shape;107;p39"/>
          <p:cNvSpPr/>
          <p:nvPr>
            <p:ph idx="5" type="pic"/>
          </p:nvPr>
        </p:nvSpPr>
        <p:spPr>
          <a:xfrm>
            <a:off x="457199" y="2962031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0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40"/>
          <p:cNvSpPr txBox="1"/>
          <p:nvPr>
            <p:ph idx="1" type="body"/>
          </p:nvPr>
        </p:nvSpPr>
        <p:spPr>
          <a:xfrm>
            <a:off x="457201" y="963397"/>
            <a:ext cx="2532744" cy="1883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40"/>
          <p:cNvSpPr/>
          <p:nvPr>
            <p:ph idx="2" type="pic"/>
          </p:nvPr>
        </p:nvSpPr>
        <p:spPr>
          <a:xfrm>
            <a:off x="3095171" y="963397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12" name="Google Shape;112;p40"/>
          <p:cNvSpPr/>
          <p:nvPr>
            <p:ph idx="3" type="pic"/>
          </p:nvPr>
        </p:nvSpPr>
        <p:spPr>
          <a:xfrm>
            <a:off x="5733141" y="966928"/>
            <a:ext cx="2532744" cy="1883023"/>
          </a:xfrm>
          <a:prstGeom prst="roundRect">
            <a:avLst>
              <a:gd fmla="val 11196" name="adj"/>
            </a:avLst>
          </a:prstGeom>
          <a:noFill/>
          <a:ln>
            <a:noFill/>
          </a:ln>
        </p:spPr>
      </p:sp>
      <p:sp>
        <p:nvSpPr>
          <p:cNvPr id="113" name="Google Shape;113;p40"/>
          <p:cNvSpPr/>
          <p:nvPr>
            <p:ph idx="4" type="pic"/>
          </p:nvPr>
        </p:nvSpPr>
        <p:spPr>
          <a:xfrm>
            <a:off x="5733141" y="2954042"/>
            <a:ext cx="2532744" cy="1883023"/>
          </a:xfrm>
          <a:prstGeom prst="roundRect">
            <a:avLst>
              <a:gd fmla="val 8802" name="adj"/>
            </a:avLst>
          </a:prstGeom>
          <a:noFill/>
          <a:ln>
            <a:noFill/>
          </a:ln>
        </p:spPr>
      </p:sp>
      <p:sp>
        <p:nvSpPr>
          <p:cNvPr id="114" name="Google Shape;114;p40"/>
          <p:cNvSpPr/>
          <p:nvPr>
            <p:ph idx="5" type="pic"/>
          </p:nvPr>
        </p:nvSpPr>
        <p:spPr>
          <a:xfrm>
            <a:off x="3095171" y="2960314"/>
            <a:ext cx="2532744" cy="1883023"/>
          </a:xfrm>
          <a:prstGeom prst="roundRect">
            <a:avLst>
              <a:gd fmla="val 8459" name="adj"/>
            </a:avLst>
          </a:prstGeom>
          <a:noFill/>
          <a:ln>
            <a:noFill/>
          </a:ln>
        </p:spPr>
      </p:sp>
      <p:sp>
        <p:nvSpPr>
          <p:cNvPr id="115" name="Google Shape;115;p40"/>
          <p:cNvSpPr/>
          <p:nvPr>
            <p:ph idx="6" type="pic"/>
          </p:nvPr>
        </p:nvSpPr>
        <p:spPr>
          <a:xfrm>
            <a:off x="457200" y="2960314"/>
            <a:ext cx="2532744" cy="1883023"/>
          </a:xfrm>
          <a:prstGeom prst="roundRect">
            <a:avLst>
              <a:gd fmla="val 10169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1"/>
          <p:cNvSpPr txBox="1"/>
          <p:nvPr>
            <p:ph idx="1" type="body"/>
          </p:nvPr>
        </p:nvSpPr>
        <p:spPr>
          <a:xfrm>
            <a:off x="457201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41"/>
          <p:cNvSpPr txBox="1"/>
          <p:nvPr>
            <p:ph idx="2" type="body"/>
          </p:nvPr>
        </p:nvSpPr>
        <p:spPr>
          <a:xfrm>
            <a:off x="3275819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41"/>
          <p:cNvSpPr txBox="1"/>
          <p:nvPr>
            <p:ph idx="3" type="body"/>
          </p:nvPr>
        </p:nvSpPr>
        <p:spPr>
          <a:xfrm>
            <a:off x="6085706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p41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41"/>
          <p:cNvSpPr/>
          <p:nvPr>
            <p:ph idx="4" type="pic"/>
          </p:nvPr>
        </p:nvSpPr>
        <p:spPr>
          <a:xfrm>
            <a:off x="454050" y="952607"/>
            <a:ext cx="2589213" cy="1304294"/>
          </a:xfrm>
          <a:prstGeom prst="roundRect">
            <a:avLst>
              <a:gd fmla="val 9261" name="adj"/>
            </a:avLst>
          </a:prstGeom>
          <a:noFill/>
          <a:ln>
            <a:noFill/>
          </a:ln>
        </p:spPr>
      </p:sp>
      <p:sp>
        <p:nvSpPr>
          <p:cNvPr id="122" name="Google Shape;122;p41"/>
          <p:cNvSpPr/>
          <p:nvPr>
            <p:ph idx="5" type="pic"/>
          </p:nvPr>
        </p:nvSpPr>
        <p:spPr>
          <a:xfrm>
            <a:off x="3275818" y="952607"/>
            <a:ext cx="2589213" cy="1304294"/>
          </a:xfrm>
          <a:prstGeom prst="roundRect">
            <a:avLst>
              <a:gd fmla="val 11730" name="adj"/>
            </a:avLst>
          </a:prstGeom>
          <a:noFill/>
          <a:ln>
            <a:noFill/>
          </a:ln>
        </p:spPr>
      </p:sp>
      <p:sp>
        <p:nvSpPr>
          <p:cNvPr id="123" name="Google Shape;123;p41"/>
          <p:cNvSpPr/>
          <p:nvPr>
            <p:ph idx="6" type="pic"/>
          </p:nvPr>
        </p:nvSpPr>
        <p:spPr>
          <a:xfrm>
            <a:off x="6089789" y="952607"/>
            <a:ext cx="2589213" cy="1304294"/>
          </a:xfrm>
          <a:prstGeom prst="roundRect">
            <a:avLst>
              <a:gd fmla="val 10249" name="adj"/>
            </a:avLst>
          </a:prstGeom>
          <a:noFill/>
          <a:ln>
            <a:noFill/>
          </a:ln>
        </p:spPr>
      </p:sp>
      <p:sp>
        <p:nvSpPr>
          <p:cNvPr id="124" name="Google Shape;124;p41"/>
          <p:cNvSpPr txBox="1"/>
          <p:nvPr>
            <p:ph idx="7" type="body"/>
          </p:nvPr>
        </p:nvSpPr>
        <p:spPr>
          <a:xfrm>
            <a:off x="460352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41"/>
          <p:cNvSpPr txBox="1"/>
          <p:nvPr>
            <p:ph idx="8" type="body"/>
          </p:nvPr>
        </p:nvSpPr>
        <p:spPr>
          <a:xfrm>
            <a:off x="3278970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41"/>
          <p:cNvSpPr txBox="1"/>
          <p:nvPr>
            <p:ph idx="9" type="body"/>
          </p:nvPr>
        </p:nvSpPr>
        <p:spPr>
          <a:xfrm>
            <a:off x="6088857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41"/>
          <p:cNvSpPr/>
          <p:nvPr>
            <p:ph idx="13" type="pic"/>
          </p:nvPr>
        </p:nvSpPr>
        <p:spPr>
          <a:xfrm>
            <a:off x="457201" y="2866358"/>
            <a:ext cx="2589213" cy="1304294"/>
          </a:xfrm>
          <a:prstGeom prst="roundRect">
            <a:avLst>
              <a:gd fmla="val 12224" name="adj"/>
            </a:avLst>
          </a:prstGeom>
          <a:noFill/>
          <a:ln>
            <a:noFill/>
          </a:ln>
        </p:spPr>
      </p:sp>
      <p:sp>
        <p:nvSpPr>
          <p:cNvPr id="128" name="Google Shape;128;p41"/>
          <p:cNvSpPr/>
          <p:nvPr>
            <p:ph idx="14" type="pic"/>
          </p:nvPr>
        </p:nvSpPr>
        <p:spPr>
          <a:xfrm>
            <a:off x="3278969" y="2866358"/>
            <a:ext cx="2589213" cy="1304294"/>
          </a:xfrm>
          <a:prstGeom prst="roundRect">
            <a:avLst>
              <a:gd fmla="val 11236" name="adj"/>
            </a:avLst>
          </a:prstGeom>
          <a:noFill/>
          <a:ln>
            <a:noFill/>
          </a:ln>
        </p:spPr>
      </p:sp>
      <p:sp>
        <p:nvSpPr>
          <p:cNvPr id="129" name="Google Shape;129;p41"/>
          <p:cNvSpPr/>
          <p:nvPr>
            <p:ph idx="15" type="pic"/>
          </p:nvPr>
        </p:nvSpPr>
        <p:spPr>
          <a:xfrm>
            <a:off x="6092940" y="2866358"/>
            <a:ext cx="2589213" cy="1304294"/>
          </a:xfrm>
          <a:prstGeom prst="roundRect">
            <a:avLst>
              <a:gd fmla="val 9755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5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132" name="Google Shape;132;p45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2pPr>
            <a:lvl3pPr indent="-3302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133" name="Google Shape;133;p45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45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None/>
              <a:defRPr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135" name="Google Shape;135;p45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2pPr>
            <a:lvl3pPr indent="-3302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9"/>
          <p:cNvSpPr txBox="1"/>
          <p:nvPr>
            <p:ph idx="1" type="body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9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9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"/>
          <p:cNvSpPr txBox="1"/>
          <p:nvPr/>
        </p:nvSpPr>
        <p:spPr>
          <a:xfrm>
            <a:off x="382137" y="238836"/>
            <a:ext cx="8700448" cy="9540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Министерство науки и высшего образования Российской Федерации</a:t>
            </a:r>
            <a:endParaRPr b="0" i="0" sz="1400" u="none" cap="none" strike="noStrike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ФЕДЕРАЛЬНОЕ ГОСУДАРСТВЕННОЕ АВТОНОМНОЕ ОБРАЗОВАТЕЛЬНОЕ </a:t>
            </a:r>
            <a:endParaRPr b="0" i="0" sz="1400" u="none" cap="none" strike="noStrike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УЧРЕЖДЕНИЕ ВЫСШЕГО ОБРАЗОВАНИЯ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«Национальный исследовательский университет ИТМО»</a:t>
            </a:r>
            <a:endParaRPr b="0" i="0" sz="1400" u="none" cap="none" strike="noStrike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545948" y="2063939"/>
            <a:ext cx="8161283" cy="101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Государственные стандарты и законодательные акты</a:t>
            </a:r>
            <a:b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области информационной безопасности</a:t>
            </a:r>
            <a:b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Республики Вьетнам</a:t>
            </a:r>
            <a:endParaRPr b="1" i="0" sz="2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5977719" y="3515303"/>
            <a:ext cx="3227696" cy="83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Выполнили группы: N3447, N3446, N3445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Чу Ван Доан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Чан Бао Линь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Доан Тхи Хоай Тхыонг</a:t>
            </a:r>
            <a:endParaRPr b="0" i="0" sz="1200" u="none" cap="none" strike="noStrike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3275462" y="4529063"/>
            <a:ext cx="27022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Санкт-Петербург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2026г.</a:t>
            </a:r>
            <a:endParaRPr b="0" i="0" sz="1200" u="none" cap="none" strike="noStrike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3"/>
          <p:cNvSpPr txBox="1"/>
          <p:nvPr>
            <p:ph type="title"/>
          </p:nvPr>
        </p:nvSpPr>
        <p:spPr>
          <a:xfrm>
            <a:off x="404746" y="264327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2000">
                <a:latin typeface="Times"/>
                <a:ea typeface="Times"/>
                <a:cs typeface="Times"/>
                <a:sym typeface="Times"/>
              </a:rPr>
              <a:t>Предпроектное исследование организации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43"/>
          <p:cNvSpPr txBox="1"/>
          <p:nvPr/>
        </p:nvSpPr>
        <p:spPr>
          <a:xfrm>
            <a:off x="5301756" y="1321612"/>
            <a:ext cx="3700329" cy="3493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Основные международные стандарты:</a:t>
            </a:r>
            <a:endParaRPr/>
          </a:p>
          <a:p>
            <a:pPr indent="-2857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ISO/IEC 27001 — система менеджмента ИБ</a:t>
            </a:r>
            <a:endParaRPr/>
          </a:p>
          <a:p>
            <a:pPr indent="-2857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ISO/IEC 27002 — меры контроля безопасности</a:t>
            </a:r>
            <a:endParaRPr/>
          </a:p>
          <a:p>
            <a:pPr indent="-2857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ISO/IEC 27005 — управление рисками</a:t>
            </a:r>
            <a:endParaRPr/>
          </a:p>
          <a:p>
            <a:pPr indent="-2857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NIST SP 800-53 — каталог мер безопасности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Основные принципы:</a:t>
            </a:r>
            <a:endParaRPr/>
          </a:p>
          <a:p>
            <a:pPr indent="-2857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риск-ориентированный подход;</a:t>
            </a:r>
            <a:endParaRPr b="0" i="0" sz="1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цикл «Планирование — Выполнение — Проверка — Действие»;</a:t>
            </a:r>
            <a:endParaRPr b="0" i="0" sz="1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управление инцидентами информационной безопасности;</a:t>
            </a:r>
            <a:endParaRPr b="0" i="0" sz="1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514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аудит и мониторинг системы информационной безопасности.</a:t>
            </a:r>
            <a:endParaRPr b="0" i="0" sz="1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1" name="Google Shape;151;p43"/>
          <p:cNvSpPr txBox="1"/>
          <p:nvPr/>
        </p:nvSpPr>
        <p:spPr>
          <a:xfrm>
            <a:off x="0" y="0"/>
            <a:ext cx="91440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ООО «MedCare» Чу В.Д., Чан Б.Л., Доан Т.Х.Т. 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Что такое ISO 27001 и почему его сертификация важна для вашего бизнеса" id="152" name="Google Shape;152;p43"/>
          <p:cNvSpPr/>
          <p:nvPr/>
        </p:nvSpPr>
        <p:spPr>
          <a:xfrm>
            <a:off x="4419600" y="241935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0390" y="1238693"/>
            <a:ext cx="4791340" cy="32046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None/>
            </a:pPr>
            <a:r>
              <a:rPr lang="en-US" sz="2800">
                <a:latin typeface="Times"/>
                <a:ea typeface="Times"/>
                <a:cs typeface="Times"/>
                <a:sym typeface="Times"/>
              </a:rPr>
              <a:t>Цель и задачи </a:t>
            </a:r>
            <a:endParaRPr/>
          </a:p>
        </p:txBody>
      </p:sp>
      <p:sp>
        <p:nvSpPr>
          <p:cNvPr id="159" name="Google Shape;159;p2"/>
          <p:cNvSpPr txBox="1"/>
          <p:nvPr>
            <p:ph idx="1" type="body"/>
          </p:nvPr>
        </p:nvSpPr>
        <p:spPr>
          <a:xfrm>
            <a:off x="457199" y="1211943"/>
            <a:ext cx="8396445" cy="3447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latin typeface="Times"/>
                <a:ea typeface="Times"/>
                <a:cs typeface="Times"/>
                <a:sym typeface="Times"/>
              </a:rPr>
              <a:t>Цель работы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Анализ государственных стандартов и законодательных актов Вьетнама в сфере информационной безопасности.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latin typeface="Times"/>
                <a:ea typeface="Times"/>
                <a:cs typeface="Times"/>
                <a:sym typeface="Times"/>
              </a:rPr>
              <a:t>Задачи:</a:t>
            </a:r>
            <a:endParaRPr/>
          </a:p>
          <a:p>
            <a:pPr indent="-285750" lvl="0" marL="285750" rtl="0" algn="l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анализ законодательства о кибербезопасности;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rtl="0" algn="l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изучение системы национальных стандартов Вьетнама TCVN;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rtl="0" algn="l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анализ отраслевых нормативных актов;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rtl="0" algn="l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определение стратегических направлений государственной политики.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4150" lvl="0" marL="28575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t/>
            </a:r>
            <a:endParaRPr b="1" sz="16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0" name="Google Shape;160;p2"/>
          <p:cNvSpPr txBox="1"/>
          <p:nvPr/>
        </p:nvSpPr>
        <p:spPr>
          <a:xfrm>
            <a:off x="8772525" y="4702730"/>
            <a:ext cx="2285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"/>
          <p:cNvSpPr txBox="1"/>
          <p:nvPr/>
        </p:nvSpPr>
        <p:spPr>
          <a:xfrm>
            <a:off x="0" y="0"/>
            <a:ext cx="91440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Чу В.Д., Чан Б.Л., Доан Т.Х.Т.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"/>
          <p:cNvSpPr txBox="1"/>
          <p:nvPr>
            <p:ph type="title"/>
          </p:nvPr>
        </p:nvSpPr>
        <p:spPr>
          <a:xfrm>
            <a:off x="298895" y="358987"/>
            <a:ext cx="7578607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Информационная безопасность и национальная безопасность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3"/>
          <p:cNvSpPr txBox="1"/>
          <p:nvPr>
            <p:ph idx="1" type="body"/>
          </p:nvPr>
        </p:nvSpPr>
        <p:spPr>
          <a:xfrm>
            <a:off x="457199" y="1392621"/>
            <a:ext cx="8315325" cy="3444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Информационная безопасность включает: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защиту информационных систем;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защиту данных и инфраструктуры;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противодействие киберугрозам;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защиту критической инфраструктуры;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обеспечение цифрового суверенитета.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3"/>
          <p:cNvSpPr txBox="1"/>
          <p:nvPr/>
        </p:nvSpPr>
        <p:spPr>
          <a:xfrm>
            <a:off x="8772525" y="4702730"/>
            <a:ext cx="2285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"/>
          <p:cNvSpPr txBox="1"/>
          <p:nvPr/>
        </p:nvSpPr>
        <p:spPr>
          <a:xfrm>
            <a:off x="0" y="0"/>
            <a:ext cx="91440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Чу В.Д., Чан Б.Л., Доан Т.Х.Т.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oàn bộ quy định về An ninh mạng và an toàn thông tin trên không gian mạng  mới nhất" id="170" name="Google Shape;17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7237" y="1573748"/>
            <a:ext cx="4352267" cy="2901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2"/>
          <p:cNvSpPr txBox="1"/>
          <p:nvPr>
            <p:ph type="title"/>
          </p:nvPr>
        </p:nvSpPr>
        <p:spPr>
          <a:xfrm>
            <a:off x="141514" y="405093"/>
            <a:ext cx="7266214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Модели государственного регулирования кибербезопасности</a:t>
            </a:r>
            <a:endParaRPr b="0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42"/>
          <p:cNvSpPr txBox="1"/>
          <p:nvPr/>
        </p:nvSpPr>
        <p:spPr>
          <a:xfrm>
            <a:off x="0" y="0"/>
            <a:ext cx="91440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Чу В.Д., Чан Б.Л., Доан Т.Х.Т. 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42"/>
          <p:cNvSpPr txBox="1"/>
          <p:nvPr/>
        </p:nvSpPr>
        <p:spPr>
          <a:xfrm>
            <a:off x="462455" y="1177159"/>
            <a:ext cx="8324193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Основные модели государственного регулирования: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Либеральная модель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минимальное вмешательство государства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ведущая роль частного сектора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Смешанная модель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совместная ответственность государства и бизнеса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сочетание регулирования и самоконтроля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Централизованная модель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активная роль государства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контроль критической инфраструктуры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обязательные требования к субъектам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Вьетнам: централизованная модель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600">
                <a:latin typeface="Times"/>
                <a:ea typeface="Times"/>
                <a:cs typeface="Times"/>
                <a:sym typeface="Times"/>
              </a:rPr>
              <a:t>Сравнение нормативных систем Российской Федерации и Вьетнама</a:t>
            </a:r>
            <a:endParaRPr sz="1800"/>
          </a:p>
        </p:txBody>
      </p:sp>
      <p:sp>
        <p:nvSpPr>
          <p:cNvPr id="183" name="Google Shape;183;p7"/>
          <p:cNvSpPr txBox="1"/>
          <p:nvPr/>
        </p:nvSpPr>
        <p:spPr>
          <a:xfrm>
            <a:off x="8772525" y="4702730"/>
            <a:ext cx="2285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7"/>
          <p:cNvSpPr txBox="1"/>
          <p:nvPr/>
        </p:nvSpPr>
        <p:spPr>
          <a:xfrm>
            <a:off x="0" y="0"/>
            <a:ext cx="91440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Чу В.Д., Чан Б.Л., Доан Т.Х.Т.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5" name="Google Shape;185;p7"/>
          <p:cNvGraphicFramePr/>
          <p:nvPr/>
        </p:nvGraphicFramePr>
        <p:xfrm>
          <a:off x="663649" y="15392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{ABCB8EF7-1C80-4DC8-A1F4-ABA92F8332E5}</a:tableStyleId>
              </a:tblPr>
              <a:tblGrid>
                <a:gridCol w="2605575"/>
                <a:gridCol w="2605575"/>
                <a:gridCol w="2605575"/>
              </a:tblGrid>
              <a:tr h="485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Критерий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Российская Федерация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Вьетнам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485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Базовый документ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Доктрина ИБ РФ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Закон о кибербезопасности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485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Критическая инфраструктура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187-ФЗ о КИИ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Режим защиты важных информационных систем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485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Детализация требований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требования регуляторов (ФСТЭК и др.)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стандарты TCVN + подзаконные акты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485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Роль стандартов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ГОСТ и отраслевые стандарты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TCVN 14423:2025 и др. TCVN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485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Общая модель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многоуровневая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централизованная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1600">
                <a:latin typeface="Times"/>
                <a:ea typeface="Times"/>
                <a:cs typeface="Times"/>
                <a:sym typeface="Times"/>
              </a:rPr>
              <a:t>Законодательная основа информационной безопасности во Вьетнаме</a:t>
            </a:r>
            <a:endParaRPr sz="1800"/>
          </a:p>
        </p:txBody>
      </p:sp>
      <p:sp>
        <p:nvSpPr>
          <p:cNvPr id="191" name="Google Shape;191;p9"/>
          <p:cNvSpPr txBox="1"/>
          <p:nvPr>
            <p:ph idx="1" type="body"/>
          </p:nvPr>
        </p:nvSpPr>
        <p:spPr>
          <a:xfrm>
            <a:off x="457201" y="1211943"/>
            <a:ext cx="3599120" cy="3447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Times"/>
                <a:ea typeface="Times"/>
                <a:cs typeface="Times"/>
                <a:sym typeface="Times"/>
              </a:rPr>
              <a:t>Ключевые элементы правовой системы: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>
                <a:latin typeface="Times"/>
                <a:ea typeface="Times"/>
                <a:cs typeface="Times"/>
                <a:sym typeface="Times"/>
              </a:rPr>
              <a:t>рамочный Закон о кибербезопасности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>
                <a:latin typeface="Times"/>
                <a:ea typeface="Times"/>
                <a:cs typeface="Times"/>
                <a:sym typeface="Times"/>
              </a:rPr>
              <a:t>подзаконные нормативные акты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>
                <a:latin typeface="Times"/>
                <a:ea typeface="Times"/>
                <a:cs typeface="Times"/>
                <a:sym typeface="Times"/>
              </a:rPr>
              <a:t>национальные стандарты TCVN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>
                <a:latin typeface="Times"/>
                <a:ea typeface="Times"/>
                <a:cs typeface="Times"/>
                <a:sym typeface="Times"/>
              </a:rPr>
              <a:t>отраслевые регламенты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>
                <a:latin typeface="Times"/>
                <a:ea typeface="Times"/>
                <a:cs typeface="Times"/>
                <a:sym typeface="Times"/>
              </a:rPr>
              <a:t>государственный контроль и оценка соответствия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Times"/>
                <a:ea typeface="Times"/>
                <a:cs typeface="Times"/>
                <a:sym typeface="Times"/>
              </a:rPr>
              <a:t>Логика регулирования: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Times"/>
                <a:ea typeface="Times"/>
                <a:cs typeface="Times"/>
                <a:sym typeface="Times"/>
              </a:rPr>
              <a:t>закон → стандарты → отраслевые требования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2" name="Google Shape;192;p9"/>
          <p:cNvSpPr txBox="1"/>
          <p:nvPr/>
        </p:nvSpPr>
        <p:spPr>
          <a:xfrm>
            <a:off x="8625841" y="4702730"/>
            <a:ext cx="459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9"/>
          <p:cNvSpPr txBox="1"/>
          <p:nvPr/>
        </p:nvSpPr>
        <p:spPr>
          <a:xfrm>
            <a:off x="0" y="0"/>
            <a:ext cx="91440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Чу В.Д., Чан Б.Л., Доан Т.Х.Т.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4419600" y="241935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" name="Google Shape;19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1025" y="1520286"/>
            <a:ext cx="4454132" cy="3030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5"/>
          <p:cNvSpPr txBox="1"/>
          <p:nvPr>
            <p:ph idx="1" type="body"/>
          </p:nvPr>
        </p:nvSpPr>
        <p:spPr>
          <a:xfrm>
            <a:off x="4941155" y="1476540"/>
            <a:ext cx="3825389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Закон о кибербезопасности (116/2025/QH15)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Основные положения:</a:t>
            </a:r>
            <a:endParaRPr/>
          </a:p>
          <a:p>
            <a:pPr indent="-285750" lvl="0" marL="51435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защита национального киберпространства;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51435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обеспечение безопасности данных;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51435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защита критически важных информационных систем;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51435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предотвращение и реагирование на киберинциденты;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51435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государственный контроль и координация.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15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Закон о кибербезопасности Республики Вьетнам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15"/>
          <p:cNvSpPr txBox="1"/>
          <p:nvPr/>
        </p:nvSpPr>
        <p:spPr>
          <a:xfrm>
            <a:off x="8625841" y="4702730"/>
            <a:ext cx="459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5"/>
          <p:cNvSpPr txBox="1"/>
          <p:nvPr/>
        </p:nvSpPr>
        <p:spPr>
          <a:xfrm>
            <a:off x="0" y="0"/>
            <a:ext cx="91440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Чу В.Д., Чан Б.Л., Доан Т.Х.Т. 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enerated image" id="204" name="Google Shape;204;p15"/>
          <p:cNvSpPr/>
          <p:nvPr/>
        </p:nvSpPr>
        <p:spPr>
          <a:xfrm>
            <a:off x="4419600" y="241935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" name="Google Shape;2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279831"/>
            <a:ext cx="4694275" cy="32427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Национальная система стандартов TCVN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8"/>
          <p:cNvSpPr txBox="1"/>
          <p:nvPr/>
        </p:nvSpPr>
        <p:spPr>
          <a:xfrm>
            <a:off x="8772525" y="4702730"/>
            <a:ext cx="2285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8"/>
          <p:cNvSpPr txBox="1"/>
          <p:nvPr/>
        </p:nvSpPr>
        <p:spPr>
          <a:xfrm>
            <a:off x="0" y="0"/>
            <a:ext cx="91440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Чу В.Д., Чан Б.Л., Доан Т.Х.Т.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8"/>
          <p:cNvSpPr txBox="1"/>
          <p:nvPr/>
        </p:nvSpPr>
        <p:spPr>
          <a:xfrm>
            <a:off x="457200" y="1244009"/>
            <a:ext cx="8181753" cy="1992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TCVN в системе информационной безопасности Вьетнама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национальные стандарты в сфере ИБ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единые требования к защите систем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основа для аудита и оценки соответствия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инструмент практической реализации закона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применение в государственных и критически важных системах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4"/>
          <p:cNvSpPr txBox="1"/>
          <p:nvPr>
            <p:ph idx="1" type="body"/>
          </p:nvPr>
        </p:nvSpPr>
        <p:spPr>
          <a:xfrm>
            <a:off x="624114" y="1233715"/>
            <a:ext cx="4474198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Требования к защите:</a:t>
            </a:r>
            <a:endParaRPr/>
          </a:p>
          <a:p>
            <a:pPr indent="-285750" lvl="0" marL="51435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государственных информационных систем</a:t>
            </a:r>
            <a:endParaRPr/>
          </a:p>
          <a:p>
            <a:pPr indent="-285750" lvl="0" marL="51435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систем, важных для национальной безопасности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Назначение стандарта:</a:t>
            </a:r>
            <a:endParaRPr/>
          </a:p>
          <a:p>
            <a:pPr indent="-285750" lvl="0" marL="51435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практическая реализация требований закона</a:t>
            </a:r>
            <a:endParaRPr/>
          </a:p>
          <a:p>
            <a:pPr indent="-285750" lvl="0" marL="51435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основа для мониторинга и проверок</a:t>
            </a:r>
            <a:endParaRPr/>
          </a:p>
          <a:p>
            <a:pPr indent="-285750" lvl="0" marL="51435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база для оценки соответствия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" name="Google Shape;219;p14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Ключевой стандарт TCVN 14423:2025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14"/>
          <p:cNvSpPr txBox="1"/>
          <p:nvPr/>
        </p:nvSpPr>
        <p:spPr>
          <a:xfrm>
            <a:off x="8625841" y="4702730"/>
            <a:ext cx="459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4"/>
          <p:cNvSpPr txBox="1"/>
          <p:nvPr/>
        </p:nvSpPr>
        <p:spPr>
          <a:xfrm>
            <a:off x="0" y="0"/>
            <a:ext cx="91440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Чу В.Д., Чан Б.Л., Доан Т.Х.Т. 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2" name="Google Shape;22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98312" y="1161659"/>
            <a:ext cx="3466468" cy="3482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latin typeface="Times"/>
                <a:ea typeface="Times"/>
                <a:cs typeface="Times"/>
                <a:sym typeface="Times"/>
              </a:rPr>
              <a:t>Основные меры защиты в TCVN 14423:2025</a:t>
            </a:r>
            <a:endParaRPr/>
          </a:p>
        </p:txBody>
      </p:sp>
      <p:sp>
        <p:nvSpPr>
          <p:cNvPr id="228" name="Google Shape;228;p10"/>
          <p:cNvSpPr txBox="1"/>
          <p:nvPr>
            <p:ph idx="1" type="body"/>
          </p:nvPr>
        </p:nvSpPr>
        <p:spPr>
          <a:xfrm>
            <a:off x="457200" y="1211943"/>
            <a:ext cx="7467600" cy="3447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Ключевые направления обеспечения безопасности: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управление рисками информационной безопасности;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управление информационными активами;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контроль и управление доступом;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управление уязвимостями;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регистрация и мониторинг событий безопасности;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защита от вредоносного программного обеспечения;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резервное копирование и восстановление данных;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реагирование на инциденты информационной безопасности.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p10"/>
          <p:cNvSpPr txBox="1"/>
          <p:nvPr/>
        </p:nvSpPr>
        <p:spPr>
          <a:xfrm>
            <a:off x="8625841" y="4702730"/>
            <a:ext cx="459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0"/>
          <p:cNvSpPr txBox="1"/>
          <p:nvPr/>
        </p:nvSpPr>
        <p:spPr>
          <a:xfrm>
            <a:off x="0" y="0"/>
            <a:ext cx="91440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Чу В.Д., Чан Б.Л., Доан Т.Х.Т.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Отраслевое регулирование: банковский сектор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" name="Google Shape;236;p12"/>
          <p:cNvSpPr txBox="1"/>
          <p:nvPr>
            <p:ph idx="1" type="body"/>
          </p:nvPr>
        </p:nvSpPr>
        <p:spPr>
          <a:xfrm>
            <a:off x="457201" y="1022684"/>
            <a:ext cx="4385930" cy="40065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Банковский сектор: Циркуляр № 46/2025/TT-NHNN Государственного банка Вьетнама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Основные требования:</a:t>
            </a:r>
            <a:endParaRPr/>
          </a:p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архитектура и сегментация сети</a:t>
            </a:r>
            <a:endParaRPr/>
          </a:p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контроль сетевых подключений</a:t>
            </a:r>
            <a:endParaRPr/>
          </a:p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распределение ответственности подразделений</a:t>
            </a:r>
            <a:endParaRPr/>
          </a:p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мониторинг устойчивости и безопасности сети</a:t>
            </a:r>
            <a:endParaRPr/>
          </a:p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выявление и устранение уязвимостей</a:t>
            </a:r>
            <a:endParaRPr/>
          </a:p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контроль использования программного обеспечения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" name="Google Shape;237;p12"/>
          <p:cNvSpPr txBox="1"/>
          <p:nvPr/>
        </p:nvSpPr>
        <p:spPr>
          <a:xfrm>
            <a:off x="8625841" y="4702730"/>
            <a:ext cx="459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2"/>
          <p:cNvSpPr txBox="1"/>
          <p:nvPr/>
        </p:nvSpPr>
        <p:spPr>
          <a:xfrm>
            <a:off x="0" y="0"/>
            <a:ext cx="91440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Чу В.Д., Чан Б.Л., Доан Т.Х.Т.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hông tư 46/2025/TT-NHNN" id="239" name="Google Shape;23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58577" y="1771020"/>
            <a:ext cx="4028222" cy="23497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1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8319" l="0" r="0" t="8319"/>
          <a:stretch/>
        </p:blipFill>
        <p:spPr>
          <a:xfrm>
            <a:off x="457200" y="936852"/>
            <a:ext cx="4608513" cy="3842155"/>
          </a:xfrm>
          <a:prstGeom prst="roundRect">
            <a:avLst>
              <a:gd fmla="val 7617" name="adj"/>
            </a:avLst>
          </a:prstGeom>
          <a:noFill/>
          <a:ln>
            <a:noFill/>
          </a:ln>
        </p:spPr>
      </p:pic>
      <p:sp>
        <p:nvSpPr>
          <p:cNvPr id="245" name="Google Shape;245;p13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000">
                <a:latin typeface="Times"/>
                <a:ea typeface="Times"/>
                <a:cs typeface="Times"/>
                <a:sym typeface="Times"/>
              </a:rPr>
              <a:t>Система государственного управления в сфере ИБ</a:t>
            </a:r>
            <a:endParaRPr sz="2400"/>
          </a:p>
        </p:txBody>
      </p:sp>
      <p:sp>
        <p:nvSpPr>
          <p:cNvPr id="246" name="Google Shape;246;p13"/>
          <p:cNvSpPr txBox="1"/>
          <p:nvPr>
            <p:ph idx="1" type="body"/>
          </p:nvPr>
        </p:nvSpPr>
        <p:spPr>
          <a:xfrm>
            <a:off x="5369442" y="1153886"/>
            <a:ext cx="3317357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Основные государственные органы:</a:t>
            </a:r>
            <a:endParaRPr/>
          </a:p>
          <a:p>
            <a:pPr indent="-285750" lvl="0" marL="5143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Министерство общественной безопасности</a:t>
            </a:r>
            <a:endParaRPr/>
          </a:p>
          <a:p>
            <a:pPr indent="-285750" lvl="0" marL="5143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Министерство обороны</a:t>
            </a:r>
            <a:endParaRPr/>
          </a:p>
          <a:p>
            <a:pPr indent="-285750" lvl="0" marL="5143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отраслевые регуляторы</a:t>
            </a:r>
            <a:endParaRPr/>
          </a:p>
          <a:p>
            <a:pPr indent="-285750" lvl="0" marL="5143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национальные центры мониторинга киберугроз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7" name="Google Shape;247;p13"/>
          <p:cNvSpPr txBox="1"/>
          <p:nvPr/>
        </p:nvSpPr>
        <p:spPr>
          <a:xfrm>
            <a:off x="8625841" y="4702730"/>
            <a:ext cx="459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3"/>
          <p:cNvSpPr txBox="1"/>
          <p:nvPr/>
        </p:nvSpPr>
        <p:spPr>
          <a:xfrm>
            <a:off x="0" y="0"/>
            <a:ext cx="91440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Чу В.Д., Чан Б.Л., Доан Т.Х.Т.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7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Заключение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p17"/>
          <p:cNvSpPr txBox="1"/>
          <p:nvPr/>
        </p:nvSpPr>
        <p:spPr>
          <a:xfrm>
            <a:off x="8625841" y="4702730"/>
            <a:ext cx="459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7"/>
          <p:cNvSpPr txBox="1"/>
          <p:nvPr/>
        </p:nvSpPr>
        <p:spPr>
          <a:xfrm>
            <a:off x="0" y="0"/>
            <a:ext cx="91440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Чу В.Д., Чан Б.Л., Доан Т.Х.Т.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7"/>
          <p:cNvSpPr txBox="1"/>
          <p:nvPr/>
        </p:nvSpPr>
        <p:spPr>
          <a:xfrm>
            <a:off x="578899" y="1330447"/>
            <a:ext cx="8506046" cy="258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Основные выводы: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система ИБ Вьетнама носит централизованный характер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основой регулирования является Закон о кибербезопасности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стандарты TCVN обеспечивают практическую реализацию требований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ключевой стандарт — TCVN 14423:2025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система ИБ продолжает развиваться в условиях роста киберугроз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8"/>
          <p:cNvSpPr txBox="1"/>
          <p:nvPr>
            <p:ph type="title"/>
          </p:nvPr>
        </p:nvSpPr>
        <p:spPr>
          <a:xfrm>
            <a:off x="457200" y="1780792"/>
            <a:ext cx="8229600" cy="62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Times"/>
              <a:buNone/>
            </a:pPr>
            <a:r>
              <a:rPr lang="en-US" sz="4400">
                <a:latin typeface="Times"/>
                <a:ea typeface="Times"/>
                <a:cs typeface="Times"/>
                <a:sym typeface="Times"/>
              </a:rPr>
              <a:t>Спасибо</a:t>
            </a:r>
            <a:br>
              <a:rPr lang="en-US" sz="4400">
                <a:latin typeface="Times"/>
                <a:ea typeface="Times"/>
                <a:cs typeface="Times"/>
                <a:sym typeface="Times"/>
              </a:rPr>
            </a:br>
            <a:r>
              <a:rPr lang="en-US" sz="4400">
                <a:latin typeface="Times"/>
                <a:ea typeface="Times"/>
                <a:cs typeface="Times"/>
                <a:sym typeface="Times"/>
              </a:rPr>
              <a:t>за внимание! </a:t>
            </a:r>
            <a:endParaRPr sz="44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2" name="Google Shape;262;p18"/>
          <p:cNvSpPr txBox="1"/>
          <p:nvPr/>
        </p:nvSpPr>
        <p:spPr>
          <a:xfrm>
            <a:off x="5776755" y="4183944"/>
            <a:ext cx="3367245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Контакты: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mamxanhbenho@gmail.com</a:t>
            </a:r>
            <a:endParaRPr b="0" i="0" sz="1800" u="none" cap="none" strike="noStrike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2014-06-27T12:30:22Z</dcterms:created>
  <dc:creator>Al</dc:creator>
</cp:coreProperties>
</file>