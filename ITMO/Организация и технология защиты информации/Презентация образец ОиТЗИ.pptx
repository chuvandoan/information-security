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Golos Text"/>
      <p:regular r:id="rId26"/>
      <p:bold r:id="rId27"/>
    </p:embeddedFont>
    <p:embeddedFont>
      <p:font typeface="Golos Text SemiBo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gPBb9W/92qIyrIuEXnnsT+Q2qY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5A34285-B5B1-4E8E-B197-09A4DC6B750C}">
  <a:tblStyle styleId="{E5A34285-B5B1-4E8E-B197-09A4DC6B750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1" orient="horz"/>
        <p:guide pos="287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GolosText-regular.fntdata"/><Relationship Id="rId25" Type="http://schemas.openxmlformats.org/officeDocument/2006/relationships/slide" Target="slides/slide19.xml"/><Relationship Id="rId28" Type="http://schemas.openxmlformats.org/officeDocument/2006/relationships/font" Target="fonts/GolosTextSemiBold-regular.fntdata"/><Relationship Id="rId27" Type="http://schemas.openxmlformats.org/officeDocument/2006/relationships/font" Target="fonts/GolosTex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GolosText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8ee39536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a8ee39536a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ba427f63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aba427f638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ba427f63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aba427f638_0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ba427f63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aba427f638_0_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ba427f63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aba427f638_0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ba427f638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aba427f638_0_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ba427f638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aba427f638_0_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af8b2e392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af8b2e3929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f8b2e392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af8b2e3929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ba427f638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aba427f638_0_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aba427f638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aba427f638_0_1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8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8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8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8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0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784" name="adj"/>
            </a:avLst>
          </a:prstGeom>
          <a:noFill/>
          <a:ln>
            <a:noFill/>
          </a:ln>
        </p:spPr>
      </p:sp>
      <p:sp>
        <p:nvSpPr>
          <p:cNvPr id="26" name="Google Shape;26;p20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5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952" name="adj"/>
            </a:avLst>
          </a:prstGeom>
          <a:noFill/>
          <a:ln>
            <a:noFill/>
          </a:ln>
        </p:spPr>
      </p:sp>
      <p:sp>
        <p:nvSpPr>
          <p:cNvPr id="52" name="Google Shape;52;p26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ользовательский макет">
  <p:cSld name="7_Пользовательский макет"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8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9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8957" name="adj"/>
            </a:avLst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ользовательский макет">
  <p:cSld name="8_Пользовательский макет"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2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80" name="Google Shape;80;p3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4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4"/>
          <p:cNvSpPr txBox="1"/>
          <p:nvPr>
            <p:ph idx="1" type="body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4"/>
          <p:cNvSpPr/>
          <p:nvPr>
            <p:ph idx="2" type="pic"/>
          </p:nvPr>
        </p:nvSpPr>
        <p:spPr>
          <a:xfrm>
            <a:off x="457200" y="943208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86" name="Google Shape;86;p34"/>
          <p:cNvSpPr/>
          <p:nvPr>
            <p:ph idx="3" type="pic"/>
          </p:nvPr>
        </p:nvSpPr>
        <p:spPr>
          <a:xfrm>
            <a:off x="457200" y="2935720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">
  <p:cSld name="9_Пользовательский макет"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5"/>
          <p:cNvSpPr txBox="1"/>
          <p:nvPr>
            <p:ph idx="1" type="body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35"/>
          <p:cNvSpPr txBox="1"/>
          <p:nvPr>
            <p:ph idx="2" type="body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35"/>
          <p:cNvSpPr txBox="1"/>
          <p:nvPr>
            <p:ph idx="3" type="body"/>
          </p:nvPr>
        </p:nvSpPr>
        <p:spPr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35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6"/>
          <p:cNvSpPr txBox="1"/>
          <p:nvPr>
            <p:ph idx="1" type="body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36"/>
          <p:cNvSpPr txBox="1"/>
          <p:nvPr>
            <p:ph idx="2" type="body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36"/>
          <p:cNvSpPr txBox="1"/>
          <p:nvPr>
            <p:ph idx="3" type="body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36"/>
          <p:cNvSpPr txBox="1"/>
          <p:nvPr>
            <p:ph idx="4" type="body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302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7" name="Google Shape;97;p36"/>
          <p:cNvSpPr txBox="1"/>
          <p:nvPr>
            <p:ph idx="5" type="body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8" name="Google Shape;98;p36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6"/>
          <p:cNvSpPr txBox="1"/>
          <p:nvPr>
            <p:ph idx="6" type="body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0" name="Google Shape;100;p36"/>
          <p:cNvSpPr/>
          <p:nvPr>
            <p:ph idx="7" type="pic"/>
          </p:nvPr>
        </p:nvSpPr>
        <p:spPr>
          <a:xfrm>
            <a:off x="469081" y="944463"/>
            <a:ext cx="2577001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01" name="Google Shape;101;p36"/>
          <p:cNvSpPr/>
          <p:nvPr>
            <p:ph idx="8" type="pic"/>
          </p:nvPr>
        </p:nvSpPr>
        <p:spPr>
          <a:xfrm>
            <a:off x="3221666" y="944462"/>
            <a:ext cx="2577001" cy="1883023"/>
          </a:xfrm>
          <a:prstGeom prst="roundRect">
            <a:avLst>
              <a:gd fmla="val 12905" name="adj"/>
            </a:avLst>
          </a:prstGeom>
          <a:noFill/>
          <a:ln>
            <a:noFill/>
          </a:ln>
        </p:spPr>
      </p:sp>
      <p:sp>
        <p:nvSpPr>
          <p:cNvPr id="102" name="Google Shape;102;p36"/>
          <p:cNvSpPr/>
          <p:nvPr>
            <p:ph idx="9" type="pic"/>
          </p:nvPr>
        </p:nvSpPr>
        <p:spPr>
          <a:xfrm>
            <a:off x="5980690" y="944463"/>
            <a:ext cx="2577001" cy="1883023"/>
          </a:xfrm>
          <a:prstGeom prst="roundRect">
            <a:avLst>
              <a:gd fmla="val 1051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7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7"/>
          <p:cNvSpPr txBox="1"/>
          <p:nvPr>
            <p:ph idx="1" type="body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37"/>
          <p:cNvSpPr/>
          <p:nvPr>
            <p:ph idx="2" type="pic"/>
          </p:nvPr>
        </p:nvSpPr>
        <p:spPr>
          <a:xfrm>
            <a:off x="457200" y="949329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07" name="Google Shape;107;p37"/>
          <p:cNvSpPr/>
          <p:nvPr>
            <p:ph idx="3" type="pic"/>
          </p:nvPr>
        </p:nvSpPr>
        <p:spPr>
          <a:xfrm>
            <a:off x="3095171" y="949328"/>
            <a:ext cx="2532744" cy="1883023"/>
          </a:xfrm>
          <a:prstGeom prst="roundRect">
            <a:avLst>
              <a:gd fmla="val 11879" name="adj"/>
            </a:avLst>
          </a:prstGeom>
          <a:noFill/>
          <a:ln>
            <a:noFill/>
          </a:ln>
        </p:spPr>
      </p:sp>
      <p:sp>
        <p:nvSpPr>
          <p:cNvPr id="108" name="Google Shape;108;p37"/>
          <p:cNvSpPr/>
          <p:nvPr>
            <p:ph idx="4" type="pic"/>
          </p:nvPr>
        </p:nvSpPr>
        <p:spPr>
          <a:xfrm>
            <a:off x="3095171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09" name="Google Shape;109;p37"/>
          <p:cNvSpPr/>
          <p:nvPr>
            <p:ph idx="5" type="pic"/>
          </p:nvPr>
        </p:nvSpPr>
        <p:spPr>
          <a:xfrm>
            <a:off x="457199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8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8"/>
          <p:cNvSpPr txBox="1"/>
          <p:nvPr>
            <p:ph idx="1" type="body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38"/>
          <p:cNvSpPr/>
          <p:nvPr>
            <p:ph idx="2" type="pic"/>
          </p:nvPr>
        </p:nvSpPr>
        <p:spPr>
          <a:xfrm>
            <a:off x="3095171" y="963397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4" name="Google Shape;114;p38"/>
          <p:cNvSpPr/>
          <p:nvPr>
            <p:ph idx="3" type="pic"/>
          </p:nvPr>
        </p:nvSpPr>
        <p:spPr>
          <a:xfrm>
            <a:off x="5733141" y="966928"/>
            <a:ext cx="2532744" cy="1883023"/>
          </a:xfrm>
          <a:prstGeom prst="roundRect">
            <a:avLst>
              <a:gd fmla="val 11196" name="adj"/>
            </a:avLst>
          </a:prstGeom>
          <a:noFill/>
          <a:ln>
            <a:noFill/>
          </a:ln>
        </p:spPr>
      </p:sp>
      <p:sp>
        <p:nvSpPr>
          <p:cNvPr id="115" name="Google Shape;115;p38"/>
          <p:cNvSpPr/>
          <p:nvPr>
            <p:ph idx="4" type="pic"/>
          </p:nvPr>
        </p:nvSpPr>
        <p:spPr>
          <a:xfrm>
            <a:off x="5733141" y="2954042"/>
            <a:ext cx="2532744" cy="1883023"/>
          </a:xfrm>
          <a:prstGeom prst="roundRect">
            <a:avLst>
              <a:gd fmla="val 8802" name="adj"/>
            </a:avLst>
          </a:prstGeom>
          <a:noFill/>
          <a:ln>
            <a:noFill/>
          </a:ln>
        </p:spPr>
      </p:sp>
      <p:sp>
        <p:nvSpPr>
          <p:cNvPr id="116" name="Google Shape;116;p38"/>
          <p:cNvSpPr/>
          <p:nvPr>
            <p:ph idx="5" type="pic"/>
          </p:nvPr>
        </p:nvSpPr>
        <p:spPr>
          <a:xfrm>
            <a:off x="3095171" y="2960314"/>
            <a:ext cx="2532744" cy="1883023"/>
          </a:xfrm>
          <a:prstGeom prst="roundRect">
            <a:avLst>
              <a:gd fmla="val 8459" name="adj"/>
            </a:avLst>
          </a:prstGeom>
          <a:noFill/>
          <a:ln>
            <a:noFill/>
          </a:ln>
        </p:spPr>
      </p:sp>
      <p:sp>
        <p:nvSpPr>
          <p:cNvPr id="117" name="Google Shape;117;p38"/>
          <p:cNvSpPr/>
          <p:nvPr>
            <p:ph idx="6" type="pic"/>
          </p:nvPr>
        </p:nvSpPr>
        <p:spPr>
          <a:xfrm>
            <a:off x="457200" y="2960314"/>
            <a:ext cx="2532744" cy="1883023"/>
          </a:xfrm>
          <a:prstGeom prst="roundRect">
            <a:avLst>
              <a:gd fmla="val 1016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9"/>
          <p:cNvSpPr txBox="1"/>
          <p:nvPr>
            <p:ph idx="1" type="body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39"/>
          <p:cNvSpPr txBox="1"/>
          <p:nvPr>
            <p:ph idx="2" type="body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39"/>
          <p:cNvSpPr txBox="1"/>
          <p:nvPr>
            <p:ph idx="3" type="body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39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9"/>
          <p:cNvSpPr/>
          <p:nvPr>
            <p:ph idx="4" type="pic"/>
          </p:nvPr>
        </p:nvSpPr>
        <p:spPr>
          <a:xfrm>
            <a:off x="454050" y="952607"/>
            <a:ext cx="2589213" cy="1304294"/>
          </a:xfrm>
          <a:prstGeom prst="roundRect">
            <a:avLst>
              <a:gd fmla="val 9261" name="adj"/>
            </a:avLst>
          </a:prstGeom>
          <a:noFill/>
          <a:ln>
            <a:noFill/>
          </a:ln>
        </p:spPr>
      </p:sp>
      <p:sp>
        <p:nvSpPr>
          <p:cNvPr id="124" name="Google Shape;124;p39"/>
          <p:cNvSpPr/>
          <p:nvPr>
            <p:ph idx="5" type="pic"/>
          </p:nvPr>
        </p:nvSpPr>
        <p:spPr>
          <a:xfrm>
            <a:off x="3275818" y="952607"/>
            <a:ext cx="2589213" cy="1304294"/>
          </a:xfrm>
          <a:prstGeom prst="roundRect">
            <a:avLst>
              <a:gd fmla="val 11730" name="adj"/>
            </a:avLst>
          </a:prstGeom>
          <a:noFill/>
          <a:ln>
            <a:noFill/>
          </a:ln>
        </p:spPr>
      </p:sp>
      <p:sp>
        <p:nvSpPr>
          <p:cNvPr id="125" name="Google Shape;125;p39"/>
          <p:cNvSpPr/>
          <p:nvPr>
            <p:ph idx="6" type="pic"/>
          </p:nvPr>
        </p:nvSpPr>
        <p:spPr>
          <a:xfrm>
            <a:off x="6089789" y="952607"/>
            <a:ext cx="2589213" cy="1304294"/>
          </a:xfrm>
          <a:prstGeom prst="roundRect">
            <a:avLst>
              <a:gd fmla="val 10249" name="adj"/>
            </a:avLst>
          </a:prstGeom>
          <a:noFill/>
          <a:ln>
            <a:noFill/>
          </a:ln>
        </p:spPr>
      </p:sp>
      <p:sp>
        <p:nvSpPr>
          <p:cNvPr id="126" name="Google Shape;126;p39"/>
          <p:cNvSpPr txBox="1"/>
          <p:nvPr>
            <p:ph idx="7" type="body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39"/>
          <p:cNvSpPr txBox="1"/>
          <p:nvPr>
            <p:ph idx="8" type="body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39"/>
          <p:cNvSpPr txBox="1"/>
          <p:nvPr>
            <p:ph idx="9" type="body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39"/>
          <p:cNvSpPr/>
          <p:nvPr>
            <p:ph idx="13" type="pic"/>
          </p:nvPr>
        </p:nvSpPr>
        <p:spPr>
          <a:xfrm>
            <a:off x="457201" y="2866358"/>
            <a:ext cx="2589213" cy="1304294"/>
          </a:xfrm>
          <a:prstGeom prst="roundRect">
            <a:avLst>
              <a:gd fmla="val 12224" name="adj"/>
            </a:avLst>
          </a:prstGeom>
          <a:noFill/>
          <a:ln>
            <a:noFill/>
          </a:ln>
        </p:spPr>
      </p:sp>
      <p:sp>
        <p:nvSpPr>
          <p:cNvPr id="130" name="Google Shape;130;p39"/>
          <p:cNvSpPr/>
          <p:nvPr>
            <p:ph idx="14" type="pic"/>
          </p:nvPr>
        </p:nvSpPr>
        <p:spPr>
          <a:xfrm>
            <a:off x="3278969" y="2866358"/>
            <a:ext cx="2589213" cy="1304294"/>
          </a:xfrm>
          <a:prstGeom prst="roundRect">
            <a:avLst>
              <a:gd fmla="val 11236" name="adj"/>
            </a:avLst>
          </a:prstGeom>
          <a:noFill/>
          <a:ln>
            <a:noFill/>
          </a:ln>
        </p:spPr>
      </p:sp>
      <p:sp>
        <p:nvSpPr>
          <p:cNvPr id="131" name="Google Shape;131;p39"/>
          <p:cNvSpPr/>
          <p:nvPr>
            <p:ph idx="15" type="pic"/>
          </p:nvPr>
        </p:nvSpPr>
        <p:spPr>
          <a:xfrm>
            <a:off x="6092940" y="2866358"/>
            <a:ext cx="2589213" cy="1304294"/>
          </a:xfrm>
          <a:prstGeom prst="roundRect">
            <a:avLst>
              <a:gd fmla="val 975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302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7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"/>
          <p:cNvSpPr txBox="1"/>
          <p:nvPr/>
        </p:nvSpPr>
        <p:spPr>
          <a:xfrm>
            <a:off x="3504108" y="4667552"/>
            <a:ext cx="2177199" cy="338554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Санкт-Петербург, 2026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0" y="3277400"/>
            <a:ext cx="9144000" cy="1186281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Чу Ван Доан</a:t>
            </a:r>
            <a:r>
              <a:rPr lang="ru-RU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студент гр. N3447,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Руководитель ВКР: КТН, доцент Канжелев Ю. А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0" y="1817903"/>
            <a:ext cx="9143999" cy="425501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017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ВЫПУСКНАЯ КВАЛИФИКАЦИОННАЯ РАБОТА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"/>
          <p:cNvSpPr/>
          <p:nvPr/>
        </p:nvSpPr>
        <p:spPr>
          <a:xfrm>
            <a:off x="20707" y="287744"/>
            <a:ext cx="9144000" cy="675441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0170" marR="0" rtl="0" algn="ctr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Министерство науки и высшего образования Российской Федерации</a:t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ФЕДЕРАЛЬНОЕ ГОСУДАРСТВЕННОЕ АВТОНОМНОЕ ОБРАЗОВАТЕЛЬНОЕ УЧРЕЖДЕНИЕ ВЫСШЕГО ОБРАЗОВАНИЯ </a:t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“Национальный исследовательский университет ИТМО”</a:t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1"/>
          <p:cNvSpPr txBox="1"/>
          <p:nvPr>
            <p:ph type="title"/>
          </p:nvPr>
        </p:nvSpPr>
        <p:spPr>
          <a:xfrm>
            <a:off x="195370" y="2272567"/>
            <a:ext cx="8753255" cy="90289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None/>
            </a:pPr>
            <a:r>
              <a:rPr lang="ru-RU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системы мониторинга информационной  безопасности SIEM-системы с использованием  платформы Wazuh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"/>
          <p:cNvSpPr/>
          <p:nvPr/>
        </p:nvSpPr>
        <p:spPr>
          <a:xfrm>
            <a:off x="1502014" y="874197"/>
            <a:ext cx="58463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10.03.01 «Информационная безопасность» 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Актуальность</a:t>
            </a:r>
            <a:endParaRPr/>
          </a:p>
        </p:txBody>
      </p:sp>
      <p:sp>
        <p:nvSpPr>
          <p:cNvPr id="147" name="Google Shape;147;p2"/>
          <p:cNvSpPr txBox="1"/>
          <p:nvPr/>
        </p:nvSpPr>
        <p:spPr>
          <a:xfrm>
            <a:off x="-1" y="0"/>
            <a:ext cx="6731135" cy="4662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ct val="100000"/>
              <a:buFont typeface="Calibri"/>
              <a:buNone/>
            </a:pPr>
            <a:r>
              <a:rPr lang="ru-RU" sz="1600">
                <a:solidFill>
                  <a:srgbClr val="7C7C7C"/>
                </a:solidFill>
                <a:latin typeface="Calibri"/>
                <a:ea typeface="Calibri"/>
                <a:cs typeface="Calibri"/>
                <a:sym typeface="Calibri"/>
              </a:rPr>
              <a:t>Чу В.Д «Разработка системы мониторинга информационной  безопасности SIEM-системы с использованием  платформы Wazuh» </a:t>
            </a:r>
            <a:endParaRPr b="0" i="0" sz="1600">
              <a:solidFill>
                <a:srgbClr val="7C7C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7825" y="1097023"/>
            <a:ext cx="4986926" cy="33019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"/>
          <p:cNvSpPr txBox="1"/>
          <p:nvPr/>
        </p:nvSpPr>
        <p:spPr>
          <a:xfrm>
            <a:off x="1877825" y="4398925"/>
            <a:ext cx="595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latin typeface="Times New Roman"/>
                <a:ea typeface="Times New Roman"/>
                <a:cs typeface="Times New Roman"/>
                <a:sym typeface="Times New Roman"/>
              </a:rPr>
              <a:t>Рисунок 1. Количество атак с крупными утечками данных 2022 и 2023 годов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"/>
          <p:cNvSpPr txBox="1"/>
          <p:nvPr>
            <p:ph type="title"/>
          </p:nvPr>
        </p:nvSpPr>
        <p:spPr>
          <a:xfrm>
            <a:off x="457200" y="399009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Цель</a:t>
            </a: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 и задачи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5"/>
          <p:cNvSpPr txBox="1"/>
          <p:nvPr>
            <p:ph idx="1" type="body"/>
          </p:nvPr>
        </p:nvSpPr>
        <p:spPr>
          <a:xfrm>
            <a:off x="457200" y="1034150"/>
            <a:ext cx="7809300" cy="3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000">
                <a:latin typeface="Times New Roman"/>
                <a:ea typeface="Times New Roman"/>
                <a:cs typeface="Times New Roman"/>
                <a:sym typeface="Times New Roman"/>
              </a:rPr>
              <a:t>Цель</a:t>
            </a:r>
            <a:endParaRPr b="1"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000">
                <a:latin typeface="Times New Roman"/>
                <a:ea typeface="Times New Roman"/>
                <a:cs typeface="Times New Roman"/>
                <a:sym typeface="Times New Roman"/>
              </a:rPr>
              <a:t>Повышение эффективности и надежности системы ИБ предприятия за счёт внедрения SIEM-решения на базе Wazuh, обеспечивающего централизованный мониторинг, улучшенное выявление киберугроз и оперативное реагирование для снижения рисков.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000">
                <a:latin typeface="Times New Roman"/>
                <a:ea typeface="Times New Roman"/>
                <a:cs typeface="Times New Roman"/>
                <a:sym typeface="Times New Roman"/>
              </a:rPr>
              <a:t>Задачи</a:t>
            </a:r>
            <a:endParaRPr b="1"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SzPts val="1000"/>
              <a:buFont typeface="Times New Roman"/>
              <a:buAutoNum type="arabicPeriod"/>
            </a:pPr>
            <a:r>
              <a:rPr lang="ru-RU" sz="1000">
                <a:latin typeface="Times New Roman"/>
                <a:ea typeface="Times New Roman"/>
                <a:cs typeface="Times New Roman"/>
                <a:sym typeface="Times New Roman"/>
              </a:rPr>
              <a:t>Проанализировать современные подходы и решения класса SIEM, а также изучить архитектуру, функциональные возможности и компоненты платформы Wazuh.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Times New Roman"/>
              <a:buAutoNum type="arabicPeriod"/>
            </a:pPr>
            <a:r>
              <a:rPr lang="ru-RU" sz="1000">
                <a:latin typeface="Times New Roman"/>
                <a:ea typeface="Times New Roman"/>
                <a:cs typeface="Times New Roman"/>
                <a:sym typeface="Times New Roman"/>
              </a:rPr>
              <a:t>Исследовать механизмы сбора, нормализации и корреляции событий безопасности, реализованные в Wazuh.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Times New Roman"/>
              <a:buAutoNum type="arabicPeriod"/>
            </a:pPr>
            <a:r>
              <a:rPr lang="ru-RU" sz="1000">
                <a:latin typeface="Times New Roman"/>
                <a:ea typeface="Times New Roman"/>
                <a:cs typeface="Times New Roman"/>
                <a:sym typeface="Times New Roman"/>
              </a:rPr>
              <a:t>Разработать и внедрить тестовую инфраструктуру SIEM на основе Wazuh, включающую установку и настройку Wazuh Server, Wazuh Indexer, Wazuh Dashboard и агентов.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Times New Roman"/>
              <a:buAutoNum type="arabicPeriod"/>
            </a:pPr>
            <a:r>
              <a:rPr lang="ru-RU" sz="1000">
                <a:latin typeface="Times New Roman"/>
                <a:ea typeface="Times New Roman"/>
                <a:cs typeface="Times New Roman"/>
                <a:sym typeface="Times New Roman"/>
              </a:rPr>
              <a:t>Настроить функциональные модули Wazuh: мониторинг целостности файлов (FIM), обнаружение уязвимостей (CVE), оценку безопасности конфигураций (SCA), обнаружение вредоносной активности и rootkit.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Times New Roman"/>
              <a:buAutoNum type="arabicPeriod"/>
            </a:pPr>
            <a:r>
              <a:rPr lang="ru-RU" sz="1000">
                <a:latin typeface="Times New Roman"/>
                <a:ea typeface="Times New Roman"/>
                <a:cs typeface="Times New Roman"/>
                <a:sym typeface="Times New Roman"/>
              </a:rPr>
              <a:t>Интегрировать систему с внешними сервисами и инструментами безопасности: Suricata IDS/IPS, VirusTotal, DFIR-IRIS, Telegram, а также изучить их роль в комплексном мониторинге.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Times New Roman"/>
              <a:buAutoNum type="arabicPeriod"/>
            </a:pPr>
            <a:r>
              <a:rPr lang="ru-RU" sz="1000">
                <a:latin typeface="Times New Roman"/>
                <a:ea typeface="Times New Roman"/>
                <a:cs typeface="Times New Roman"/>
                <a:sym typeface="Times New Roman"/>
              </a:rPr>
              <a:t>Смоделировать и проанализировать различные сценарии кибератак (Brute-Force, SQL-Injection, использование вредоносных бинарных файлов и скрытых процессов) и оценить способность системы выявлять и реагировать на них.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Times New Roman"/>
              <a:buAutoNum type="arabicPeriod"/>
            </a:pPr>
            <a:r>
              <a:rPr lang="ru-RU" sz="1000">
                <a:latin typeface="Times New Roman"/>
                <a:ea typeface="Times New Roman"/>
                <a:cs typeface="Times New Roman"/>
                <a:sym typeface="Times New Roman"/>
              </a:rPr>
              <a:t>Разработать правила корреляции и оповещения, а также механизмы активного реагирования на инциденты.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Times New Roman"/>
              <a:buAutoNum type="arabicPeriod"/>
            </a:pPr>
            <a:r>
              <a:rPr lang="ru-RU" sz="1000">
                <a:latin typeface="Times New Roman"/>
                <a:ea typeface="Times New Roman"/>
                <a:cs typeface="Times New Roman"/>
                <a:sym typeface="Times New Roman"/>
              </a:rPr>
              <a:t>Оценить эффективность построенной SIEM-системы и определить возможные направления её дальнейшего развития.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-1" y="0"/>
            <a:ext cx="6731135" cy="4662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ct val="100000"/>
              <a:buFont typeface="Calibri"/>
              <a:buNone/>
            </a:pPr>
            <a:r>
              <a:rPr lang="ru-RU" sz="1600">
                <a:solidFill>
                  <a:srgbClr val="7C7C7C"/>
                </a:solidFill>
                <a:latin typeface="Calibri"/>
                <a:ea typeface="Calibri"/>
                <a:cs typeface="Calibri"/>
                <a:sym typeface="Calibri"/>
              </a:rPr>
              <a:t>Чу В.Д «Разработка системы мониторинга информационной  безопасности SIEM-системы с использованием  платформы Wazuh» </a:t>
            </a:r>
            <a:endParaRPr sz="1600">
              <a:solidFill>
                <a:srgbClr val="7C7C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 txBox="1"/>
          <p:nvPr>
            <p:ph type="title"/>
          </p:nvPr>
        </p:nvSpPr>
        <p:spPr>
          <a:xfrm>
            <a:off x="416375" y="41528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Предмет и объект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4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300">
                <a:latin typeface="Times New Roman"/>
                <a:ea typeface="Times New Roman"/>
                <a:cs typeface="Times New Roman"/>
                <a:sym typeface="Times New Roman"/>
              </a:rPr>
              <a:t>Объект исследования </a:t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ru-RU" sz="1100">
                <a:latin typeface="Times New Roman"/>
                <a:ea typeface="Times New Roman"/>
                <a:cs typeface="Times New Roman"/>
                <a:sym typeface="Times New Roman"/>
              </a:rPr>
              <a:t>Инфраструктура SIEM на базе платформы Wazuh.</a:t>
            </a:r>
            <a:br>
              <a:rPr lang="ru-RU" sz="11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ru-RU" sz="1100">
                <a:latin typeface="Times New Roman"/>
                <a:ea typeface="Times New Roman"/>
                <a:cs typeface="Times New Roman"/>
                <a:sym typeface="Times New Roman"/>
              </a:rPr>
              <a:t>Средства защиты информации: агенты, сервер Wazuh, indexer, dashboard.</a:t>
            </a:r>
            <a:br>
              <a:rPr lang="ru-RU" sz="11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300">
                <a:latin typeface="Times New Roman"/>
                <a:ea typeface="Times New Roman"/>
                <a:cs typeface="Times New Roman"/>
                <a:sym typeface="Times New Roman"/>
              </a:rPr>
              <a:t>Предмет исследования </a:t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ru-RU" sz="1100">
                <a:latin typeface="Times New Roman"/>
                <a:ea typeface="Times New Roman"/>
                <a:cs typeface="Times New Roman"/>
                <a:sym typeface="Times New Roman"/>
              </a:rPr>
              <a:t>Методики мониторинга целостности файлов (FIM) и обнаружения уязвимостей (CVE).</a:t>
            </a:r>
            <a:br>
              <a:rPr lang="ru-RU" sz="11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ru-RU" sz="1100">
                <a:latin typeface="Times New Roman"/>
                <a:ea typeface="Times New Roman"/>
                <a:cs typeface="Times New Roman"/>
                <a:sym typeface="Times New Roman"/>
              </a:rPr>
              <a:t>Процессы обнаружения угроз и реагирования на инциденты.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-1" y="0"/>
            <a:ext cx="67311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ct val="100000"/>
              <a:buFont typeface="Calibri"/>
              <a:buNone/>
            </a:pPr>
            <a:r>
              <a:rPr lang="ru-RU" sz="1600">
                <a:solidFill>
                  <a:srgbClr val="7C7C7C"/>
                </a:solidFill>
                <a:latin typeface="Calibri"/>
                <a:ea typeface="Calibri"/>
                <a:cs typeface="Calibri"/>
                <a:sym typeface="Calibri"/>
              </a:rPr>
              <a:t>Чу В.Д «Разработка системы мониторинга информационной  безопасности SIEM-системы с использованием  платформы Wazuh» </a:t>
            </a:r>
            <a:endParaRPr sz="1600">
              <a:solidFill>
                <a:srgbClr val="7C7C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 txBox="1"/>
          <p:nvPr>
            <p:ph type="title"/>
          </p:nvPr>
        </p:nvSpPr>
        <p:spPr>
          <a:xfrm>
            <a:off x="213625" y="570075"/>
            <a:ext cx="52839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lang="ru-RU" sz="1800">
                <a:latin typeface="Times New Roman"/>
                <a:ea typeface="Times New Roman"/>
                <a:cs typeface="Times New Roman"/>
                <a:sym typeface="Times New Roman"/>
              </a:rPr>
              <a:t>Анализ современных SIEM и платформа Wazuh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7"/>
          <p:cNvSpPr txBox="1"/>
          <p:nvPr/>
        </p:nvSpPr>
        <p:spPr>
          <a:xfrm>
            <a:off x="-1" y="0"/>
            <a:ext cx="6731135" cy="4662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ct val="100000"/>
              <a:buFont typeface="Calibri"/>
              <a:buNone/>
            </a:pPr>
            <a:r>
              <a:rPr lang="ru-RU" sz="1600">
                <a:solidFill>
                  <a:srgbClr val="7C7C7C"/>
                </a:solidFill>
                <a:latin typeface="Calibri"/>
                <a:ea typeface="Calibri"/>
                <a:cs typeface="Calibri"/>
                <a:sym typeface="Calibri"/>
              </a:rPr>
              <a:t>Чу В.Д «Разработка системы мониторинга информационной  безопасности SIEM-системы с использованием  платформы Wazuh» </a:t>
            </a:r>
            <a:endParaRPr sz="1600">
              <a:solidFill>
                <a:srgbClr val="7C7C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650" y="1276200"/>
            <a:ext cx="4571851" cy="30479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7"/>
          <p:cNvSpPr txBox="1"/>
          <p:nvPr/>
        </p:nvSpPr>
        <p:spPr>
          <a:xfrm>
            <a:off x="1922825" y="4534075"/>
            <a:ext cx="153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2. </a:t>
            </a: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SIEM</a:t>
            </a:r>
            <a:endParaRPr/>
          </a:p>
        </p:txBody>
      </p:sp>
      <p:sp>
        <p:nvSpPr>
          <p:cNvPr id="172" name="Google Shape;172;p7"/>
          <p:cNvSpPr txBox="1"/>
          <p:nvPr/>
        </p:nvSpPr>
        <p:spPr>
          <a:xfrm>
            <a:off x="5118600" y="1681075"/>
            <a:ext cx="3821400" cy="3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ru-RU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SIEM - Security Information and Event Management.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ru-RU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Wazuh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○"/>
            </a:pPr>
            <a:r>
              <a:rPr lang="ru-RU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Обнаружение вторжений, Мониторинг целостности, Оценка конфигурации безопасности, Проверка соответствия.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○"/>
            </a:pPr>
            <a:r>
              <a:rPr lang="ru-RU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Wazuh indexer, Wazuh server, Wazuh agent, Wazuh Dashboard.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○"/>
            </a:pPr>
            <a:r>
              <a:rPr lang="ru-RU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Обработка данных для анализа и мониторинга безопасности.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○"/>
            </a:pPr>
            <a:r>
              <a:rPr lang="ru-RU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Интеграция с ELK Stack, другими SIEM-системами, MITRE ATT&amp;CK и PCI DSS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 txBox="1"/>
          <p:nvPr>
            <p:ph type="title"/>
          </p:nvPr>
        </p:nvSpPr>
        <p:spPr>
          <a:xfrm>
            <a:off x="457200" y="306435"/>
            <a:ext cx="6827520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lang="ru-RU" sz="2400"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Wazuh</a:t>
            </a:r>
            <a:endParaRPr/>
          </a:p>
        </p:txBody>
      </p:sp>
      <p:sp>
        <p:nvSpPr>
          <p:cNvPr id="178" name="Google Shape;178;p8"/>
          <p:cNvSpPr txBox="1"/>
          <p:nvPr>
            <p:ph idx="1" type="body"/>
          </p:nvPr>
        </p:nvSpPr>
        <p:spPr>
          <a:xfrm>
            <a:off x="5346025" y="1092600"/>
            <a:ext cx="3537900" cy="3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50">
                <a:latin typeface="Times New Roman"/>
                <a:ea typeface="Times New Roman"/>
                <a:cs typeface="Times New Roman"/>
                <a:sym typeface="Times New Roman"/>
              </a:rPr>
              <a:t>1. Сбор данных (Wazuh Agent)</a:t>
            </a:r>
            <a:endParaRPr sz="1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5275" lvl="0" marL="457200" rtl="0" algn="l">
              <a:spcBef>
                <a:spcPts val="240"/>
              </a:spcBef>
              <a:spcAft>
                <a:spcPts val="0"/>
              </a:spcAft>
              <a:buSzPts val="1050"/>
              <a:buFont typeface="Times New Roman"/>
              <a:buChar char="●"/>
            </a:pPr>
            <a:r>
              <a:rPr lang="ru-RU" sz="1050">
                <a:latin typeface="Times New Roman"/>
                <a:ea typeface="Times New Roman"/>
                <a:cs typeface="Times New Roman"/>
                <a:sym typeface="Times New Roman"/>
              </a:rPr>
              <a:t>Сбор системных логов и событий приложений.</a:t>
            </a:r>
            <a:endParaRPr sz="1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5275" lvl="0" marL="457200" rtl="0" algn="l">
              <a:spcBef>
                <a:spcPts val="240"/>
              </a:spcBef>
              <a:spcAft>
                <a:spcPts val="0"/>
              </a:spcAft>
              <a:buSzPts val="1050"/>
              <a:buFont typeface="Times New Roman"/>
              <a:buChar char="●"/>
            </a:pPr>
            <a:r>
              <a:rPr lang="ru-RU" sz="1050">
                <a:latin typeface="Times New Roman"/>
                <a:ea typeface="Times New Roman"/>
                <a:cs typeface="Times New Roman"/>
                <a:sym typeface="Times New Roman"/>
              </a:rPr>
              <a:t>Мониторинг целостности файлов (FIM) и конфигурации.</a:t>
            </a:r>
            <a:endParaRPr sz="1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5275" lvl="0" marL="457200" rtl="0" algn="l">
              <a:spcBef>
                <a:spcPts val="240"/>
              </a:spcBef>
              <a:spcAft>
                <a:spcPts val="0"/>
              </a:spcAft>
              <a:buSzPts val="1050"/>
              <a:buFont typeface="Times New Roman"/>
              <a:buChar char="●"/>
            </a:pPr>
            <a:r>
              <a:rPr lang="ru-RU" sz="1050">
                <a:latin typeface="Times New Roman"/>
                <a:ea typeface="Times New Roman"/>
                <a:cs typeface="Times New Roman"/>
                <a:sym typeface="Times New Roman"/>
              </a:rPr>
              <a:t>Обнаружение руткитов и скрытых процессов.</a:t>
            </a:r>
            <a:endParaRPr sz="1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5275" lvl="0" marL="457200" rtl="0" algn="l">
              <a:spcBef>
                <a:spcPts val="240"/>
              </a:spcBef>
              <a:spcAft>
                <a:spcPts val="0"/>
              </a:spcAft>
              <a:buSzPts val="1050"/>
              <a:buFont typeface="Times New Roman"/>
              <a:buChar char="●"/>
            </a:pPr>
            <a:r>
              <a:rPr lang="ru-RU" sz="1050">
                <a:latin typeface="Times New Roman"/>
                <a:ea typeface="Times New Roman"/>
                <a:cs typeface="Times New Roman"/>
                <a:sym typeface="Times New Roman"/>
              </a:rPr>
              <a:t>Отправка данных на сервер по защищенному каналу.</a:t>
            </a:r>
            <a:endParaRPr sz="1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50">
                <a:latin typeface="Times New Roman"/>
                <a:ea typeface="Times New Roman"/>
                <a:cs typeface="Times New Roman"/>
                <a:sym typeface="Times New Roman"/>
              </a:rPr>
              <a:t>2. Анализ данных (Wazuh Server)</a:t>
            </a:r>
            <a:endParaRPr sz="1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5275" lvl="0" marL="457200" rtl="0" algn="l">
              <a:spcBef>
                <a:spcPts val="240"/>
              </a:spcBef>
              <a:spcAft>
                <a:spcPts val="0"/>
              </a:spcAft>
              <a:buSzPts val="1050"/>
              <a:buFont typeface="Times New Roman"/>
              <a:buChar char="●"/>
            </a:pPr>
            <a:r>
              <a:rPr lang="ru-RU" sz="1050">
                <a:latin typeface="Times New Roman"/>
                <a:ea typeface="Times New Roman"/>
                <a:cs typeface="Times New Roman"/>
                <a:sym typeface="Times New Roman"/>
              </a:rPr>
              <a:t>Декодирование логов и сопоставление с правилами.</a:t>
            </a:r>
            <a:endParaRPr sz="1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5275" lvl="0" marL="457200" rtl="0" algn="l">
              <a:spcBef>
                <a:spcPts val="240"/>
              </a:spcBef>
              <a:spcAft>
                <a:spcPts val="0"/>
              </a:spcAft>
              <a:buSzPts val="1050"/>
              <a:buFont typeface="Times New Roman"/>
              <a:buChar char="●"/>
            </a:pPr>
            <a:r>
              <a:rPr lang="ru-RU" sz="1050">
                <a:latin typeface="Times New Roman"/>
                <a:ea typeface="Times New Roman"/>
                <a:cs typeface="Times New Roman"/>
                <a:sym typeface="Times New Roman"/>
              </a:rPr>
              <a:t>Выявление аномалий и угроз.</a:t>
            </a:r>
            <a:endParaRPr sz="1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5275" lvl="0" marL="457200" rtl="0" algn="l">
              <a:spcBef>
                <a:spcPts val="240"/>
              </a:spcBef>
              <a:spcAft>
                <a:spcPts val="0"/>
              </a:spcAft>
              <a:buSzPts val="1050"/>
              <a:buFont typeface="Times New Roman"/>
              <a:buChar char="●"/>
            </a:pPr>
            <a:r>
              <a:rPr lang="ru-RU" sz="1050">
                <a:latin typeface="Times New Roman"/>
                <a:ea typeface="Times New Roman"/>
                <a:cs typeface="Times New Roman"/>
                <a:sym typeface="Times New Roman"/>
              </a:rPr>
              <a:t>Запуск активного реагирования (Active Response).</a:t>
            </a:r>
            <a:endParaRPr sz="1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ru-RU" sz="1050">
                <a:latin typeface="Times New Roman"/>
                <a:ea typeface="Times New Roman"/>
                <a:cs typeface="Times New Roman"/>
                <a:sym typeface="Times New Roman"/>
              </a:rPr>
              <a:t>3. Индексация и хранение (Wazuh Indexer)</a:t>
            </a:r>
            <a:endParaRPr sz="1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5275" lvl="0" marL="457200" rtl="0" algn="l">
              <a:spcBef>
                <a:spcPts val="240"/>
              </a:spcBef>
              <a:spcAft>
                <a:spcPts val="0"/>
              </a:spcAft>
              <a:buSzPts val="1050"/>
              <a:buFont typeface="Times New Roman"/>
              <a:buChar char="●"/>
            </a:pPr>
            <a:r>
              <a:rPr lang="ru-RU" sz="1050">
                <a:latin typeface="Times New Roman"/>
                <a:ea typeface="Times New Roman"/>
                <a:cs typeface="Times New Roman"/>
                <a:sym typeface="Times New Roman"/>
              </a:rPr>
              <a:t>Хранение обработанных событий и алертов.</a:t>
            </a:r>
            <a:endParaRPr sz="1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5275" lvl="0" marL="457200" rtl="0" algn="l">
              <a:spcBef>
                <a:spcPts val="240"/>
              </a:spcBef>
              <a:spcAft>
                <a:spcPts val="0"/>
              </a:spcAft>
              <a:buSzPts val="1050"/>
              <a:buFont typeface="Times New Roman"/>
              <a:buChar char="●"/>
            </a:pPr>
            <a:r>
              <a:rPr lang="ru-RU" sz="1050">
                <a:latin typeface="Times New Roman"/>
                <a:ea typeface="Times New Roman"/>
                <a:cs typeface="Times New Roman"/>
                <a:sym typeface="Times New Roman"/>
              </a:rPr>
              <a:t>Оптимизация данных для поиска в реальном времени.</a:t>
            </a:r>
            <a:endParaRPr sz="1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50">
                <a:latin typeface="Times New Roman"/>
                <a:ea typeface="Times New Roman"/>
                <a:cs typeface="Times New Roman"/>
                <a:sym typeface="Times New Roman"/>
              </a:rPr>
              <a:t>4. Визуализация (Wazuh Dashboard)</a:t>
            </a:r>
            <a:endParaRPr sz="1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5275" lvl="0" marL="457200" rtl="0" algn="l">
              <a:spcBef>
                <a:spcPts val="240"/>
              </a:spcBef>
              <a:spcAft>
                <a:spcPts val="0"/>
              </a:spcAft>
              <a:buSzPts val="1050"/>
              <a:buFont typeface="Times New Roman"/>
              <a:buChar char="●"/>
            </a:pPr>
            <a:r>
              <a:rPr lang="ru-RU" sz="1050">
                <a:latin typeface="Times New Roman"/>
                <a:ea typeface="Times New Roman"/>
                <a:cs typeface="Times New Roman"/>
                <a:sym typeface="Times New Roman"/>
              </a:rPr>
              <a:t>Мониторинг инцидентов и статуса агентов.</a:t>
            </a:r>
            <a:endParaRPr sz="1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5275" lvl="0" marL="457200" rtl="0" algn="l">
              <a:spcBef>
                <a:spcPts val="240"/>
              </a:spcBef>
              <a:spcAft>
                <a:spcPts val="0"/>
              </a:spcAft>
              <a:buSzPts val="1050"/>
              <a:buFont typeface="Times New Roman"/>
              <a:buChar char="●"/>
            </a:pPr>
            <a:r>
              <a:rPr lang="ru-RU" sz="1050">
                <a:latin typeface="Times New Roman"/>
                <a:ea typeface="Times New Roman"/>
                <a:cs typeface="Times New Roman"/>
                <a:sym typeface="Times New Roman"/>
              </a:rPr>
              <a:t>Визуализация статистики и поиск по логам.</a:t>
            </a:r>
            <a:endParaRPr sz="1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-1" y="0"/>
            <a:ext cx="6731135" cy="4662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ct val="100000"/>
              <a:buFont typeface="Calibri"/>
              <a:buNone/>
            </a:pPr>
            <a:r>
              <a:rPr lang="ru-RU" sz="1600">
                <a:solidFill>
                  <a:srgbClr val="7C7C7C"/>
                </a:solidFill>
                <a:latin typeface="Calibri"/>
                <a:ea typeface="Calibri"/>
                <a:cs typeface="Calibri"/>
                <a:sym typeface="Calibri"/>
              </a:rPr>
              <a:t>Чу В.Д «Разработка системы мониторинга информационной  безопасности SIEM-системы с использованием  платформы Wazuh» </a:t>
            </a:r>
            <a:endParaRPr sz="1600">
              <a:solidFill>
                <a:srgbClr val="7C7C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25" y="1032175"/>
            <a:ext cx="5163273" cy="307914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8"/>
          <p:cNvSpPr txBox="1"/>
          <p:nvPr/>
        </p:nvSpPr>
        <p:spPr>
          <a:xfrm>
            <a:off x="1337163" y="4148700"/>
            <a:ext cx="261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3. </a:t>
            </a: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Wazuh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8ee39536a_0_17"/>
          <p:cNvSpPr txBox="1"/>
          <p:nvPr>
            <p:ph type="title"/>
          </p:nvPr>
        </p:nvSpPr>
        <p:spPr>
          <a:xfrm>
            <a:off x="457200" y="306435"/>
            <a:ext cx="6827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lang="ru-RU" sz="2400">
                <a:latin typeface="Times New Roman"/>
                <a:ea typeface="Times New Roman"/>
                <a:cs typeface="Times New Roman"/>
                <a:sym typeface="Times New Roman"/>
              </a:rPr>
              <a:t>Схема развертывания тестового стенда</a:t>
            </a:r>
            <a:endParaRPr/>
          </a:p>
        </p:txBody>
      </p:sp>
      <p:sp>
        <p:nvSpPr>
          <p:cNvPr id="187" name="Google Shape;187;g3a8ee39536a_0_17"/>
          <p:cNvSpPr txBox="1"/>
          <p:nvPr>
            <p:ph idx="1" type="body"/>
          </p:nvPr>
        </p:nvSpPr>
        <p:spPr>
          <a:xfrm>
            <a:off x="5361200" y="1378350"/>
            <a:ext cx="3537900" cy="3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rtl="0" algn="l"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Агенты (Wazuh Agents): Развернуты на Ubuntu 24.02 и Windows Server 2022. Отправка логов на Wazuh Worker.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Анализ и интеграция (Wazuh Master): Обработка данных, обогащение через IRIS и VirusTotal</a:t>
            </a: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Сетевая защита (NIDS): Suricata (IDS/IPS) для обнаружения подозрительного трафика</a:t>
            </a: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Эмуляция угроз: Kali Linux для проведения тестовых атак.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Оповещение: Отправка уведомлений об инцидентах в Telegram.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g3a8ee39536a_0_17"/>
          <p:cNvSpPr txBox="1"/>
          <p:nvPr/>
        </p:nvSpPr>
        <p:spPr>
          <a:xfrm>
            <a:off x="-1" y="0"/>
            <a:ext cx="67311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ct val="100000"/>
              <a:buFont typeface="Calibri"/>
              <a:buNone/>
            </a:pPr>
            <a:r>
              <a:rPr lang="ru-RU" sz="1600">
                <a:solidFill>
                  <a:srgbClr val="7C7C7C"/>
                </a:solidFill>
                <a:latin typeface="Calibri"/>
                <a:ea typeface="Calibri"/>
                <a:cs typeface="Calibri"/>
                <a:sym typeface="Calibri"/>
              </a:rPr>
              <a:t>Чу В.Д «Разработка системы мониторинга информационной  безопасности SIEM-системы с использованием  платформы Wazuh» </a:t>
            </a:r>
            <a:endParaRPr sz="1600">
              <a:solidFill>
                <a:srgbClr val="7C7C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a8ee39536a_0_17"/>
          <p:cNvSpPr txBox="1"/>
          <p:nvPr/>
        </p:nvSpPr>
        <p:spPr>
          <a:xfrm>
            <a:off x="1261363" y="4737750"/>
            <a:ext cx="261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4. Принцип работы Wazuh </a:t>
            </a:r>
            <a:endParaRPr/>
          </a:p>
        </p:txBody>
      </p:sp>
      <p:pic>
        <p:nvPicPr>
          <p:cNvPr id="190" name="Google Shape;190;g3a8ee39536a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675" y="766697"/>
            <a:ext cx="4205949" cy="39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80"/>
              <a:buFont typeface="Times New Roman"/>
              <a:buNone/>
            </a:pPr>
            <a:r>
              <a:rPr lang="ru-RU" sz="2200">
                <a:latin typeface="Times New Roman"/>
                <a:ea typeface="Times New Roman"/>
                <a:cs typeface="Times New Roman"/>
                <a:sym typeface="Times New Roman"/>
              </a:rPr>
              <a:t>Настройка ключевых модулей безопасности Wazuh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9"/>
          <p:cNvSpPr txBox="1"/>
          <p:nvPr/>
        </p:nvSpPr>
        <p:spPr>
          <a:xfrm>
            <a:off x="-1" y="0"/>
            <a:ext cx="6731135" cy="4662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ct val="100000"/>
              <a:buFont typeface="Calibri"/>
              <a:buNone/>
            </a:pPr>
            <a:r>
              <a:rPr lang="ru-RU" sz="1600">
                <a:solidFill>
                  <a:srgbClr val="7C7C7C"/>
                </a:solidFill>
                <a:latin typeface="Calibri"/>
                <a:ea typeface="Calibri"/>
                <a:cs typeface="Calibri"/>
                <a:sym typeface="Calibri"/>
              </a:rPr>
              <a:t>Чу В.Д «Разработка системы мониторинга информационной  безопасности SIEM-системы с использованием  платформы Wazuh» </a:t>
            </a:r>
            <a:endParaRPr b="0" i="0" sz="1600">
              <a:solidFill>
                <a:srgbClr val="7C7C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 txBox="1"/>
          <p:nvPr/>
        </p:nvSpPr>
        <p:spPr>
          <a:xfrm>
            <a:off x="2560600" y="39006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5 - Визуализация агентов Wazuh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8" name="Google Shape;19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775" y="1195578"/>
            <a:ext cx="7287247" cy="258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ba427f638_0_26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80"/>
              <a:buFont typeface="Times New Roman"/>
              <a:buNone/>
            </a:pPr>
            <a:r>
              <a:rPr lang="ru-RU" sz="2200">
                <a:latin typeface="Times New Roman"/>
                <a:ea typeface="Times New Roman"/>
                <a:cs typeface="Times New Roman"/>
                <a:sym typeface="Times New Roman"/>
              </a:rPr>
              <a:t>Настройка ключевых модулей безопасности Wazuh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g3aba427f638_0_26"/>
          <p:cNvSpPr txBox="1"/>
          <p:nvPr/>
        </p:nvSpPr>
        <p:spPr>
          <a:xfrm>
            <a:off x="-1" y="0"/>
            <a:ext cx="67311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ct val="100000"/>
              <a:buFont typeface="Calibri"/>
              <a:buNone/>
            </a:pPr>
            <a:r>
              <a:rPr lang="ru-RU" sz="1600">
                <a:solidFill>
                  <a:srgbClr val="7C7C7C"/>
                </a:solidFill>
                <a:latin typeface="Calibri"/>
                <a:ea typeface="Calibri"/>
                <a:cs typeface="Calibri"/>
                <a:sym typeface="Calibri"/>
              </a:rPr>
              <a:t>Чу В.Д «Разработка системы мониторинга информационной  безопасности SIEM-системы с использованием  платформы Wazuh» </a:t>
            </a:r>
            <a:endParaRPr b="0" i="0" sz="1600">
              <a:solidFill>
                <a:srgbClr val="7C7C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aba427f638_0_26"/>
          <p:cNvSpPr txBox="1"/>
          <p:nvPr/>
        </p:nvSpPr>
        <p:spPr>
          <a:xfrm>
            <a:off x="2533400" y="43905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6 - </a:t>
            </a: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 CVE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6" name="Google Shape;206;g3aba427f638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3150" y="1131824"/>
            <a:ext cx="5469924" cy="3296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ba427f638_0_36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80"/>
              <a:buFont typeface="Times New Roman"/>
              <a:buNone/>
            </a:pPr>
            <a:r>
              <a:rPr lang="ru-RU" sz="2200">
                <a:latin typeface="Times New Roman"/>
                <a:ea typeface="Times New Roman"/>
                <a:cs typeface="Times New Roman"/>
                <a:sym typeface="Times New Roman"/>
              </a:rPr>
              <a:t>Настройка ключевых модулей безопасности Wazuh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g3aba427f638_0_36"/>
          <p:cNvSpPr txBox="1"/>
          <p:nvPr/>
        </p:nvSpPr>
        <p:spPr>
          <a:xfrm>
            <a:off x="-1" y="0"/>
            <a:ext cx="67311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ct val="100000"/>
              <a:buFont typeface="Calibri"/>
              <a:buNone/>
            </a:pPr>
            <a:r>
              <a:rPr lang="ru-RU" sz="1600">
                <a:solidFill>
                  <a:srgbClr val="7C7C7C"/>
                </a:solidFill>
                <a:latin typeface="Calibri"/>
                <a:ea typeface="Calibri"/>
                <a:cs typeface="Calibri"/>
                <a:sym typeface="Calibri"/>
              </a:rPr>
              <a:t>Чу В.Д «Разработка системы мониторинга информационной  безопасности SIEM-системы с использованием  платформы Wazuh» </a:t>
            </a:r>
            <a:endParaRPr b="0" i="0" sz="1600">
              <a:solidFill>
                <a:srgbClr val="7C7C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aba427f638_0_36"/>
          <p:cNvSpPr txBox="1"/>
          <p:nvPr/>
        </p:nvSpPr>
        <p:spPr>
          <a:xfrm>
            <a:off x="2533400" y="43905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6: Выполнение команды атаки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4" name="Google Shape;214;g3aba427f638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700" y="1111085"/>
            <a:ext cx="7144360" cy="3251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ba427f638_0_55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80"/>
              <a:buFont typeface="Times New Roman"/>
              <a:buNone/>
            </a:pPr>
            <a:r>
              <a:rPr lang="ru-RU" sz="2200">
                <a:latin typeface="Times New Roman"/>
                <a:ea typeface="Times New Roman"/>
                <a:cs typeface="Times New Roman"/>
                <a:sym typeface="Times New Roman"/>
              </a:rPr>
              <a:t>Событие на Wazuh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g3aba427f638_0_55"/>
          <p:cNvSpPr txBox="1"/>
          <p:nvPr/>
        </p:nvSpPr>
        <p:spPr>
          <a:xfrm>
            <a:off x="-1" y="0"/>
            <a:ext cx="67311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ct val="100000"/>
              <a:buFont typeface="Calibri"/>
              <a:buNone/>
            </a:pPr>
            <a:r>
              <a:rPr lang="ru-RU" sz="1600">
                <a:solidFill>
                  <a:srgbClr val="7C7C7C"/>
                </a:solidFill>
                <a:latin typeface="Calibri"/>
                <a:ea typeface="Calibri"/>
                <a:cs typeface="Calibri"/>
                <a:sym typeface="Calibri"/>
              </a:rPr>
              <a:t>Чу В.Д «Разработка системы мониторинга информационной  безопасности SIEM-системы с использованием  платформы Wazuh» </a:t>
            </a:r>
            <a:endParaRPr b="0" i="0" sz="1600">
              <a:solidFill>
                <a:srgbClr val="7C7C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aba427f638_0_55"/>
          <p:cNvSpPr txBox="1"/>
          <p:nvPr/>
        </p:nvSpPr>
        <p:spPr>
          <a:xfrm>
            <a:off x="2533400" y="43905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8 -  Событие на Wazuh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2" name="Google Shape;222;g3aba427f638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021910"/>
            <a:ext cx="7604478" cy="3251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ba427f638_0_65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80"/>
              <a:buFont typeface="Times New Roman"/>
              <a:buNone/>
            </a:pPr>
            <a:r>
              <a:rPr lang="ru-RU" sz="2200">
                <a:latin typeface="Times New Roman"/>
                <a:ea typeface="Times New Roman"/>
                <a:cs typeface="Times New Roman"/>
                <a:sym typeface="Times New Roman"/>
              </a:rPr>
              <a:t>Настройка ключевых модулей безопасности Wazuh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g3aba427f638_0_65"/>
          <p:cNvSpPr txBox="1"/>
          <p:nvPr/>
        </p:nvSpPr>
        <p:spPr>
          <a:xfrm>
            <a:off x="-1" y="0"/>
            <a:ext cx="67311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ct val="100000"/>
              <a:buFont typeface="Calibri"/>
              <a:buNone/>
            </a:pPr>
            <a:r>
              <a:rPr lang="ru-RU" sz="1600">
                <a:solidFill>
                  <a:srgbClr val="7C7C7C"/>
                </a:solidFill>
                <a:latin typeface="Calibri"/>
                <a:ea typeface="Calibri"/>
                <a:cs typeface="Calibri"/>
                <a:sym typeface="Calibri"/>
              </a:rPr>
              <a:t>Чу В.Д «Разработка системы мониторинга информационной  безопасности SIEM-системы с использованием  платформы Wazuh» </a:t>
            </a:r>
            <a:endParaRPr b="0" i="0" sz="1600">
              <a:solidFill>
                <a:srgbClr val="7C7C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g3aba427f638_0_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8800" y="1689904"/>
            <a:ext cx="5042575" cy="1763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aba427f638_0_65"/>
          <p:cNvSpPr txBox="1"/>
          <p:nvPr/>
        </p:nvSpPr>
        <p:spPr>
          <a:xfrm>
            <a:off x="587900" y="3914925"/>
            <a:ext cx="751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Рисунок 9 -  Правило обнаружения скрытых процессов в файле ossec.conf на машине Suricata.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ba427f638_0_83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80"/>
              <a:buFont typeface="Times New Roman"/>
              <a:buNone/>
            </a:pPr>
            <a:r>
              <a:rPr lang="ru-RU" sz="2200">
                <a:latin typeface="Times New Roman"/>
                <a:ea typeface="Times New Roman"/>
                <a:cs typeface="Times New Roman"/>
                <a:sym typeface="Times New Roman"/>
              </a:rPr>
              <a:t>Событие на Wazuh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g3aba427f638_0_83"/>
          <p:cNvSpPr txBox="1"/>
          <p:nvPr/>
        </p:nvSpPr>
        <p:spPr>
          <a:xfrm>
            <a:off x="-1" y="0"/>
            <a:ext cx="67311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ct val="100000"/>
              <a:buFont typeface="Calibri"/>
              <a:buNone/>
            </a:pPr>
            <a:r>
              <a:rPr lang="ru-RU" sz="1600">
                <a:solidFill>
                  <a:srgbClr val="7C7C7C"/>
                </a:solidFill>
                <a:latin typeface="Calibri"/>
                <a:ea typeface="Calibri"/>
                <a:cs typeface="Calibri"/>
                <a:sym typeface="Calibri"/>
              </a:rPr>
              <a:t>Чу В.Д «Разработка системы мониторинга информационной  безопасности SIEM-системы с использованием  платформы Wazuh» </a:t>
            </a:r>
            <a:endParaRPr b="0" i="0" sz="1600">
              <a:solidFill>
                <a:srgbClr val="7C7C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aba427f638_0_83"/>
          <p:cNvSpPr txBox="1"/>
          <p:nvPr/>
        </p:nvSpPr>
        <p:spPr>
          <a:xfrm>
            <a:off x="1489975" y="4390550"/>
            <a:ext cx="52932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10 - </a:t>
            </a: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Событие на Wazuh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8" name="Google Shape;238;g3aba427f638_0_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575" y="1105135"/>
            <a:ext cx="7718479" cy="3251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ba427f638_0_73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80"/>
              <a:buFont typeface="Times New Roman"/>
              <a:buNone/>
            </a:pPr>
            <a:r>
              <a:rPr lang="ru-RU" sz="2200">
                <a:latin typeface="Times New Roman"/>
                <a:ea typeface="Times New Roman"/>
                <a:cs typeface="Times New Roman"/>
                <a:sym typeface="Times New Roman"/>
              </a:rPr>
              <a:t>Настройка ключевых модулей безопасности Wazuh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g3aba427f638_0_73"/>
          <p:cNvSpPr txBox="1"/>
          <p:nvPr/>
        </p:nvSpPr>
        <p:spPr>
          <a:xfrm>
            <a:off x="-1" y="0"/>
            <a:ext cx="67311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ct val="100000"/>
              <a:buFont typeface="Calibri"/>
              <a:buNone/>
            </a:pPr>
            <a:r>
              <a:rPr lang="ru-RU" sz="1600">
                <a:solidFill>
                  <a:srgbClr val="7C7C7C"/>
                </a:solidFill>
                <a:latin typeface="Calibri"/>
                <a:ea typeface="Calibri"/>
                <a:cs typeface="Calibri"/>
                <a:sym typeface="Calibri"/>
              </a:rPr>
              <a:t>Чу В.Д «Разработка системы мониторинга информационной  безопасности SIEM-системы с использованием  платформы Wazuh» </a:t>
            </a:r>
            <a:endParaRPr b="0" i="0" sz="1600">
              <a:solidFill>
                <a:srgbClr val="7C7C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aba427f638_0_73"/>
          <p:cNvSpPr txBox="1"/>
          <p:nvPr/>
        </p:nvSpPr>
        <p:spPr>
          <a:xfrm>
            <a:off x="2268300" y="4411425"/>
            <a:ext cx="412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11 - </a:t>
            </a: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Настройка правила для VirusTotal.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6" name="Google Shape;246;g3aba427f638_0_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2300" y="986235"/>
            <a:ext cx="6439024" cy="3272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f8b2e3929_0_18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80"/>
              <a:buFont typeface="Times New Roman"/>
              <a:buNone/>
            </a:pPr>
            <a:r>
              <a:rPr lang="ru-RU" sz="2200">
                <a:latin typeface="Times New Roman"/>
                <a:ea typeface="Times New Roman"/>
                <a:cs typeface="Times New Roman"/>
                <a:sym typeface="Times New Roman"/>
              </a:rPr>
              <a:t>Настройка ключевых модулей безопасности Wazuh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g3af8b2e3929_0_18"/>
          <p:cNvSpPr txBox="1"/>
          <p:nvPr/>
        </p:nvSpPr>
        <p:spPr>
          <a:xfrm>
            <a:off x="-1" y="0"/>
            <a:ext cx="67311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ct val="100000"/>
              <a:buFont typeface="Calibri"/>
              <a:buNone/>
            </a:pPr>
            <a:r>
              <a:rPr lang="ru-RU" sz="1600">
                <a:solidFill>
                  <a:srgbClr val="7C7C7C"/>
                </a:solidFill>
                <a:latin typeface="Calibri"/>
                <a:ea typeface="Calibri"/>
                <a:cs typeface="Calibri"/>
                <a:sym typeface="Calibri"/>
              </a:rPr>
              <a:t>Чу В.Д «Разработка системы мониторинга информационной  безопасности SIEM-системы с использованием  платформы Wazuh» </a:t>
            </a:r>
            <a:endParaRPr b="0" i="0" sz="1600">
              <a:solidFill>
                <a:srgbClr val="7C7C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af8b2e3929_0_18"/>
          <p:cNvSpPr txBox="1"/>
          <p:nvPr/>
        </p:nvSpPr>
        <p:spPr>
          <a:xfrm>
            <a:off x="2119650" y="3697975"/>
            <a:ext cx="41202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12: Выполнение команды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4" name="Google Shape;254;g3af8b2e3929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250" y="2068276"/>
            <a:ext cx="8169874" cy="142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f8b2e3929_0_26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80"/>
              <a:buFont typeface="Times New Roman"/>
              <a:buNone/>
            </a:pPr>
            <a:r>
              <a:rPr lang="ru-RU" sz="2200">
                <a:latin typeface="Times New Roman"/>
                <a:ea typeface="Times New Roman"/>
                <a:cs typeface="Times New Roman"/>
                <a:sym typeface="Times New Roman"/>
              </a:rPr>
              <a:t>Событие на Wazuh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g3af8b2e3929_0_26"/>
          <p:cNvSpPr txBox="1"/>
          <p:nvPr/>
        </p:nvSpPr>
        <p:spPr>
          <a:xfrm>
            <a:off x="-1" y="0"/>
            <a:ext cx="67311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ct val="100000"/>
              <a:buFont typeface="Calibri"/>
              <a:buNone/>
            </a:pPr>
            <a:r>
              <a:rPr lang="ru-RU" sz="1600">
                <a:solidFill>
                  <a:srgbClr val="7C7C7C"/>
                </a:solidFill>
                <a:latin typeface="Calibri"/>
                <a:ea typeface="Calibri"/>
                <a:cs typeface="Calibri"/>
                <a:sym typeface="Calibri"/>
              </a:rPr>
              <a:t>Чу В.Д «Разработка системы мониторинга информационной  безопасности SIEM-системы с использованием  платформы Wazuh» </a:t>
            </a:r>
            <a:endParaRPr b="0" i="0" sz="1600">
              <a:solidFill>
                <a:srgbClr val="7C7C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af8b2e3929_0_26"/>
          <p:cNvSpPr txBox="1"/>
          <p:nvPr/>
        </p:nvSpPr>
        <p:spPr>
          <a:xfrm>
            <a:off x="1377025" y="3718700"/>
            <a:ext cx="52932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13 - Событие на Wazuh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2" name="Google Shape;262;g3af8b2e3929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900" y="2341750"/>
            <a:ext cx="7694801" cy="97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aba427f638_0_105"/>
          <p:cNvSpPr txBox="1"/>
          <p:nvPr>
            <p:ph type="title"/>
          </p:nvPr>
        </p:nvSpPr>
        <p:spPr>
          <a:xfrm>
            <a:off x="314300" y="388050"/>
            <a:ext cx="73737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80"/>
              <a:buFont typeface="Times New Roman"/>
              <a:buNone/>
            </a:pPr>
            <a:r>
              <a:rPr lang="ru-RU" sz="2200">
                <a:latin typeface="Times New Roman"/>
                <a:ea typeface="Times New Roman"/>
                <a:cs typeface="Times New Roman"/>
                <a:sym typeface="Times New Roman"/>
              </a:rPr>
              <a:t>Оценка эффективности разработанной SIEM-системы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g3aba427f638_0_105"/>
          <p:cNvSpPr txBox="1"/>
          <p:nvPr/>
        </p:nvSpPr>
        <p:spPr>
          <a:xfrm>
            <a:off x="-1" y="0"/>
            <a:ext cx="67311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ct val="100000"/>
              <a:buFont typeface="Calibri"/>
              <a:buNone/>
            </a:pPr>
            <a:r>
              <a:rPr lang="ru-RU" sz="1600">
                <a:solidFill>
                  <a:srgbClr val="7C7C7C"/>
                </a:solidFill>
                <a:latin typeface="Calibri"/>
                <a:ea typeface="Calibri"/>
                <a:cs typeface="Calibri"/>
                <a:sym typeface="Calibri"/>
              </a:rPr>
              <a:t>Чу В.Д «Разработка системы мониторинга информационной  безопасности SIEM-системы с использованием  платформы Wazuh» </a:t>
            </a:r>
            <a:endParaRPr b="0" i="0" sz="1600">
              <a:solidFill>
                <a:srgbClr val="7C7C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9" name="Google Shape;269;g3aba427f638_0_105"/>
          <p:cNvGraphicFramePr/>
          <p:nvPr/>
        </p:nvGraphicFramePr>
        <p:xfrm>
          <a:off x="432038" y="1353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{E5A34285-B5B1-4E8E-B197-09A4DC6B750C}</a:tableStyleId>
              </a:tblPr>
              <a:tblGrid>
                <a:gridCol w="2283875"/>
                <a:gridCol w="4596775"/>
                <a:gridCol w="1399275"/>
              </a:tblGrid>
              <a:tr h="314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Критерий</a:t>
                      </a:r>
                      <a:endParaRPr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Краткое описание</a:t>
                      </a:r>
                      <a:endParaRPr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Оценка / Результат</a:t>
                      </a:r>
                      <a:endParaRPr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</a:tr>
              <a:tr h="330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Покрытие источников событий</a:t>
                      </a:r>
                      <a:endParaRPr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Сбор логов с Windows, Linux, FIM, CVE, Suricata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Высокое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330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Обнаружение угроз</a:t>
                      </a:r>
                      <a:endParaRPr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Выявление brute-force, port-scan, изменений файлов, уязвимостей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Эффективное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40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Скорость обнаружения (MTTD)</a:t>
                      </a:r>
                      <a:endParaRPr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Задержка между событием и алертом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2–5 секунд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340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Точность правил (False Positive Rate)</a:t>
                      </a:r>
                      <a:endParaRPr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Количество ложных срабатываний после тюнинга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Низкое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40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Корреляция событий</a:t>
                      </a:r>
                      <a:endParaRPr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Связь сетевых и хостовых событий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Корректная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340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Мониторинг целостности (FIM)</a:t>
                      </a:r>
                      <a:endParaRPr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Фиксация create/modify/delete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Работает стабильно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340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Управление уязвимостями (CVE)</a:t>
                      </a:r>
                      <a:endParaRPr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Автоматическое выявление и классификация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Полноценное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340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Интеграция и визуализация</a:t>
                      </a:r>
                      <a:endParaRPr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Дашборды Wazuh/Kibana, наглядность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Удобная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340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Надёжность и стабильность</a:t>
                      </a:r>
                      <a:endParaRPr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Стабильность работы менеджера и агентов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Высокая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</a:tbl>
          </a:graphicData>
        </a:graphic>
      </p:graphicFrame>
      <p:sp>
        <p:nvSpPr>
          <p:cNvPr id="270" name="Google Shape;270;g3aba427f638_0_105"/>
          <p:cNvSpPr txBox="1"/>
          <p:nvPr/>
        </p:nvSpPr>
        <p:spPr>
          <a:xfrm>
            <a:off x="591900" y="1020525"/>
            <a:ext cx="724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latin typeface="Times New Roman"/>
                <a:ea typeface="Times New Roman"/>
                <a:cs typeface="Times New Roman"/>
                <a:sym typeface="Times New Roman"/>
              </a:rPr>
              <a:t>Таблица 1 — Оценка эффективности разработанной SIEM-системы на базе Wazuh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ba427f638_0_150"/>
          <p:cNvSpPr txBox="1"/>
          <p:nvPr>
            <p:ph type="title"/>
          </p:nvPr>
        </p:nvSpPr>
        <p:spPr>
          <a:xfrm>
            <a:off x="314300" y="388050"/>
            <a:ext cx="73737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80"/>
              <a:buFont typeface="Times New Roman"/>
              <a:buNone/>
            </a:pPr>
            <a:r>
              <a:rPr lang="ru-RU" sz="2200">
                <a:latin typeface="Times New Roman"/>
                <a:ea typeface="Times New Roman"/>
                <a:cs typeface="Times New Roman"/>
                <a:sym typeface="Times New Roman"/>
              </a:rPr>
              <a:t>Заключение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g3aba427f638_0_150"/>
          <p:cNvSpPr txBox="1"/>
          <p:nvPr/>
        </p:nvSpPr>
        <p:spPr>
          <a:xfrm>
            <a:off x="-1" y="0"/>
            <a:ext cx="67311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ct val="100000"/>
              <a:buFont typeface="Calibri"/>
              <a:buNone/>
            </a:pPr>
            <a:r>
              <a:rPr lang="ru-RU" sz="1600">
                <a:solidFill>
                  <a:srgbClr val="7C7C7C"/>
                </a:solidFill>
                <a:latin typeface="Calibri"/>
                <a:ea typeface="Calibri"/>
                <a:cs typeface="Calibri"/>
                <a:sym typeface="Calibri"/>
              </a:rPr>
              <a:t>Чу В.Д «Разработка системы мониторинга информационной  безопасности SIEM-системы с использованием  платформы Wazuh» </a:t>
            </a:r>
            <a:endParaRPr b="0" i="0" sz="1600">
              <a:solidFill>
                <a:srgbClr val="7C7C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aba427f638_0_150"/>
          <p:cNvSpPr txBox="1"/>
          <p:nvPr/>
        </p:nvSpPr>
        <p:spPr>
          <a:xfrm>
            <a:off x="646325" y="1122575"/>
            <a:ext cx="7926300" cy="3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ходе исследования: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Проведён анализ современных подходов и решений класса SIEM, а также изучена архитектура, функциональные возможности и компоненты платформы Wazuh.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Исследованы механизмы сбора, нормализации и корреляции событий безопасности, реализованные в Wazuh.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Разработана и внедрена тестовая инфраструктура SIEM на основе Wazuh, включающая установку и настройку Wazuh Server, Wazuh Indexer, Wazuh Dashboard и агентов.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Настроены функциональные модули Wazuh: мониторинг целостности файлов (FIM), обнаружение уязвимостей (CVE), оценка безопасности конфигураций (SCA), обнаружение вредоносной активности и rootkit.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Выполнена интеграция системы с внешними сервисами и инструментами безопасности: Suricata IDS/IPS, VirusTotal, DFIR-IRIS, Telegram, а также изучена их роль в комплексном мониторинге.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Смоделированы и проанализированы различные сценарии кибератак (Brute-Force, SQL-Injection, использование вредоносных бинарных файлов и скрытых процессов), а также оценена способность системы выявлять и реагировать на них.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Разработаны правила корреляции и оповещения, а также механизмы активного реагирования на инциденты.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Оценена эффективность построенной SIEM-системы и определены возможные направления её дальнейшего развития.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"/>
          <p:cNvSpPr txBox="1"/>
          <p:nvPr>
            <p:ph type="title"/>
          </p:nvPr>
        </p:nvSpPr>
        <p:spPr>
          <a:xfrm>
            <a:off x="457200" y="1801813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4400"/>
              <a:t>Спасибо</a:t>
            </a:r>
            <a:br>
              <a:rPr lang="ru-RU" sz="4400"/>
            </a:br>
            <a:r>
              <a:rPr lang="ru-RU" sz="4400"/>
              <a:t>за внимание !</a:t>
            </a:r>
            <a:endParaRPr sz="4400"/>
          </a:p>
        </p:txBody>
      </p:sp>
      <p:sp>
        <p:nvSpPr>
          <p:cNvPr id="283" name="Google Shape;283;p16"/>
          <p:cNvSpPr txBox="1"/>
          <p:nvPr/>
        </p:nvSpPr>
        <p:spPr>
          <a:xfrm>
            <a:off x="6347725" y="3966475"/>
            <a:ext cx="25515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Чу Ван Доан</a:t>
            </a:r>
            <a:endParaRPr sz="16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doanchu2020@gmail.com</a:t>
            </a:r>
            <a:endParaRPr sz="16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+7-(931)-(282)-8535</a:t>
            </a:r>
            <a:endParaRPr sz="16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2014-06-27T12:30:22Z</dcterms:created>
  <dc:creator>Al</dc:creator>
</cp:coreProperties>
</file>