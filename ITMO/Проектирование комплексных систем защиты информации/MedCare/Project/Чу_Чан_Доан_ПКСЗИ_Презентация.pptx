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ms-office.chartcolorstyle+xml" PartName="/ppt/charts/colors1.xml"/>
  <Override ContentType="application/vnd.ms-office.chartcolorstyle+xml" PartName="/ppt/charts/colors2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2.xml"/>
  <Override ContentType="application/vnd.openxmlformats-officedocument.drawingml.chart+xml" PartName="/ppt/charts/chart1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ms-office.chartstyle+xml" PartName="/ppt/charts/style1.xml"/>
  <Override ContentType="application/vnd.ms-office.chartstyle+xml" PartName="/ppt/charts/style2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embeddedFontLst>
    <p:embeddedFont>
      <p:font typeface="Golos Text"/>
      <p:regular r:id="rId25"/>
      <p:bold r:id="rId26"/>
    </p:embeddedFont>
    <p:embeddedFont>
      <p:font typeface="Golos Text SemiBold"/>
      <p:regular r:id="rId27"/>
      <p:bold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11">
          <p15:clr>
            <a:srgbClr val="A4A3A4"/>
          </p15:clr>
        </p15:guide>
        <p15:guide id="2" pos="2874">
          <p15:clr>
            <a:srgbClr val="A4A3A4"/>
          </p15:clr>
        </p15:guide>
      </p15:sldGuideLst>
    </p:ext>
    <p:ext uri="GoogleSlidesCustomDataVersion2">
      <go:slidesCustomData xmlns:go="http://customooxmlschemas.google.com/" r:id="rId29" roundtripDataSignature="AMtx7mivkBQoMV2kGSboPvhHkfYknaAx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9725978-D06D-46C2-8D98-588B315E8485}">
  <a:tblStyle styleId="{B9725978-D06D-46C2-8D98-588B315E8485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2F2F2"/>
          </a:solidFill>
        </a:fill>
      </a:tcStyle>
    </a:wholeTbl>
    <a:band1H>
      <a:tcTxStyle/>
      <a:tcStyle>
        <a:fill>
          <a:solidFill>
            <a:srgbClr val="E4E4E4"/>
          </a:solidFill>
        </a:fill>
      </a:tcStyle>
    </a:band1H>
    <a:band2H>
      <a:tcTxStyle/>
    </a:band2H>
    <a:band1V>
      <a:tcTxStyle/>
      <a:tcStyle>
        <a:fill>
          <a:solidFill>
            <a:srgbClr val="E4E4E4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2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2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2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2"/>
          </a:solidFill>
        </a:fill>
      </a:tcStyle>
    </a:firstRow>
    <a:neCell>
      <a:tcTxStyle/>
    </a:neCell>
    <a:nwCell>
      <a:tcTxStyle/>
    </a:nwCell>
  </a:tblStyle>
  <a:tblStyle styleId="{4DDEDAB3-06AB-47A0-A87F-5D024C44BCA6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BE6E8"/>
          </a:solidFill>
        </a:fill>
      </a:tcStyle>
    </a:wholeTbl>
    <a:band1H>
      <a:tcTxStyle b="off" i="off"/>
      <a:tcStyle>
        <a:fill>
          <a:solidFill>
            <a:srgbClr val="F8CACD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F8CACD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11" orient="horz"/>
        <p:guide pos="287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GolosText-bold.fntdata"/><Relationship Id="rId25" Type="http://schemas.openxmlformats.org/officeDocument/2006/relationships/font" Target="fonts/GolosText-regular.fntdata"/><Relationship Id="rId28" Type="http://schemas.openxmlformats.org/officeDocument/2006/relationships/font" Target="fonts/GolosTextSemiBold-bold.fntdata"/><Relationship Id="rId27" Type="http://schemas.openxmlformats.org/officeDocument/2006/relationships/font" Target="fonts/GolosTextSemiBold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customschemas.google.com/relationships/presentationmetadata" Target="meta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charts/_rels/chart1.xml.rels><?xml version="1.0" encoding="UTF-8" standalone="yes"?>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oleObject" Target="file:///C:\Users\Trung%20binz\Downloads\&#1055;&#1050;&#1057;&#1047;&#1048;\tinh%20ubi.xlsx" TargetMode="External"/></Relationships>
</file>

<file path=ppt/charts/_rels/chart2.xml.rels><?xml version="1.0" encoding="UTF-8" standalone="yes"?>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oleObject" Target="file:///C:\Users\Trung%20binz\Downloads\&#1055;&#1050;&#1057;&#1047;&#1048;\tinh%20ubi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ВЕРОЯТНОСТЬ</a:t>
            </a:r>
            <a:r>
              <a:rPr lang="ru-RU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 РЕАЛИЗАЦИИ УБИ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Lương!$C$12:$C$27</c:f>
              <c:strCache>
                <c:ptCount val="16"/>
                <c:pt idx="0">
                  <c:v>УБИ.003</c:v>
                </c:pt>
                <c:pt idx="1">
                  <c:v>УБИ.014</c:v>
                </c:pt>
                <c:pt idx="2">
                  <c:v>УБИ.019</c:v>
                </c:pt>
                <c:pt idx="3">
                  <c:v>УБИ.027</c:v>
                </c:pt>
                <c:pt idx="4">
                  <c:v>УБИ.031</c:v>
                </c:pt>
                <c:pt idx="5">
                  <c:v>УБИ.033</c:v>
                </c:pt>
                <c:pt idx="6">
                  <c:v>УБИ.067</c:v>
                </c:pt>
                <c:pt idx="7">
                  <c:v>УБИ.069</c:v>
                </c:pt>
                <c:pt idx="8">
                  <c:v>УБИ.073</c:v>
                </c:pt>
                <c:pt idx="9">
                  <c:v>УБИ.104</c:v>
                </c:pt>
                <c:pt idx="10">
                  <c:v>УБИ.156</c:v>
                </c:pt>
                <c:pt idx="11">
                  <c:v>УБИ.006</c:v>
                </c:pt>
                <c:pt idx="12">
                  <c:v>УБИ.083</c:v>
                </c:pt>
                <c:pt idx="13">
                  <c:v>УБИ.139</c:v>
                </c:pt>
                <c:pt idx="14">
                  <c:v>УБИ.175</c:v>
                </c:pt>
                <c:pt idx="15">
                  <c:v>УБИ.189</c:v>
                </c:pt>
              </c:strCache>
            </c:strRef>
          </c:cat>
          <c:val>
            <c:numRef>
              <c:f>Lương!$E$12:$E$27</c:f>
              <c:numCache>
                <c:formatCode>General</c:formatCode>
                <c:ptCount val="16"/>
                <c:pt idx="0">
                  <c:v>10.8</c:v>
                </c:pt>
                <c:pt idx="1">
                  <c:v>11.4</c:v>
                </c:pt>
                <c:pt idx="2">
                  <c:v>13.2</c:v>
                </c:pt>
                <c:pt idx="3">
                  <c:v>15.6</c:v>
                </c:pt>
                <c:pt idx="4">
                  <c:v>9.4</c:v>
                </c:pt>
                <c:pt idx="5">
                  <c:v>20</c:v>
                </c:pt>
                <c:pt idx="6">
                  <c:v>16.399999999999999</c:v>
                </c:pt>
                <c:pt idx="7">
                  <c:v>20</c:v>
                </c:pt>
                <c:pt idx="8">
                  <c:v>17.600000000000001</c:v>
                </c:pt>
                <c:pt idx="9">
                  <c:v>17</c:v>
                </c:pt>
                <c:pt idx="10">
                  <c:v>14</c:v>
                </c:pt>
                <c:pt idx="11">
                  <c:v>19.8</c:v>
                </c:pt>
                <c:pt idx="12">
                  <c:v>29.8</c:v>
                </c:pt>
                <c:pt idx="13">
                  <c:v>22.8</c:v>
                </c:pt>
                <c:pt idx="14">
                  <c:v>22.6</c:v>
                </c:pt>
                <c:pt idx="15">
                  <c:v>31.2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6A4-44EE-9C8B-7414D87095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69429199"/>
        <c:axId val="1096224623"/>
      </c:barChart>
      <c:catAx>
        <c:axId val="116942919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b="0" i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Угроз безопасности информации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96224623"/>
        <c:crosses val="autoZero"/>
        <c:auto val="1"/>
        <c:lblAlgn val="ctr"/>
        <c:lblOffset val="100"/>
        <c:noMultiLvlLbl val="0"/>
      </c:catAx>
      <c:valAx>
        <c:axId val="10962246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Вероятность</a:t>
                </a:r>
                <a:r>
                  <a:rPr lang="ru-RU" baseline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(%)</a:t>
                </a:r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94291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Итоговая оценка рисков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Вероятность УБИ до применения КСЗИ (%)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Lương!$W$1:$W$16</c:f>
              <c:strCache>
                <c:ptCount val="16"/>
                <c:pt idx="0">
                  <c:v>УБИ.003</c:v>
                </c:pt>
                <c:pt idx="1">
                  <c:v>УБИ.014</c:v>
                </c:pt>
                <c:pt idx="2">
                  <c:v>УБИ.019</c:v>
                </c:pt>
                <c:pt idx="3">
                  <c:v>УБИ.027</c:v>
                </c:pt>
                <c:pt idx="4">
                  <c:v>УБИ.031</c:v>
                </c:pt>
                <c:pt idx="5">
                  <c:v>УБИ.033</c:v>
                </c:pt>
                <c:pt idx="6">
                  <c:v>УБИ.067</c:v>
                </c:pt>
                <c:pt idx="7">
                  <c:v>УБИ.069</c:v>
                </c:pt>
                <c:pt idx="8">
                  <c:v>УБИ.073</c:v>
                </c:pt>
                <c:pt idx="9">
                  <c:v>УБИ.104</c:v>
                </c:pt>
                <c:pt idx="10">
                  <c:v>УБИ.156</c:v>
                </c:pt>
                <c:pt idx="11">
                  <c:v>УБИ.006</c:v>
                </c:pt>
                <c:pt idx="12">
                  <c:v>УБИ.083</c:v>
                </c:pt>
                <c:pt idx="13">
                  <c:v>УБИ.139</c:v>
                </c:pt>
                <c:pt idx="14">
                  <c:v>УБИ.175</c:v>
                </c:pt>
                <c:pt idx="15">
                  <c:v>УБИ.189</c:v>
                </c:pt>
              </c:strCache>
            </c:strRef>
          </c:cat>
          <c:val>
            <c:numRef>
              <c:f>Lương!$X$1:$X$16</c:f>
              <c:numCache>
                <c:formatCode>General</c:formatCode>
                <c:ptCount val="16"/>
                <c:pt idx="0">
                  <c:v>10.8</c:v>
                </c:pt>
                <c:pt idx="1">
                  <c:v>11.4</c:v>
                </c:pt>
                <c:pt idx="2">
                  <c:v>13.2</c:v>
                </c:pt>
                <c:pt idx="3">
                  <c:v>15.6</c:v>
                </c:pt>
                <c:pt idx="4">
                  <c:v>9.4</c:v>
                </c:pt>
                <c:pt idx="5">
                  <c:v>20</c:v>
                </c:pt>
                <c:pt idx="6">
                  <c:v>16.399999999999999</c:v>
                </c:pt>
                <c:pt idx="7">
                  <c:v>20</c:v>
                </c:pt>
                <c:pt idx="8">
                  <c:v>17.600000000000001</c:v>
                </c:pt>
                <c:pt idx="9">
                  <c:v>17</c:v>
                </c:pt>
                <c:pt idx="10">
                  <c:v>14</c:v>
                </c:pt>
                <c:pt idx="11">
                  <c:v>19.8</c:v>
                </c:pt>
                <c:pt idx="12">
                  <c:v>29.8</c:v>
                </c:pt>
                <c:pt idx="13">
                  <c:v>22.8</c:v>
                </c:pt>
                <c:pt idx="14">
                  <c:v>22.6</c:v>
                </c:pt>
                <c:pt idx="15">
                  <c:v>31.2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01E-42EE-B946-38E4735F1DC7}"/>
            </c:ext>
          </c:extLst>
        </c:ser>
        <c:ser>
          <c:idx val="1"/>
          <c:order val="1"/>
          <c:tx>
            <c:v>Вероятность УБИ после применения КСЗИ (%)</c:v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Lương!$W$1:$W$16</c:f>
              <c:strCache>
                <c:ptCount val="16"/>
                <c:pt idx="0">
                  <c:v>УБИ.003</c:v>
                </c:pt>
                <c:pt idx="1">
                  <c:v>УБИ.014</c:v>
                </c:pt>
                <c:pt idx="2">
                  <c:v>УБИ.019</c:v>
                </c:pt>
                <c:pt idx="3">
                  <c:v>УБИ.027</c:v>
                </c:pt>
                <c:pt idx="4">
                  <c:v>УБИ.031</c:v>
                </c:pt>
                <c:pt idx="5">
                  <c:v>УБИ.033</c:v>
                </c:pt>
                <c:pt idx="6">
                  <c:v>УБИ.067</c:v>
                </c:pt>
                <c:pt idx="7">
                  <c:v>УБИ.069</c:v>
                </c:pt>
                <c:pt idx="8">
                  <c:v>УБИ.073</c:v>
                </c:pt>
                <c:pt idx="9">
                  <c:v>УБИ.104</c:v>
                </c:pt>
                <c:pt idx="10">
                  <c:v>УБИ.156</c:v>
                </c:pt>
                <c:pt idx="11">
                  <c:v>УБИ.006</c:v>
                </c:pt>
                <c:pt idx="12">
                  <c:v>УБИ.083</c:v>
                </c:pt>
                <c:pt idx="13">
                  <c:v>УБИ.139</c:v>
                </c:pt>
                <c:pt idx="14">
                  <c:v>УБИ.175</c:v>
                </c:pt>
                <c:pt idx="15">
                  <c:v>УБИ.189</c:v>
                </c:pt>
              </c:strCache>
            </c:strRef>
          </c:cat>
          <c:val>
            <c:numRef>
              <c:f>Lương!$Y$1:$Y$16</c:f>
              <c:numCache>
                <c:formatCode>General</c:formatCode>
                <c:ptCount val="16"/>
                <c:pt idx="0">
                  <c:v>3</c:v>
                </c:pt>
                <c:pt idx="1">
                  <c:v>5</c:v>
                </c:pt>
                <c:pt idx="2">
                  <c:v>10</c:v>
                </c:pt>
                <c:pt idx="3">
                  <c:v>11</c:v>
                </c:pt>
                <c:pt idx="4">
                  <c:v>7</c:v>
                </c:pt>
                <c:pt idx="5">
                  <c:v>14</c:v>
                </c:pt>
                <c:pt idx="6">
                  <c:v>13</c:v>
                </c:pt>
                <c:pt idx="7">
                  <c:v>8</c:v>
                </c:pt>
                <c:pt idx="8">
                  <c:v>13</c:v>
                </c:pt>
                <c:pt idx="9">
                  <c:v>10</c:v>
                </c:pt>
                <c:pt idx="10">
                  <c:v>10</c:v>
                </c:pt>
                <c:pt idx="11">
                  <c:v>17</c:v>
                </c:pt>
                <c:pt idx="12">
                  <c:v>19</c:v>
                </c:pt>
                <c:pt idx="13">
                  <c:v>17</c:v>
                </c:pt>
                <c:pt idx="14">
                  <c:v>15</c:v>
                </c:pt>
                <c:pt idx="15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01E-42EE-B946-38E4735F1D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80047216"/>
        <c:axId val="1448764288"/>
      </c:barChart>
      <c:catAx>
        <c:axId val="158004721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0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Угроз безопасности информации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48764288"/>
        <c:crosses val="autoZero"/>
        <c:auto val="1"/>
        <c:lblAlgn val="ctr"/>
        <c:lblOffset val="100"/>
        <c:noMultiLvlLbl val="0"/>
      </c:catAx>
      <c:valAx>
        <c:axId val="14487642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Вероятность (%)</a:t>
                </a:r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800472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4" name="Google Shape;144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4" name="Google Shape;154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" name="Google Shape;162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0" name="Google Shape;170;p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Поставленные задачи определили структуру работы. Так, в первой главе  были рассмотрены </a:t>
            </a:r>
            <a:r>
              <a:rPr lang="en-US" sz="1800">
                <a:solidFill>
                  <a:srgbClr val="E9713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теоретические основы техники “anti-windup” и подготовка программного обеспечения для моделирования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8" name="Google Shape;178;p4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Актуальность выбранной темы </a:t>
            </a:r>
            <a:r>
              <a:rPr lang="en-US" sz="2400">
                <a:solidFill>
                  <a:srgbClr val="E9713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обусловлена необходимостью повышения устойчивости и надёжности систем управления, работающих в реальных условиях. 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Для решения этой задачи применяются различные методы, в том числе техники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“</a:t>
            </a:r>
            <a:r>
              <a:rPr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anti-windup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”, включающие в себя следующие эффекты 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" name="Google Shape;189;p4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8" name="Google Shape;198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6" name="Google Shape;206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4" name="Google Shape;214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3" name="Google Shape;223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3" name="Google Shape;233;p1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6" name="Google Shape;246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5" name="Google Shape;255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4" name="Google Shape;264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3" name="Google Shape;273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2" name="Google Shape;282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1" name="Google Shape;291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9" name="Google Shape;299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0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20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20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20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20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0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kfql">
  <p:cSld name="Ckfql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1"/>
          <p:cNvSpPr txBox="1"/>
          <p:nvPr>
            <p:ph idx="1" type="body"/>
          </p:nvPr>
        </p:nvSpPr>
        <p:spPr>
          <a:xfrm>
            <a:off x="457200" y="1211943"/>
            <a:ext cx="7467600" cy="34471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1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31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ustom Layout">
  <p:cSld name="2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5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  <p:sp>
        <p:nvSpPr>
          <p:cNvPr id="29" name="Google Shape;29;p45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2pPr>
            <a:lvl3pPr indent="-3302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  <p:sp>
        <p:nvSpPr>
          <p:cNvPr id="30" name="Google Shape;30;p45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5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  <p:sp>
        <p:nvSpPr>
          <p:cNvPr id="32" name="Google Shape;32;p45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2pPr>
            <a:lvl3pPr indent="-3302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Пользовательский макет">
  <p:cSld name="10_Пользовательский макет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6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7617" name="adj"/>
            </a:avLst>
          </a:prstGeom>
          <a:noFill/>
          <a:ln>
            <a:noFill/>
          </a:ln>
        </p:spPr>
      </p:sp>
      <p:sp>
        <p:nvSpPr>
          <p:cNvPr id="35" name="Google Shape;35;p46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6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sz="14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Пользовательский макет">
  <p:cSld name="1_Пользовательский макет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2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22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2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22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Custom Layout">
  <p:cSld name="9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7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27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">
  <p:cSld name="Финал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3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23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ользовательский макет">
  <p:cSld name="Пользовательский макет">
    <p:bg>
      <p:bgPr>
        <a:solidFill>
          <a:srgbClr val="FFFFFF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4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24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Custom Layout">
  <p:cSld name="5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5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7784" name="adj"/>
            </a:avLst>
          </a:prstGeom>
          <a:noFill/>
          <a:ln>
            <a:noFill/>
          </a:ln>
        </p:spPr>
      </p:sp>
      <p:sp>
        <p:nvSpPr>
          <p:cNvPr id="57" name="Google Shape;57;p25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5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Пользовательский макет">
  <p:cSld name="6_Пользовательский макет">
    <p:bg>
      <p:bgPr>
        <a:solidFill>
          <a:srgbClr val="FFFFFF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6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6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8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28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28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8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28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Пользовательский макет">
  <p:cSld name="3_Пользовательский макет">
    <p:bg>
      <p:bgPr>
        <a:solidFill>
          <a:srgbClr val="FFFFFF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9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9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7952" name="adj"/>
            </a:avLst>
          </a:prstGeom>
          <a:noFill/>
          <a:ln>
            <a:noFill/>
          </a:ln>
        </p:spPr>
      </p:sp>
      <p:sp>
        <p:nvSpPr>
          <p:cNvPr id="71" name="Google Shape;71;p29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Пользовательский макет">
  <p:cSld name="7_Пользовательский макет">
    <p:bg>
      <p:bgPr>
        <a:solidFill>
          <a:srgbClr val="FFFFFF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0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0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Пользовательский макет">
  <p:cSld name="4_Пользовательский макет">
    <p:bg>
      <p:bgPr>
        <a:solidFill>
          <a:srgbClr val="FFFFFF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2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2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8957" name="adj"/>
            </a:avLst>
          </a:prstGeom>
          <a:noFill/>
          <a:ln>
            <a:noFill/>
          </a:ln>
        </p:spPr>
      </p:sp>
      <p:sp>
        <p:nvSpPr>
          <p:cNvPr id="78" name="Google Shape;78;p32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Пользовательский макет">
  <p:cSld name="8_Пользовательский макет">
    <p:bg>
      <p:bgPr>
        <a:solidFill>
          <a:srgbClr val="FFFFFF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3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3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Пользовательский макет">
  <p:cSld name="2_Пользовательский макет">
    <p:bg>
      <p:bgPr>
        <a:solidFill>
          <a:srgbClr val="FFFFFF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4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4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34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34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34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Пользовательский макет">
  <p:cSld name="5_Пользовательский макет">
    <p:bg>
      <p:bgPr>
        <a:solidFill>
          <a:srgbClr val="FFFFFF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5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7617" name="adj"/>
            </a:avLst>
          </a:prstGeom>
          <a:noFill/>
          <a:ln>
            <a:noFill/>
          </a:ln>
        </p:spPr>
      </p:sp>
      <p:sp>
        <p:nvSpPr>
          <p:cNvPr id="90" name="Google Shape;90;p35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35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ustom Layout">
  <p:cSld name="6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6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36"/>
          <p:cNvSpPr txBox="1"/>
          <p:nvPr>
            <p:ph idx="1" type="body"/>
          </p:nvPr>
        </p:nvSpPr>
        <p:spPr>
          <a:xfrm>
            <a:off x="3102428" y="943208"/>
            <a:ext cx="5526315" cy="3875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36"/>
          <p:cNvSpPr/>
          <p:nvPr>
            <p:ph idx="2" type="pic"/>
          </p:nvPr>
        </p:nvSpPr>
        <p:spPr>
          <a:xfrm>
            <a:off x="457200" y="943208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96" name="Google Shape;96;p36"/>
          <p:cNvSpPr/>
          <p:nvPr>
            <p:ph idx="3" type="pic"/>
          </p:nvPr>
        </p:nvSpPr>
        <p:spPr>
          <a:xfrm>
            <a:off x="457200" y="2935720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Пользовательский макет">
  <p:cSld name="9_Пользовательский макет"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7"/>
          <p:cNvSpPr txBox="1"/>
          <p:nvPr>
            <p:ph idx="1" type="body"/>
          </p:nvPr>
        </p:nvSpPr>
        <p:spPr>
          <a:xfrm>
            <a:off x="457201" y="1059322"/>
            <a:ext cx="3897086" cy="17346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37"/>
          <p:cNvSpPr txBox="1"/>
          <p:nvPr>
            <p:ph idx="2" type="body"/>
          </p:nvPr>
        </p:nvSpPr>
        <p:spPr>
          <a:xfrm>
            <a:off x="457202" y="3105836"/>
            <a:ext cx="3897084" cy="16403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37"/>
          <p:cNvSpPr txBox="1"/>
          <p:nvPr>
            <p:ph idx="3" type="body"/>
          </p:nvPr>
        </p:nvSpPr>
        <p:spPr>
          <a:xfrm>
            <a:off x="4789714" y="1059322"/>
            <a:ext cx="3632201" cy="3686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37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">
  <p:cSld name="4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8"/>
          <p:cNvSpPr txBox="1"/>
          <p:nvPr>
            <p:ph idx="1" type="body"/>
          </p:nvPr>
        </p:nvSpPr>
        <p:spPr>
          <a:xfrm>
            <a:off x="457201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p38"/>
          <p:cNvSpPr txBox="1"/>
          <p:nvPr>
            <p:ph idx="2" type="body"/>
          </p:nvPr>
        </p:nvSpPr>
        <p:spPr>
          <a:xfrm>
            <a:off x="3209454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38"/>
          <p:cNvSpPr txBox="1"/>
          <p:nvPr>
            <p:ph idx="3" type="body"/>
          </p:nvPr>
        </p:nvSpPr>
        <p:spPr>
          <a:xfrm>
            <a:off x="5969804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6" name="Google Shape;106;p38"/>
          <p:cNvSpPr txBox="1"/>
          <p:nvPr>
            <p:ph idx="4" type="body"/>
          </p:nvPr>
        </p:nvSpPr>
        <p:spPr>
          <a:xfrm>
            <a:off x="457200" y="3287828"/>
            <a:ext cx="2588883" cy="139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302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indent="-3302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07" name="Google Shape;107;p38"/>
          <p:cNvSpPr txBox="1"/>
          <p:nvPr>
            <p:ph idx="5" type="body"/>
          </p:nvPr>
        </p:nvSpPr>
        <p:spPr>
          <a:xfrm>
            <a:off x="3207251" y="3299578"/>
            <a:ext cx="2591416" cy="139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228600" lvl="4" marL="22860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08" name="Google Shape;108;p38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38"/>
          <p:cNvSpPr txBox="1"/>
          <p:nvPr>
            <p:ph idx="6" type="body"/>
          </p:nvPr>
        </p:nvSpPr>
        <p:spPr>
          <a:xfrm>
            <a:off x="5967600" y="3299578"/>
            <a:ext cx="2591416" cy="139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228600" lvl="4" marL="22860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0" name="Google Shape;110;p38"/>
          <p:cNvSpPr/>
          <p:nvPr>
            <p:ph idx="7" type="pic"/>
          </p:nvPr>
        </p:nvSpPr>
        <p:spPr>
          <a:xfrm>
            <a:off x="469081" y="944463"/>
            <a:ext cx="2577001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11" name="Google Shape;111;p38"/>
          <p:cNvSpPr/>
          <p:nvPr>
            <p:ph idx="8" type="pic"/>
          </p:nvPr>
        </p:nvSpPr>
        <p:spPr>
          <a:xfrm>
            <a:off x="3221666" y="944462"/>
            <a:ext cx="2577001" cy="1883023"/>
          </a:xfrm>
          <a:prstGeom prst="roundRect">
            <a:avLst>
              <a:gd fmla="val 12905" name="adj"/>
            </a:avLst>
          </a:prstGeom>
          <a:noFill/>
          <a:ln>
            <a:noFill/>
          </a:ln>
        </p:spPr>
      </p:sp>
      <p:sp>
        <p:nvSpPr>
          <p:cNvPr id="112" name="Google Shape;112;p38"/>
          <p:cNvSpPr/>
          <p:nvPr>
            <p:ph idx="9" type="pic"/>
          </p:nvPr>
        </p:nvSpPr>
        <p:spPr>
          <a:xfrm>
            <a:off x="5980690" y="944463"/>
            <a:ext cx="2577001" cy="1883023"/>
          </a:xfrm>
          <a:prstGeom prst="roundRect">
            <a:avLst>
              <a:gd fmla="val 10512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Custom Layout">
  <p:cSld name="7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9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39"/>
          <p:cNvSpPr txBox="1"/>
          <p:nvPr>
            <p:ph idx="1" type="body"/>
          </p:nvPr>
        </p:nvSpPr>
        <p:spPr>
          <a:xfrm>
            <a:off x="5733143" y="949330"/>
            <a:ext cx="2895600" cy="3895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39"/>
          <p:cNvSpPr/>
          <p:nvPr>
            <p:ph idx="2" type="pic"/>
          </p:nvPr>
        </p:nvSpPr>
        <p:spPr>
          <a:xfrm>
            <a:off x="457200" y="949329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17" name="Google Shape;117;p39"/>
          <p:cNvSpPr/>
          <p:nvPr>
            <p:ph idx="3" type="pic"/>
          </p:nvPr>
        </p:nvSpPr>
        <p:spPr>
          <a:xfrm>
            <a:off x="3095171" y="949328"/>
            <a:ext cx="2532744" cy="1883023"/>
          </a:xfrm>
          <a:prstGeom prst="roundRect">
            <a:avLst>
              <a:gd fmla="val 11879" name="adj"/>
            </a:avLst>
          </a:prstGeom>
          <a:noFill/>
          <a:ln>
            <a:noFill/>
          </a:ln>
        </p:spPr>
      </p:sp>
      <p:sp>
        <p:nvSpPr>
          <p:cNvPr id="118" name="Google Shape;118;p39"/>
          <p:cNvSpPr/>
          <p:nvPr>
            <p:ph idx="4" type="pic"/>
          </p:nvPr>
        </p:nvSpPr>
        <p:spPr>
          <a:xfrm>
            <a:off x="3095171" y="2962031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19" name="Google Shape;119;p39"/>
          <p:cNvSpPr/>
          <p:nvPr>
            <p:ph idx="5" type="pic"/>
          </p:nvPr>
        </p:nvSpPr>
        <p:spPr>
          <a:xfrm>
            <a:off x="457199" y="2962031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Custom Layout">
  <p:cSld name="8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0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40"/>
          <p:cNvSpPr txBox="1"/>
          <p:nvPr>
            <p:ph idx="1" type="body"/>
          </p:nvPr>
        </p:nvSpPr>
        <p:spPr>
          <a:xfrm>
            <a:off x="457201" y="963397"/>
            <a:ext cx="2532744" cy="18830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40"/>
          <p:cNvSpPr/>
          <p:nvPr>
            <p:ph idx="2" type="pic"/>
          </p:nvPr>
        </p:nvSpPr>
        <p:spPr>
          <a:xfrm>
            <a:off x="3095171" y="963397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24" name="Google Shape;124;p40"/>
          <p:cNvSpPr/>
          <p:nvPr>
            <p:ph idx="3" type="pic"/>
          </p:nvPr>
        </p:nvSpPr>
        <p:spPr>
          <a:xfrm>
            <a:off x="5733141" y="966928"/>
            <a:ext cx="2532744" cy="1883023"/>
          </a:xfrm>
          <a:prstGeom prst="roundRect">
            <a:avLst>
              <a:gd fmla="val 11196" name="adj"/>
            </a:avLst>
          </a:prstGeom>
          <a:noFill/>
          <a:ln>
            <a:noFill/>
          </a:ln>
        </p:spPr>
      </p:sp>
      <p:sp>
        <p:nvSpPr>
          <p:cNvPr id="125" name="Google Shape;125;p40"/>
          <p:cNvSpPr/>
          <p:nvPr>
            <p:ph idx="4" type="pic"/>
          </p:nvPr>
        </p:nvSpPr>
        <p:spPr>
          <a:xfrm>
            <a:off x="5733141" y="2954042"/>
            <a:ext cx="2532744" cy="1883023"/>
          </a:xfrm>
          <a:prstGeom prst="roundRect">
            <a:avLst>
              <a:gd fmla="val 8802" name="adj"/>
            </a:avLst>
          </a:prstGeom>
          <a:noFill/>
          <a:ln>
            <a:noFill/>
          </a:ln>
        </p:spPr>
      </p:sp>
      <p:sp>
        <p:nvSpPr>
          <p:cNvPr id="126" name="Google Shape;126;p40"/>
          <p:cNvSpPr/>
          <p:nvPr>
            <p:ph idx="5" type="pic"/>
          </p:nvPr>
        </p:nvSpPr>
        <p:spPr>
          <a:xfrm>
            <a:off x="3095171" y="2960314"/>
            <a:ext cx="2532744" cy="1883023"/>
          </a:xfrm>
          <a:prstGeom prst="roundRect">
            <a:avLst>
              <a:gd fmla="val 8459" name="adj"/>
            </a:avLst>
          </a:prstGeom>
          <a:noFill/>
          <a:ln>
            <a:noFill/>
          </a:ln>
        </p:spPr>
      </p:sp>
      <p:sp>
        <p:nvSpPr>
          <p:cNvPr id="127" name="Google Shape;127;p40"/>
          <p:cNvSpPr/>
          <p:nvPr>
            <p:ph idx="6" type="pic"/>
          </p:nvPr>
        </p:nvSpPr>
        <p:spPr>
          <a:xfrm>
            <a:off x="457200" y="2960314"/>
            <a:ext cx="2532744" cy="1883023"/>
          </a:xfrm>
          <a:prstGeom prst="roundRect">
            <a:avLst>
              <a:gd fmla="val 10169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Custom Layout">
  <p:cSld name="10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1"/>
          <p:cNvSpPr txBox="1"/>
          <p:nvPr>
            <p:ph idx="1" type="body"/>
          </p:nvPr>
        </p:nvSpPr>
        <p:spPr>
          <a:xfrm>
            <a:off x="457201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41"/>
          <p:cNvSpPr txBox="1"/>
          <p:nvPr>
            <p:ph idx="2" type="body"/>
          </p:nvPr>
        </p:nvSpPr>
        <p:spPr>
          <a:xfrm>
            <a:off x="3275819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1" name="Google Shape;131;p41"/>
          <p:cNvSpPr txBox="1"/>
          <p:nvPr>
            <p:ph idx="3" type="body"/>
          </p:nvPr>
        </p:nvSpPr>
        <p:spPr>
          <a:xfrm>
            <a:off x="6085706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2" name="Google Shape;132;p41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41"/>
          <p:cNvSpPr/>
          <p:nvPr>
            <p:ph idx="4" type="pic"/>
          </p:nvPr>
        </p:nvSpPr>
        <p:spPr>
          <a:xfrm>
            <a:off x="454050" y="952607"/>
            <a:ext cx="2589213" cy="1304294"/>
          </a:xfrm>
          <a:prstGeom prst="roundRect">
            <a:avLst>
              <a:gd fmla="val 9261" name="adj"/>
            </a:avLst>
          </a:prstGeom>
          <a:noFill/>
          <a:ln>
            <a:noFill/>
          </a:ln>
        </p:spPr>
      </p:sp>
      <p:sp>
        <p:nvSpPr>
          <p:cNvPr id="134" name="Google Shape;134;p41"/>
          <p:cNvSpPr/>
          <p:nvPr>
            <p:ph idx="5" type="pic"/>
          </p:nvPr>
        </p:nvSpPr>
        <p:spPr>
          <a:xfrm>
            <a:off x="3275818" y="952607"/>
            <a:ext cx="2589213" cy="1304294"/>
          </a:xfrm>
          <a:prstGeom prst="roundRect">
            <a:avLst>
              <a:gd fmla="val 11730" name="adj"/>
            </a:avLst>
          </a:prstGeom>
          <a:noFill/>
          <a:ln>
            <a:noFill/>
          </a:ln>
        </p:spPr>
      </p:sp>
      <p:sp>
        <p:nvSpPr>
          <p:cNvPr id="135" name="Google Shape;135;p41"/>
          <p:cNvSpPr/>
          <p:nvPr>
            <p:ph idx="6" type="pic"/>
          </p:nvPr>
        </p:nvSpPr>
        <p:spPr>
          <a:xfrm>
            <a:off x="6089789" y="952607"/>
            <a:ext cx="2589213" cy="1304294"/>
          </a:xfrm>
          <a:prstGeom prst="roundRect">
            <a:avLst>
              <a:gd fmla="val 10249" name="adj"/>
            </a:avLst>
          </a:prstGeom>
          <a:noFill/>
          <a:ln>
            <a:noFill/>
          </a:ln>
        </p:spPr>
      </p:sp>
      <p:sp>
        <p:nvSpPr>
          <p:cNvPr id="136" name="Google Shape;136;p41"/>
          <p:cNvSpPr txBox="1"/>
          <p:nvPr>
            <p:ph idx="7" type="body"/>
          </p:nvPr>
        </p:nvSpPr>
        <p:spPr>
          <a:xfrm>
            <a:off x="460352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7" name="Google Shape;137;p41"/>
          <p:cNvSpPr txBox="1"/>
          <p:nvPr>
            <p:ph idx="8" type="body"/>
          </p:nvPr>
        </p:nvSpPr>
        <p:spPr>
          <a:xfrm>
            <a:off x="3278970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8" name="Google Shape;138;p41"/>
          <p:cNvSpPr txBox="1"/>
          <p:nvPr>
            <p:ph idx="9" type="body"/>
          </p:nvPr>
        </p:nvSpPr>
        <p:spPr>
          <a:xfrm>
            <a:off x="6088857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9" name="Google Shape;139;p41"/>
          <p:cNvSpPr/>
          <p:nvPr>
            <p:ph idx="13" type="pic"/>
          </p:nvPr>
        </p:nvSpPr>
        <p:spPr>
          <a:xfrm>
            <a:off x="457201" y="2866358"/>
            <a:ext cx="2589213" cy="1304294"/>
          </a:xfrm>
          <a:prstGeom prst="roundRect">
            <a:avLst>
              <a:gd fmla="val 12224" name="adj"/>
            </a:avLst>
          </a:prstGeom>
          <a:noFill/>
          <a:ln>
            <a:noFill/>
          </a:ln>
        </p:spPr>
      </p:sp>
      <p:sp>
        <p:nvSpPr>
          <p:cNvPr id="140" name="Google Shape;140;p41"/>
          <p:cNvSpPr/>
          <p:nvPr>
            <p:ph idx="14" type="pic"/>
          </p:nvPr>
        </p:nvSpPr>
        <p:spPr>
          <a:xfrm>
            <a:off x="3278969" y="2866358"/>
            <a:ext cx="2589213" cy="1304294"/>
          </a:xfrm>
          <a:prstGeom prst="roundRect">
            <a:avLst>
              <a:gd fmla="val 11236" name="adj"/>
            </a:avLst>
          </a:prstGeom>
          <a:noFill/>
          <a:ln>
            <a:noFill/>
          </a:ln>
        </p:spPr>
      </p:sp>
      <p:sp>
        <p:nvSpPr>
          <p:cNvPr id="141" name="Google Shape;141;p41"/>
          <p:cNvSpPr/>
          <p:nvPr>
            <p:ph idx="15" type="pic"/>
          </p:nvPr>
        </p:nvSpPr>
        <p:spPr>
          <a:xfrm>
            <a:off x="6092940" y="2866358"/>
            <a:ext cx="2589213" cy="1304294"/>
          </a:xfrm>
          <a:prstGeom prst="roundRect">
            <a:avLst>
              <a:gd fmla="val 9755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5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/>
          <p:nvPr>
            <p:ph type="title"/>
          </p:nvPr>
        </p:nvSpPr>
        <p:spPr>
          <a:xfrm>
            <a:off x="457200" y="306434"/>
            <a:ext cx="8229600" cy="620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9"/>
          <p:cNvSpPr txBox="1"/>
          <p:nvPr>
            <p:ph idx="1" type="body"/>
          </p:nvPr>
        </p:nvSpPr>
        <p:spPr>
          <a:xfrm>
            <a:off x="457200" y="1121912"/>
            <a:ext cx="8229600" cy="2899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9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9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4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1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chart" Target="../charts/chart2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"/>
          <p:cNvSpPr txBox="1"/>
          <p:nvPr/>
        </p:nvSpPr>
        <p:spPr>
          <a:xfrm>
            <a:off x="382137" y="238836"/>
            <a:ext cx="8700448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Министерство науки и высшего образования Российской Федерации</a:t>
            </a:r>
            <a:endParaRPr b="0" i="0" sz="1400" u="none" cap="none" strike="noStrike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ФЕДЕРАЛЬНОЕ ГОСУДАРСТВЕННОЕ АВТОНОМНОЕ ОБРАЗОВАТЕЛЬНОЕ УЧРЕЖДЕНИЕ ВЫСШЕГО ОБРАЗОВАНИЯ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«Национальный исследовательский университет ИТМО»</a:t>
            </a:r>
            <a:endParaRPr b="0" i="0" sz="1200" u="none" cap="none" strike="noStrike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7" name="Google Shape;147;p1"/>
          <p:cNvSpPr txBox="1"/>
          <p:nvPr/>
        </p:nvSpPr>
        <p:spPr>
          <a:xfrm>
            <a:off x="1153236" y="976079"/>
            <a:ext cx="682388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Факультет: Безопасности информационных технологий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"/>
          <p:cNvSpPr txBox="1"/>
          <p:nvPr/>
        </p:nvSpPr>
        <p:spPr>
          <a:xfrm>
            <a:off x="1153236" y="1815795"/>
            <a:ext cx="6619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По дисциплина: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«</a:t>
            </a:r>
            <a:r>
              <a:rPr lang="en-US" sz="1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Проектирование</a:t>
            </a:r>
            <a:r>
              <a:rPr b="0" i="0" lang="en-US" sz="1200" u="none" cap="none" strike="noStrike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 комплексных систем защиты информации» </a:t>
            </a:r>
            <a:endParaRPr b="0" i="0" sz="1200" u="none" cap="none" strike="noStrike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9" name="Google Shape;149;p1"/>
          <p:cNvSpPr txBox="1"/>
          <p:nvPr/>
        </p:nvSpPr>
        <p:spPr>
          <a:xfrm>
            <a:off x="1607024" y="2462126"/>
            <a:ext cx="616537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Проект комплексной системы защиты информации предприятия “MedCare”</a:t>
            </a:r>
            <a:endParaRPr b="1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"/>
          <p:cNvSpPr txBox="1"/>
          <p:nvPr/>
        </p:nvSpPr>
        <p:spPr>
          <a:xfrm>
            <a:off x="5134708" y="3515303"/>
            <a:ext cx="4070707" cy="10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Выполнили: Чу В.Д, Чан Б.Л, Доан Т.Х.Т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Студент группы: N3447, N3446, N3445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Проверила преподаватель: Коржук Виктория Михайловна, к.т.н., доцент ФБИТ </a:t>
            </a:r>
            <a:endParaRPr b="0" i="0" sz="1200" u="none" cap="none" strike="noStrike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1" name="Google Shape;151;p1"/>
          <p:cNvSpPr txBox="1"/>
          <p:nvPr/>
        </p:nvSpPr>
        <p:spPr>
          <a:xfrm>
            <a:off x="3275462" y="4529063"/>
            <a:ext cx="270225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Санкт-Петербург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2025г.</a:t>
            </a:r>
            <a:endParaRPr b="0" i="0" sz="1200" u="none" cap="none" strike="noStrike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"/>
              <a:buNone/>
            </a:pPr>
            <a:r>
              <a:rPr lang="en-US" sz="2800">
                <a:latin typeface="Times"/>
                <a:ea typeface="Times"/>
                <a:cs typeface="Times"/>
                <a:sym typeface="Times"/>
              </a:rPr>
              <a:t>Цель и задачи </a:t>
            </a:r>
            <a:endParaRPr/>
          </a:p>
        </p:txBody>
      </p:sp>
      <p:sp>
        <p:nvSpPr>
          <p:cNvPr id="157" name="Google Shape;157;p2"/>
          <p:cNvSpPr txBox="1"/>
          <p:nvPr>
            <p:ph idx="1" type="body"/>
          </p:nvPr>
        </p:nvSpPr>
        <p:spPr>
          <a:xfrm>
            <a:off x="457199" y="1211943"/>
            <a:ext cx="8396445" cy="34471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latin typeface="Times"/>
                <a:ea typeface="Times"/>
                <a:cs typeface="Times"/>
                <a:sym typeface="Times"/>
              </a:rPr>
              <a:t>Цель работы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 sz="1600">
                <a:latin typeface="Times"/>
                <a:ea typeface="Times"/>
                <a:cs typeface="Times"/>
                <a:sym typeface="Times"/>
              </a:rPr>
              <a:t>Обеспечение комплексной информационной безопасности организации «MedCare» от атак, представляющих угрозу её информационным ресурсам.</a:t>
            </a:r>
            <a:endParaRPr sz="16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latin typeface="Times"/>
                <a:ea typeface="Times"/>
                <a:cs typeface="Times"/>
                <a:sym typeface="Times"/>
              </a:rPr>
              <a:t>Задачи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Noto Sans Symbols"/>
              <a:buChar char="⮚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Провести обследование организации и потоков информации;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Noto Sans Symbols"/>
              <a:buChar char="⮚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Определить нарушителей, угрозы и предварительные риски;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Noto Sans Symbols"/>
              <a:buChar char="⮚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Установить требования защиты по законам и стандартам Российской Федерации;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Noto Sans Symbols"/>
              <a:buChar char="⮚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Разработать техническое задание и архитектуру системы защиты;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Noto Sans Symbols"/>
              <a:buChar char="⮚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Внедрить организационные, программно-технические, инженерные и криптографические меры;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Noto Sans Symbols"/>
              <a:buChar char="⮚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Оценить стоимость и эффективность, подготовить документы и обучение персонала.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4150" lvl="0" marL="28575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t/>
            </a:r>
            <a:endParaRPr b="1" sz="16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8" name="Google Shape;158;p2"/>
          <p:cNvSpPr txBox="1"/>
          <p:nvPr/>
        </p:nvSpPr>
        <p:spPr>
          <a:xfrm>
            <a:off x="8772525" y="4702730"/>
            <a:ext cx="2285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"/>
          <p:cNvSpPr txBox="1"/>
          <p:nvPr/>
        </p:nvSpPr>
        <p:spPr>
          <a:xfrm>
            <a:off x="0" y="0"/>
            <a:ext cx="914400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Чу, Чан, Доан - N3447, N3446, N3445. КСЗИ для предприятия ООО «MedCare»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"/>
          <p:cNvSpPr txBox="1"/>
          <p:nvPr>
            <p:ph type="title"/>
          </p:nvPr>
        </p:nvSpPr>
        <p:spPr>
          <a:xfrm>
            <a:off x="435531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"/>
              <a:buNone/>
            </a:pPr>
            <a:r>
              <a:rPr lang="en-US" sz="2800">
                <a:latin typeface="Times"/>
                <a:ea typeface="Times"/>
                <a:cs typeface="Times"/>
                <a:sym typeface="Times"/>
              </a:rPr>
              <a:t>Общие сведения</a:t>
            </a:r>
            <a:endParaRPr/>
          </a:p>
        </p:txBody>
      </p:sp>
      <p:sp>
        <p:nvSpPr>
          <p:cNvPr id="165" name="Google Shape;165;p3"/>
          <p:cNvSpPr txBox="1"/>
          <p:nvPr>
            <p:ph idx="1" type="body"/>
          </p:nvPr>
        </p:nvSpPr>
        <p:spPr>
          <a:xfrm>
            <a:off x="457199" y="1211943"/>
            <a:ext cx="8315325" cy="36251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Наименование организации: 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ООО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«MedCare»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Область деятельности: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Основными видами деятельности компании являются медицинское обследование, лечение и медикаментозное обеспечение пациентов.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Прибыль (месячная/годовая), расходы: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−	</a:t>
            </a: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прибыль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3 500 000 руб./месяц;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−	</a:t>
            </a: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расходы: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5 500 000 руб./месяц, включая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rtl="0" algn="l">
              <a:lnSpc>
                <a:spcPct val="11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Noto Sans Symbols"/>
              <a:buChar char="⮚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общий фонд оплаты труда: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2 600 000 руб./месяц;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rtl="0" algn="l">
              <a:lnSpc>
                <a:spcPct val="11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налоги: 800 000 руб./месяц;	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rtl="0" algn="l">
              <a:lnSpc>
                <a:spcPct val="11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лекарства и медицинские изделия: 1 400 000 руб./мец.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rtl="0" algn="l">
              <a:lnSpc>
                <a:spcPct val="11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аренда, коммунальные платежи: 700 000 руб./месяц;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Персонал организации (33 человек):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1 Директор, 2 заместители директора, 1 бухгалтер, 10 врачи, 10 медсестры, 7 административный персонал и технические специалисты (отдел ИБ, отдел анализа данных), 2 охранника.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p3"/>
          <p:cNvSpPr txBox="1"/>
          <p:nvPr/>
        </p:nvSpPr>
        <p:spPr>
          <a:xfrm>
            <a:off x="8772525" y="4702730"/>
            <a:ext cx="2285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3"/>
          <p:cNvSpPr txBox="1"/>
          <p:nvPr/>
        </p:nvSpPr>
        <p:spPr>
          <a:xfrm>
            <a:off x="0" y="0"/>
            <a:ext cx="914400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Чу, Чан, Доан - N3447, N3446, N3445. КСЗИ для предприятия ООО «MedCare»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2"/>
          <p:cNvSpPr txBox="1"/>
          <p:nvPr>
            <p:ph type="title"/>
          </p:nvPr>
        </p:nvSpPr>
        <p:spPr>
          <a:xfrm>
            <a:off x="141514" y="405093"/>
            <a:ext cx="7266214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</a:pPr>
            <a:r>
              <a:rPr lang="en-US" sz="2400">
                <a:latin typeface="Times"/>
                <a:ea typeface="Times"/>
                <a:cs typeface="Times"/>
                <a:sym typeface="Times"/>
              </a:rPr>
              <a:t>Схема потоков данных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3" name="Google Shape;173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1120" y="1015377"/>
            <a:ext cx="5841759" cy="3687353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42"/>
          <p:cNvSpPr txBox="1"/>
          <p:nvPr/>
        </p:nvSpPr>
        <p:spPr>
          <a:xfrm>
            <a:off x="0" y="0"/>
            <a:ext cx="914400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Чу, Чан, Доан - N3447, N3446, N3445. КСЗИ для предприятия ООО «MedCare»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43"/>
          <p:cNvSpPr txBox="1"/>
          <p:nvPr/>
        </p:nvSpPr>
        <p:spPr>
          <a:xfrm>
            <a:off x="571530" y="3186456"/>
            <a:ext cx="3409781" cy="507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Первый этаж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p43"/>
          <p:cNvSpPr txBox="1"/>
          <p:nvPr/>
        </p:nvSpPr>
        <p:spPr>
          <a:xfrm>
            <a:off x="4951795" y="4333157"/>
            <a:ext cx="384367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Второй этаж</a:t>
            </a:r>
            <a:endParaRPr/>
          </a:p>
        </p:txBody>
      </p:sp>
      <p:sp>
        <p:nvSpPr>
          <p:cNvPr id="182" name="Google Shape;182;p43"/>
          <p:cNvSpPr txBox="1"/>
          <p:nvPr/>
        </p:nvSpPr>
        <p:spPr>
          <a:xfrm>
            <a:off x="252153" y="288305"/>
            <a:ext cx="704088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План помещений </a:t>
            </a:r>
            <a:endParaRPr b="0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43"/>
          <p:cNvSpPr txBox="1"/>
          <p:nvPr/>
        </p:nvSpPr>
        <p:spPr>
          <a:xfrm>
            <a:off x="0" y="0"/>
            <a:ext cx="914400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Чу, Чан, Доан - N3447, N3446, N3445. КСЗИ для предприятия ООО «MedCare»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4" name="Google Shape;184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1112" y="1126751"/>
            <a:ext cx="3887696" cy="18981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09214" y="2355059"/>
            <a:ext cx="3843674" cy="18572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44"/>
          <p:cNvSpPr txBox="1"/>
          <p:nvPr>
            <p:ph type="title"/>
          </p:nvPr>
        </p:nvSpPr>
        <p:spPr>
          <a:xfrm>
            <a:off x="404746" y="264327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sz="2000">
                <a:latin typeface="Times"/>
                <a:ea typeface="Times"/>
                <a:cs typeface="Times"/>
                <a:sym typeface="Times"/>
              </a:rPr>
              <a:t>Предпроектное исследование организации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2" name="Google Shape;192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8570" y="1142473"/>
            <a:ext cx="4425124" cy="3253124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44"/>
          <p:cNvSpPr txBox="1"/>
          <p:nvPr/>
        </p:nvSpPr>
        <p:spPr>
          <a:xfrm>
            <a:off x="141915" y="4395597"/>
            <a:ext cx="504546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 Комплекс технических средств организации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" name="Google Shape;194;p44"/>
          <p:cNvSpPr txBox="1"/>
          <p:nvPr/>
        </p:nvSpPr>
        <p:spPr>
          <a:xfrm>
            <a:off x="5301756" y="1321612"/>
            <a:ext cx="3700329" cy="32932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Оборудование ИС организации </a:t>
            </a:r>
            <a:endParaRPr b="0" i="0" sz="1300" u="none" cap="none" strike="noStrik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включает в себя: </a:t>
            </a:r>
            <a:endParaRPr b="0" i="0" sz="1300" u="none" cap="none" strike="noStrik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СВТ (35 автоматизированных рабочих мест (АРМ), 5 серверов и 15 (мобильных АРМ).</a:t>
            </a:r>
            <a:endParaRPr b="0" i="0" sz="1300" u="none" cap="none" strike="noStrik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АСО:Siemens OSM (1 шт), коммутатор Siemens Scalance X202 21RT (2 шт).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каналы передачи данных. Сети связи расположены в пределах контролируемой зоны. Используются линии связи на основе кабелей типа «витая пара», волоконно-оптические и физические линии связи;</a:t>
            </a:r>
            <a:endParaRPr b="0" i="0" sz="1300" u="none" cap="none" strike="noStrik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ПО: ОС MS Windows 10 64-Bit, OС MS Windows Server 2019, ОС 3.1С Бухгалтерия, ОС WeUp ERP For Healthcare (Программное обеспечение для поддержки ведения пациентов).</a:t>
            </a:r>
            <a:endParaRPr b="0" i="0" sz="1300" u="none" cap="none" strike="noStrik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5" name="Google Shape;195;p44"/>
          <p:cNvSpPr txBox="1"/>
          <p:nvPr/>
        </p:nvSpPr>
        <p:spPr>
          <a:xfrm>
            <a:off x="0" y="0"/>
            <a:ext cx="914400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Чу, Чан, Доан - N3447, N3446, N3445. КСЗИ для предприятия ООО «MedCare»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7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"/>
              <a:buNone/>
            </a:pPr>
            <a:r>
              <a:rPr lang="en-US" sz="2800">
                <a:latin typeface="Times"/>
                <a:ea typeface="Times"/>
                <a:cs typeface="Times"/>
                <a:sym typeface="Times"/>
              </a:rPr>
              <a:t>Предварительная оценка рисков</a:t>
            </a:r>
            <a:endParaRPr/>
          </a:p>
        </p:txBody>
      </p:sp>
      <p:sp>
        <p:nvSpPr>
          <p:cNvPr id="201" name="Google Shape;201;p7"/>
          <p:cNvSpPr txBox="1"/>
          <p:nvPr/>
        </p:nvSpPr>
        <p:spPr>
          <a:xfrm>
            <a:off x="8772525" y="4702730"/>
            <a:ext cx="2285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2" name="Google Shape;202;p7"/>
          <p:cNvGraphicFramePr/>
          <p:nvPr/>
        </p:nvGraphicFramePr>
        <p:xfrm>
          <a:off x="490785" y="1030570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{B9725978-D06D-46C2-8D98-588B315E8485}</a:tableStyleId>
              </a:tblPr>
              <a:tblGrid>
                <a:gridCol w="1268675"/>
                <a:gridCol w="432225"/>
                <a:gridCol w="450725"/>
                <a:gridCol w="450175"/>
                <a:gridCol w="450725"/>
                <a:gridCol w="450175"/>
                <a:gridCol w="450725"/>
                <a:gridCol w="450175"/>
                <a:gridCol w="450725"/>
                <a:gridCol w="450175"/>
                <a:gridCol w="376725"/>
                <a:gridCol w="376725"/>
                <a:gridCol w="376725"/>
                <a:gridCol w="450175"/>
                <a:gridCol w="376725"/>
                <a:gridCol w="450175"/>
                <a:gridCol w="450725"/>
              </a:tblGrid>
              <a:tr h="388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 gridSpan="16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Идентификатор УБИ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388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Эксперт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003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014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019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027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031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033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067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069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073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104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156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006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083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139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175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189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</a:tr>
              <a:tr h="388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26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33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</a:tr>
              <a:tr h="388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28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26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34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</a:tr>
              <a:tr h="388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34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</a:tr>
              <a:tr h="388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27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32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</a:tr>
              <a:tr h="388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27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</a:tr>
              <a:tr h="46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Среднее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10,8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11,4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13,2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15,6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9,4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16,4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17,6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19,8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29,8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22,8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22,6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31,2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</a:tr>
              <a:tr h="464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CV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17,8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29,5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11,6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40,2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18,7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21,8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23,5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16,4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16,6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29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8,3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11,5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12,6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5,7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1050" marL="61050" anchor="ctr"/>
                </a:tc>
              </a:tr>
            </a:tbl>
          </a:graphicData>
        </a:graphic>
      </p:graphicFrame>
      <p:sp>
        <p:nvSpPr>
          <p:cNvPr id="203" name="Google Shape;203;p7"/>
          <p:cNvSpPr txBox="1"/>
          <p:nvPr/>
        </p:nvSpPr>
        <p:spPr>
          <a:xfrm>
            <a:off x="0" y="0"/>
            <a:ext cx="914400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Чу, Чан, Доан - N3447, N3446, N3445. КСЗИ для предприятия ООО «MedCare»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"/>
              <a:buNone/>
            </a:pPr>
            <a:r>
              <a:rPr lang="en-US" sz="2800">
                <a:latin typeface="Times"/>
                <a:ea typeface="Times"/>
                <a:cs typeface="Times"/>
                <a:sym typeface="Times"/>
              </a:rPr>
              <a:t>Предварительная оценка рисков</a:t>
            </a:r>
            <a:endParaRPr/>
          </a:p>
        </p:txBody>
      </p:sp>
      <p:sp>
        <p:nvSpPr>
          <p:cNvPr id="209" name="Google Shape;209;p8"/>
          <p:cNvSpPr txBox="1"/>
          <p:nvPr/>
        </p:nvSpPr>
        <p:spPr>
          <a:xfrm>
            <a:off x="8772525" y="4702730"/>
            <a:ext cx="2285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8"/>
          <p:cNvSpPr txBox="1"/>
          <p:nvPr/>
        </p:nvSpPr>
        <p:spPr>
          <a:xfrm>
            <a:off x="0" y="0"/>
            <a:ext cx="914400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Чу, Чан, Доан - N3447, N3446, N3445. КСЗИ для предприятия ООО «MedCare»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1" name="Google Shape;211;p8"/>
          <p:cNvGraphicFramePr/>
          <p:nvPr/>
        </p:nvGraphicFramePr>
        <p:xfrm>
          <a:off x="457200" y="1371600"/>
          <a:ext cx="8258175" cy="3331130"/>
        </p:xfrm>
        <a:graphic>
          <a:graphicData uri="http://schemas.openxmlformats.org/drawingml/2006/chart">
            <c:chart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"/>
              <a:buNone/>
            </a:pPr>
            <a:r>
              <a:rPr lang="en-US" sz="2800">
                <a:latin typeface="Times"/>
                <a:ea typeface="Times"/>
                <a:cs typeface="Times"/>
                <a:sym typeface="Times"/>
              </a:rPr>
              <a:t>Требования к системе защиты информации</a:t>
            </a:r>
            <a:endParaRPr/>
          </a:p>
        </p:txBody>
      </p:sp>
      <p:sp>
        <p:nvSpPr>
          <p:cNvPr id="217" name="Google Shape;217;p9"/>
          <p:cNvSpPr txBox="1"/>
          <p:nvPr>
            <p:ph idx="1" type="body"/>
          </p:nvPr>
        </p:nvSpPr>
        <p:spPr>
          <a:xfrm>
            <a:off x="457201" y="1211943"/>
            <a:ext cx="3289110" cy="34471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lang="en-US" sz="1800">
                <a:latin typeface="Times"/>
                <a:ea typeface="Times"/>
                <a:cs typeface="Times"/>
                <a:sym typeface="Times"/>
              </a:rPr>
              <a:t>Требования к трежимам функционирования системы;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lang="en-US" sz="1800">
                <a:latin typeface="Times"/>
                <a:ea typeface="Times"/>
                <a:cs typeface="Times"/>
                <a:sym typeface="Times"/>
              </a:rPr>
              <a:t>Требования к надежности;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lang="en-US" sz="1800">
                <a:latin typeface="Times"/>
                <a:ea typeface="Times"/>
                <a:cs typeface="Times"/>
                <a:sym typeface="Times"/>
              </a:rPr>
              <a:t>Требования безопасности;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lang="en-US" sz="1800">
                <a:latin typeface="Times"/>
                <a:ea typeface="Times"/>
                <a:cs typeface="Times"/>
                <a:sym typeface="Times"/>
              </a:rPr>
              <a:t>Требования к квалификации исполнителя.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218" name="Google Shape;21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46311" y="1459577"/>
            <a:ext cx="4944212" cy="3114464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9"/>
          <p:cNvSpPr txBox="1"/>
          <p:nvPr/>
        </p:nvSpPr>
        <p:spPr>
          <a:xfrm>
            <a:off x="8625841" y="4702730"/>
            <a:ext cx="4591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9"/>
          <p:cNvSpPr txBox="1"/>
          <p:nvPr/>
        </p:nvSpPr>
        <p:spPr>
          <a:xfrm>
            <a:off x="0" y="0"/>
            <a:ext cx="914400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Чу, Чан, Доан - N3447, N3446, N3445. КСЗИ для предприятия ООО «MedCare»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None/>
            </a:pPr>
            <a:r>
              <a:rPr lang="en-US" sz="2000">
                <a:latin typeface="Times"/>
                <a:ea typeface="Times"/>
                <a:cs typeface="Times"/>
                <a:sym typeface="Times"/>
              </a:rPr>
              <a:t>Предлагаемые меры и средства по защите информации в организации</a:t>
            </a:r>
            <a:endParaRPr/>
          </a:p>
        </p:txBody>
      </p:sp>
      <p:sp>
        <p:nvSpPr>
          <p:cNvPr id="226" name="Google Shape;226;p10"/>
          <p:cNvSpPr txBox="1"/>
          <p:nvPr>
            <p:ph idx="1" type="body"/>
          </p:nvPr>
        </p:nvSpPr>
        <p:spPr>
          <a:xfrm>
            <a:off x="457200" y="1211943"/>
            <a:ext cx="7467600" cy="34471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800">
                <a:latin typeface="Times"/>
                <a:ea typeface="Times"/>
                <a:cs typeface="Times"/>
                <a:sym typeface="Times"/>
              </a:rPr>
              <a:t>Таблица 1: Организационно-правовая защита информации</a:t>
            </a:r>
            <a:endParaRPr b="1" sz="18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>
              <a:latin typeface="Times"/>
              <a:ea typeface="Times"/>
              <a:cs typeface="Times"/>
              <a:sym typeface="Times"/>
            </a:endParaRPr>
          </a:p>
        </p:txBody>
      </p:sp>
      <p:graphicFrame>
        <p:nvGraphicFramePr>
          <p:cNvPr id="227" name="Google Shape;227;p10"/>
          <p:cNvGraphicFramePr/>
          <p:nvPr/>
        </p:nvGraphicFramePr>
        <p:xfrm>
          <a:off x="609790" y="167880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{4DDEDAB3-06AB-47A0-A87F-5D024C44BCA6}</a:tableStyleId>
              </a:tblPr>
              <a:tblGrid>
                <a:gridCol w="3962200"/>
                <a:gridCol w="3962200"/>
              </a:tblGrid>
              <a:tr h="194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Наименование</a:t>
                      </a:r>
                      <a:endParaRPr sz="2000" u="none" cap="none" strike="noStrike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Стоимости (руб)</a:t>
                      </a:r>
                      <a:endParaRPr sz="2000" u="none" cap="none" strike="noStrike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25" marB="45725" marR="91450" marL="91450"/>
                </a:tc>
              </a:tr>
              <a:tr h="592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Политика ИБ</a:t>
                      </a:r>
                      <a:endParaRPr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55 000</a:t>
                      </a:r>
                      <a:endParaRPr sz="1800" u="none" cap="none" strike="noStrike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25" marB="45725" marR="91450" marL="91450"/>
                </a:tc>
              </a:tr>
              <a:tr h="592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Регламент управления уязвимостями ИБ</a:t>
                      </a:r>
                      <a:endParaRPr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35 000</a:t>
                      </a:r>
                      <a:endParaRPr sz="1800" u="none" cap="none" strike="noStrike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25" marB="45725" marR="91450" marL="91450"/>
                </a:tc>
              </a:tr>
              <a:tr h="592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Внешний аудит безопасности</a:t>
                      </a:r>
                      <a:endParaRPr sz="1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80 000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592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ИТОГО</a:t>
                      </a:r>
                      <a:endParaRPr sz="1800" u="none" cap="none" strike="noStrike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170 000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28" name="Google Shape;228;p10"/>
          <p:cNvSpPr txBox="1"/>
          <p:nvPr/>
        </p:nvSpPr>
        <p:spPr>
          <a:xfrm>
            <a:off x="8625841" y="4702730"/>
            <a:ext cx="4591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0"/>
          <p:cNvSpPr txBox="1"/>
          <p:nvPr/>
        </p:nvSpPr>
        <p:spPr>
          <a:xfrm>
            <a:off x="0" y="0"/>
            <a:ext cx="914400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Чу, Чан, Доан - N3447, N3446, N3445. КСЗИ для предприятия ООО «MedCare»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1"/>
          <p:cNvSpPr txBox="1"/>
          <p:nvPr>
            <p:ph idx="1" type="body"/>
          </p:nvPr>
        </p:nvSpPr>
        <p:spPr>
          <a:xfrm>
            <a:off x="507998" y="1601027"/>
            <a:ext cx="3635831" cy="5272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1600">
                <a:latin typeface="Times"/>
                <a:ea typeface="Times"/>
                <a:cs typeface="Times"/>
                <a:sym typeface="Times"/>
              </a:rPr>
              <a:t>Kaspersky Endpoint Security для бизнеса – </a:t>
            </a:r>
            <a:r>
              <a:rPr b="1" lang="en-US" sz="1400">
                <a:latin typeface="Times New Roman"/>
                <a:ea typeface="Times New Roman"/>
                <a:cs typeface="Times New Roman"/>
                <a:sym typeface="Times New Roman"/>
              </a:rPr>
              <a:t>114 361 </a:t>
            </a:r>
            <a:r>
              <a:rPr b="1" lang="en-US" sz="1600">
                <a:latin typeface="Times"/>
                <a:ea typeface="Times"/>
                <a:cs typeface="Times"/>
                <a:sym typeface="Times"/>
              </a:rPr>
              <a:t>руб./год.</a:t>
            </a:r>
            <a:endParaRPr b="1" sz="16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6" name="Google Shape;236;p11"/>
          <p:cNvSpPr txBox="1"/>
          <p:nvPr>
            <p:ph idx="2" type="body"/>
          </p:nvPr>
        </p:nvSpPr>
        <p:spPr>
          <a:xfrm>
            <a:off x="507999" y="986590"/>
            <a:ext cx="2960913" cy="5272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1" lang="en-US">
                <a:latin typeface="Times"/>
                <a:ea typeface="Times"/>
                <a:cs typeface="Times"/>
                <a:sym typeface="Times"/>
              </a:rPr>
              <a:t>Программно-аппаратная защита информации</a:t>
            </a:r>
            <a:endParaRPr b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7" name="Google Shape;237;p11"/>
          <p:cNvSpPr txBox="1"/>
          <p:nvPr>
            <p:ph idx="3" type="body"/>
          </p:nvPr>
        </p:nvSpPr>
        <p:spPr>
          <a:xfrm>
            <a:off x="4885386" y="3011487"/>
            <a:ext cx="3885635" cy="17169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1600">
                <a:latin typeface="Times"/>
                <a:ea typeface="Times"/>
                <a:cs typeface="Times"/>
                <a:sym typeface="Times"/>
              </a:rPr>
              <a:t>Система  постановки  виброакустических и  акустических  помех лгш-402 (2 шт.) – </a:t>
            </a:r>
            <a:r>
              <a:rPr b="1" lang="en-US" sz="1400">
                <a:latin typeface="Times New Roman"/>
                <a:ea typeface="Times New Roman"/>
                <a:cs typeface="Times New Roman"/>
                <a:sym typeface="Times New Roman"/>
              </a:rPr>
              <a:t>66 200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1600">
                <a:latin typeface="Times"/>
                <a:ea typeface="Times"/>
                <a:cs typeface="Times"/>
                <a:sym typeface="Times"/>
              </a:rPr>
              <a:t>руб.</a:t>
            </a:r>
            <a:endParaRPr sz="16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8" name="Google Shape;238;p11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1" lang="en-US">
                <a:latin typeface="Times"/>
                <a:ea typeface="Times"/>
                <a:cs typeface="Times"/>
                <a:sym typeface="Times"/>
              </a:rPr>
              <a:t>Инженерно-техническая защита информации</a:t>
            </a:r>
            <a:endParaRPr b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9" name="Google Shape;239;p11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mes"/>
              <a:buNone/>
            </a:pPr>
            <a:r>
              <a:rPr lang="en-US" sz="2000">
                <a:latin typeface="Times"/>
                <a:ea typeface="Times"/>
                <a:cs typeface="Times"/>
                <a:sym typeface="Times"/>
              </a:rPr>
              <a:t>Предлагаемые меры и средства по защите информации в организации</a:t>
            </a:r>
            <a:endParaRPr/>
          </a:p>
        </p:txBody>
      </p:sp>
      <p:sp>
        <p:nvSpPr>
          <p:cNvPr id="240" name="Google Shape;240;p11"/>
          <p:cNvSpPr txBox="1"/>
          <p:nvPr/>
        </p:nvSpPr>
        <p:spPr>
          <a:xfrm>
            <a:off x="507998" y="2215464"/>
            <a:ext cx="2960913" cy="5272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en-US" sz="1600" u="sng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Криптографическая защита</a:t>
            </a:r>
            <a:endParaRPr b="1" i="0" sz="1600" u="sng" cap="none" strike="noStrik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1" name="Google Shape;241;p11"/>
          <p:cNvSpPr txBox="1"/>
          <p:nvPr/>
        </p:nvSpPr>
        <p:spPr>
          <a:xfrm>
            <a:off x="457200" y="2673714"/>
            <a:ext cx="3635830" cy="770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VipNet CSP 4 – </a:t>
            </a:r>
            <a:r>
              <a:rPr b="1" i="0" lang="en-US" sz="16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8 000 руб./год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VipNet Client 4 – </a:t>
            </a:r>
            <a:r>
              <a:rPr b="1" i="0" lang="en-US" sz="16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8 000</a:t>
            </a:r>
            <a:r>
              <a:rPr b="0" i="0" lang="en-US" sz="16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b="1" i="0" lang="en-US" sz="16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руб./год</a:t>
            </a:r>
            <a:endParaRPr b="1" i="0" sz="1600" u="none" cap="none" strike="noStrik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2" name="Google Shape;242;p11"/>
          <p:cNvSpPr txBox="1"/>
          <p:nvPr/>
        </p:nvSpPr>
        <p:spPr>
          <a:xfrm>
            <a:off x="8625841" y="4702730"/>
            <a:ext cx="4591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1"/>
          <p:cNvSpPr txBox="1"/>
          <p:nvPr/>
        </p:nvSpPr>
        <p:spPr>
          <a:xfrm>
            <a:off x="0" y="0"/>
            <a:ext cx="914400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Чу, Чан, Доан - N3447, N3446, N3445. КСЗИ для предприятия ООО «MedCare»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2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None/>
            </a:pPr>
            <a:r>
              <a:rPr lang="en-US" sz="2000">
                <a:latin typeface="Times"/>
                <a:ea typeface="Times"/>
                <a:cs typeface="Times"/>
                <a:sym typeface="Times"/>
              </a:rPr>
              <a:t>Предлагаемые меры и средства по защите информации в организации</a:t>
            </a:r>
            <a:endParaRPr/>
          </a:p>
        </p:txBody>
      </p:sp>
      <p:sp>
        <p:nvSpPr>
          <p:cNvPr id="249" name="Google Shape;249;p12"/>
          <p:cNvSpPr txBox="1"/>
          <p:nvPr>
            <p:ph idx="1" type="body"/>
          </p:nvPr>
        </p:nvSpPr>
        <p:spPr>
          <a:xfrm>
            <a:off x="457200" y="1022685"/>
            <a:ext cx="7467600" cy="36364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800">
                <a:latin typeface="Times"/>
                <a:ea typeface="Times"/>
                <a:cs typeface="Times"/>
                <a:sym typeface="Times"/>
              </a:rPr>
              <a:t>Таблица 2: Технические средство охраны</a:t>
            </a:r>
            <a:endParaRPr b="1" sz="18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>
              <a:latin typeface="Times"/>
              <a:ea typeface="Times"/>
              <a:cs typeface="Times"/>
              <a:sym typeface="Times"/>
            </a:endParaRPr>
          </a:p>
        </p:txBody>
      </p:sp>
      <p:graphicFrame>
        <p:nvGraphicFramePr>
          <p:cNvPr id="250" name="Google Shape;250;p12"/>
          <p:cNvGraphicFramePr/>
          <p:nvPr/>
        </p:nvGraphicFramePr>
        <p:xfrm>
          <a:off x="523741" y="148724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{4DDEDAB3-06AB-47A0-A87F-5D024C44BCA6}</a:tableStyleId>
              </a:tblPr>
              <a:tblGrid>
                <a:gridCol w="5804450"/>
                <a:gridCol w="2316625"/>
              </a:tblGrid>
              <a:tr h="371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Наименование</a:t>
                      </a:r>
                      <a:endParaRPr sz="2000" u="none" cap="none" strike="noStrike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Стоимости (руб)</a:t>
                      </a:r>
                      <a:endParaRPr sz="2000" u="none" cap="none" strike="noStrike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25" marB="45725" marR="91450" marL="91450"/>
                </a:tc>
              </a:tr>
              <a:tr h="607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Система видеонаблюдения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(Reolink RLC-410W – 22 шт., GF-NV1601HD v2 – 2шт., Seagate Surveillance – 2шт.)</a:t>
                      </a:r>
                      <a:endParaRPr sz="1200" u="none" cap="none" strike="noStrike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231 220 </a:t>
                      </a:r>
                      <a:endParaRPr sz="1800" u="none" cap="none" strike="noStrike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25" marB="45725" marR="91450" marL="91450"/>
                </a:tc>
              </a:tr>
              <a:tr h="743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СКУД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(Замок – 24 шт., считыватель HID Global VertX EVO V2000 – 12 шт., Кнопка АВК 805 А – 1 шт., контроллер CASTLE RS – 12 шт.)</a:t>
                      </a:r>
                      <a:endParaRPr sz="1200" u="none" cap="none" strike="noStrike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137 300</a:t>
                      </a:r>
                      <a:endParaRPr sz="1800" u="none" cap="none" strike="noStrike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25" marB="45725" marR="91450" marL="91450"/>
                </a:tc>
              </a:tr>
              <a:tr h="943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Система пожарно-охранной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(Дымовой извещатель ИП 212-43М – 41 шт., Извещатель пожарный ручной ИПР 513-3АМ – 4 шт., Световое табло выход SLT Топаз 12 – 4 шт., Маяк-12-КП Оповещатель светозвуковой – 27 шт.)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150 885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482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ИТОГО</a:t>
                      </a:r>
                      <a:endParaRPr sz="1800" u="none" cap="none" strike="noStrike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519 405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51" name="Google Shape;251;p12"/>
          <p:cNvSpPr txBox="1"/>
          <p:nvPr/>
        </p:nvSpPr>
        <p:spPr>
          <a:xfrm>
            <a:off x="8625841" y="4702730"/>
            <a:ext cx="4591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2"/>
          <p:cNvSpPr txBox="1"/>
          <p:nvPr/>
        </p:nvSpPr>
        <p:spPr>
          <a:xfrm>
            <a:off x="0" y="0"/>
            <a:ext cx="914400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Чу, Чан, Доан - N3447, N3446, N3445. КСЗИ для предприятия ООО «MedCare»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3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"/>
              <a:buNone/>
            </a:pPr>
            <a:r>
              <a:rPr lang="en-US" sz="2800">
                <a:latin typeface="Times"/>
                <a:ea typeface="Times"/>
                <a:cs typeface="Times"/>
                <a:sym typeface="Times"/>
              </a:rPr>
              <a:t>Итоговая стоимость ПКСЗИ</a:t>
            </a:r>
            <a:endParaRPr/>
          </a:p>
        </p:txBody>
      </p:sp>
      <p:sp>
        <p:nvSpPr>
          <p:cNvPr id="258" name="Google Shape;258;p13"/>
          <p:cNvSpPr txBox="1"/>
          <p:nvPr>
            <p:ph idx="1" type="body"/>
          </p:nvPr>
        </p:nvSpPr>
        <p:spPr>
          <a:xfrm>
            <a:off x="457200" y="1022685"/>
            <a:ext cx="7467600" cy="36364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800">
                <a:latin typeface="Times"/>
                <a:ea typeface="Times"/>
                <a:cs typeface="Times"/>
                <a:sym typeface="Times"/>
              </a:rPr>
              <a:t>Таблица 3: Итоговая стоимость КСЗИ</a:t>
            </a:r>
            <a:endParaRPr b="1" sz="18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>
              <a:latin typeface="Times"/>
              <a:ea typeface="Times"/>
              <a:cs typeface="Times"/>
              <a:sym typeface="Times"/>
            </a:endParaRPr>
          </a:p>
        </p:txBody>
      </p:sp>
      <p:graphicFrame>
        <p:nvGraphicFramePr>
          <p:cNvPr id="259" name="Google Shape;259;p13"/>
          <p:cNvGraphicFramePr/>
          <p:nvPr/>
        </p:nvGraphicFramePr>
        <p:xfrm>
          <a:off x="609790" y="153368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{4DDEDAB3-06AB-47A0-A87F-5D024C44BCA6}</a:tableStyleId>
              </a:tblPr>
              <a:tblGrid>
                <a:gridCol w="5736275"/>
                <a:gridCol w="2279775"/>
              </a:tblGrid>
              <a:tr h="347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Наименование</a:t>
                      </a:r>
                      <a:endParaRPr sz="1800" u="none" cap="none" strike="noStrike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Стоимости (руб)</a:t>
                      </a:r>
                      <a:endParaRPr sz="1800" u="none" cap="none" strike="noStrike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25" marB="45725" marR="91450" marL="91450"/>
                </a:tc>
              </a:tr>
              <a:tr h="44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Организационно-правовая защита информации</a:t>
                      </a:r>
                      <a:endParaRPr sz="1800" u="none" cap="none" strike="noStrike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170 000</a:t>
                      </a:r>
                      <a:endParaRPr sz="1800" u="none" cap="none" strike="noStrike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25" marB="45725" marR="91450" marL="91450"/>
                </a:tc>
              </a:tr>
              <a:tr h="44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Программно-аппаратная защита информации</a:t>
                      </a:r>
                      <a:endParaRPr sz="1800" u="none" cap="none" strike="noStrike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114 361</a:t>
                      </a:r>
                      <a:endParaRPr sz="1800" u="none" cap="none" strike="noStrike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25" marB="45725" marR="91450" marL="91450"/>
                </a:tc>
              </a:tr>
              <a:tr h="44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Инженерно-техническая защита информации</a:t>
                      </a:r>
                      <a:endParaRPr sz="1800" u="none" cap="none" strike="noStrike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66 200</a:t>
                      </a:r>
                      <a:endParaRPr sz="1800" u="none" cap="none" strike="noStrike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25" marB="45725" marR="91450" marL="91450"/>
                </a:tc>
              </a:tr>
              <a:tr h="44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Технические средства охраны</a:t>
                      </a:r>
                      <a:endParaRPr sz="1800" u="none" cap="none" strike="noStrike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519 405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44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Криптографическая защита</a:t>
                      </a:r>
                      <a:endParaRPr sz="1800" u="none" cap="none" strike="noStrike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16 000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44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ИТОГО</a:t>
                      </a:r>
                      <a:endParaRPr sz="1800" u="none" cap="none" strike="noStrike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885 966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60" name="Google Shape;260;p13"/>
          <p:cNvSpPr txBox="1"/>
          <p:nvPr/>
        </p:nvSpPr>
        <p:spPr>
          <a:xfrm>
            <a:off x="8625841" y="4702730"/>
            <a:ext cx="4591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3"/>
          <p:cNvSpPr txBox="1"/>
          <p:nvPr/>
        </p:nvSpPr>
        <p:spPr>
          <a:xfrm>
            <a:off x="0" y="0"/>
            <a:ext cx="914400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Чу, Чан, Доан - N3447, N3446, N3445. КСЗИ для предприятия ООО «MedCare»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4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</a:pPr>
            <a:r>
              <a:t/>
            </a:r>
            <a:endParaRPr/>
          </a:p>
        </p:txBody>
      </p:sp>
      <p:sp>
        <p:nvSpPr>
          <p:cNvPr id="267" name="Google Shape;267;p14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"/>
              <a:buNone/>
            </a:pPr>
            <a:r>
              <a:rPr lang="en-US" sz="2800">
                <a:latin typeface="Times"/>
                <a:ea typeface="Times"/>
                <a:cs typeface="Times"/>
                <a:sym typeface="Times"/>
              </a:rPr>
              <a:t>Итоговая оценка рисков</a:t>
            </a:r>
            <a:endParaRPr/>
          </a:p>
        </p:txBody>
      </p:sp>
      <p:sp>
        <p:nvSpPr>
          <p:cNvPr id="268" name="Google Shape;268;p14"/>
          <p:cNvSpPr txBox="1"/>
          <p:nvPr/>
        </p:nvSpPr>
        <p:spPr>
          <a:xfrm>
            <a:off x="8625841" y="4702730"/>
            <a:ext cx="4591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4"/>
          <p:cNvSpPr txBox="1"/>
          <p:nvPr/>
        </p:nvSpPr>
        <p:spPr>
          <a:xfrm>
            <a:off x="0" y="0"/>
            <a:ext cx="914400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Чу, Чан, Доан - N3447, N3446, N3445. КСЗИ для предприятия ООО «MedCare»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70" name="Google Shape;270;p14"/>
          <p:cNvGraphicFramePr/>
          <p:nvPr/>
        </p:nvGraphicFramePr>
        <p:xfrm>
          <a:off x="694792" y="1103611"/>
          <a:ext cx="7857537" cy="3639705"/>
        </p:xfrm>
        <a:graphic>
          <a:graphicData uri="http://schemas.openxmlformats.org/drawingml/2006/chart">
            <c:chart r:id="rId3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5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76" name="Google Shape;276;p15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"/>
              <a:buNone/>
            </a:pPr>
            <a:r>
              <a:rPr lang="en-US" sz="2800">
                <a:latin typeface="Times"/>
                <a:ea typeface="Times"/>
                <a:cs typeface="Times"/>
                <a:sym typeface="Times"/>
              </a:rPr>
              <a:t>Перерасчет рисков</a:t>
            </a:r>
            <a:endParaRPr/>
          </a:p>
        </p:txBody>
      </p:sp>
      <p:sp>
        <p:nvSpPr>
          <p:cNvPr id="277" name="Google Shape;277;p15"/>
          <p:cNvSpPr txBox="1"/>
          <p:nvPr/>
        </p:nvSpPr>
        <p:spPr>
          <a:xfrm>
            <a:off x="8625841" y="4702730"/>
            <a:ext cx="4591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5"/>
          <p:cNvSpPr txBox="1"/>
          <p:nvPr/>
        </p:nvSpPr>
        <p:spPr>
          <a:xfrm>
            <a:off x="0" y="0"/>
            <a:ext cx="914400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Чу, Чан, Доан - N3447, N3446, N3445. КСЗИ для предприятия ООО «MedCare»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79" name="Google Shape;279;p15"/>
          <p:cNvGraphicFramePr/>
          <p:nvPr/>
        </p:nvGraphicFramePr>
        <p:xfrm>
          <a:off x="457200" y="112236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{4DDEDAB3-06AB-47A0-A87F-5D024C44BCA6}</a:tableStyleId>
              </a:tblPr>
              <a:tblGrid>
                <a:gridCol w="1180300"/>
                <a:gridCol w="4091775"/>
                <a:gridCol w="1450175"/>
                <a:gridCol w="1578450"/>
              </a:tblGrid>
              <a:tr h="416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Идентификатор УБИ</a:t>
                      </a:r>
                      <a:endParaRPr sz="800" u="none" cap="none" strike="noStrike"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18875" marB="18875" marR="18875" marL="188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Название УБИ</a:t>
                      </a:r>
                      <a:endParaRPr sz="800" u="none" cap="none" strike="noStrike"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18875" marB="18875" marR="18875" marL="188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Риск до внедрения КСЗИ (руб.)</a:t>
                      </a:r>
                      <a:endParaRPr sz="800" u="none" cap="none" strike="noStrike"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18875" marB="18875" marR="18875" marL="188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Риск после внедрения КСЗИ (руб.)</a:t>
                      </a:r>
                      <a:endParaRPr sz="800" u="none" cap="none" strike="noStrike"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18875" marB="18875" marR="18875" marL="18875" anchor="ctr"/>
                </a:tc>
              </a:tr>
              <a:tr h="472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УБИ.003</a:t>
                      </a:r>
                      <a:endParaRPr sz="800" u="none" cap="none" strike="noStrike"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18875" marB="18875" marR="18875" marL="188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Угроза использования слабостей криптографических алгоритмов и уязвимостей в программном обеспечении их реализации</a:t>
                      </a:r>
                      <a:endParaRPr sz="800" u="none" cap="none" strike="noStrike"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18875" marB="18875" marR="18875" marL="188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108 000</a:t>
                      </a:r>
                      <a:endParaRPr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800" marB="50800" marR="50800" marL="508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30 000</a:t>
                      </a:r>
                      <a:endParaRPr sz="800" u="none" cap="none" strike="noStrike"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18875" marB="18875" marR="18875" marL="18875"/>
                </a:tc>
              </a:tr>
              <a:tr h="249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УБИ.014</a:t>
                      </a:r>
                      <a:endParaRPr sz="800" u="none" cap="none" strike="noStrike"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18875" marB="18875" marR="18875" marL="188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Угроза длительного удержания вычислительных ресурсов пользователями</a:t>
                      </a:r>
                      <a:endParaRPr sz="800" u="none" cap="none" strike="noStrike"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18875" marB="18875" marR="18875" marL="188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62 700</a:t>
                      </a:r>
                      <a:endParaRPr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800" marB="50800" marR="50800" marL="508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27 500</a:t>
                      </a:r>
                      <a:endParaRPr sz="800" u="none" cap="none" strike="noStrike"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18875" marB="18875" marR="18875" marL="18875"/>
                </a:tc>
              </a:tr>
              <a:tr h="244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УБИ.019</a:t>
                      </a:r>
                      <a:endParaRPr sz="800" u="none" cap="none" strike="noStrike"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18875" marB="18875" marR="18875" marL="188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Угроза заражения DNS-кеша</a:t>
                      </a:r>
                      <a:endParaRPr sz="800" u="none" cap="none" strike="noStrike"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18875" marB="18875" marR="18875" marL="188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59 400</a:t>
                      </a:r>
                      <a:endParaRPr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800" marB="50800" marR="50800" marL="508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45 000</a:t>
                      </a:r>
                      <a:endParaRPr sz="800" u="none" cap="none" strike="noStrike"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18875" marB="18875" marR="18875" marL="18875"/>
                </a:tc>
              </a:tr>
              <a:tr h="416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УБИ.027</a:t>
                      </a:r>
                      <a:endParaRPr sz="800" u="none" cap="none" strike="noStrike"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18875" marB="18875" marR="18875" marL="188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Угроза искажения вводимой и выводимой на периферийные устройства информации</a:t>
                      </a:r>
                      <a:endParaRPr sz="800" u="none" cap="none" strike="noStrike"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18875" marB="18875" marR="18875" marL="188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78 000</a:t>
                      </a:r>
                      <a:endParaRPr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800" marB="50800" marR="50800" marL="508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55 000</a:t>
                      </a:r>
                      <a:endParaRPr sz="800" u="none" cap="none" strike="noStrike"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18875" marB="18875" marR="18875" marL="18875"/>
                </a:tc>
              </a:tr>
              <a:tr h="416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УБИ.031</a:t>
                      </a:r>
                      <a:endParaRPr sz="800" u="none" cap="none" strike="noStrike"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18875" marB="18875" marR="18875" marL="188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Угроза использования механизмов авторизации для повышения привилегий</a:t>
                      </a:r>
                      <a:endParaRPr sz="800" u="none" cap="none" strike="noStrike"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18875" marB="18875" marR="18875" marL="188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103 400</a:t>
                      </a:r>
                      <a:endParaRPr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800" marB="50800" marR="50800" marL="508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77 000</a:t>
                      </a:r>
                      <a:endParaRPr sz="800" u="none" cap="none" strike="noStrike"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18875" marB="18875" marR="18875" marL="18875"/>
                </a:tc>
              </a:tr>
              <a:tr h="249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УБИ.033</a:t>
                      </a:r>
                      <a:endParaRPr sz="800" u="none" cap="none" strike="noStrike"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18875" marB="18875" marR="18875" marL="188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Угроза использования слабостей кодирования входных данных</a:t>
                      </a:r>
                      <a:endParaRPr sz="800" u="none" cap="none" strike="noStrike"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18875" marB="18875" marR="18875" marL="188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200 000</a:t>
                      </a:r>
                      <a:endParaRPr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800" marB="50800" marR="50800" marL="508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140 000</a:t>
                      </a:r>
                      <a:endParaRPr sz="800" u="none" cap="none" strike="noStrike"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18875" marB="18875" marR="18875" marL="18875"/>
                </a:tc>
              </a:tr>
              <a:tr h="249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УБИ.067</a:t>
                      </a:r>
                      <a:endParaRPr sz="800" u="none" cap="none" strike="noStrike"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18875" marB="18875" marR="18875" marL="188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Угроза неправомерного ознакомления с защищаемой информацией</a:t>
                      </a:r>
                      <a:endParaRPr sz="800" u="none" cap="none" strike="noStrike"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18875" marB="18875" marR="18875" marL="188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180 400</a:t>
                      </a:r>
                      <a:endParaRPr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800" marB="50800" marR="50800" marL="508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143 000</a:t>
                      </a:r>
                      <a:endParaRPr sz="800" u="none" cap="none" strike="noStrike"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18875" marB="18875" marR="18875" marL="18875"/>
                </a:tc>
              </a:tr>
              <a:tr h="249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УБИ.069</a:t>
                      </a:r>
                      <a:endParaRPr sz="800" u="none" cap="none" strike="noStrike"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18875" marB="18875" marR="18875" marL="188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Угроза неправомерных действий в каналах связи</a:t>
                      </a:r>
                      <a:endParaRPr sz="800" u="none" cap="none" strike="noStrike"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18875" marB="18875" marR="18875" marL="188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220 000</a:t>
                      </a:r>
                      <a:endParaRPr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800" marB="50800" marR="50800" marL="508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88 000</a:t>
                      </a:r>
                      <a:endParaRPr sz="800" u="none" cap="none" strike="noStrike"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18875" marB="18875" marR="18875" marL="18875"/>
                </a:tc>
              </a:tr>
              <a:tr h="615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УБИ.073</a:t>
                      </a:r>
                      <a:endParaRPr sz="800" u="none" cap="none" strike="noStrike"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18875" marB="18875" marR="18875" marL="188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Угроза несанкционированного доступа к активному и (или) пассивному виртуальному и (или) физическому сетевому оборудованию из физической и (или) виртуальной сети</a:t>
                      </a:r>
                      <a:endParaRPr sz="800" u="none" cap="none" strike="noStrike"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18875" marB="18875" marR="18875" marL="188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176 000</a:t>
                      </a:r>
                      <a:endParaRPr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800" marB="50800" marR="50800" marL="508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130 000</a:t>
                      </a:r>
                      <a:endParaRPr sz="800" u="none" cap="none" strike="noStrike"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18875" marB="18875" marR="18875" marL="18875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6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85" name="Google Shape;285;p16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"/>
              <a:buNone/>
            </a:pPr>
            <a:r>
              <a:rPr lang="en-US" sz="2800">
                <a:latin typeface="Times"/>
                <a:ea typeface="Times"/>
                <a:cs typeface="Times"/>
                <a:sym typeface="Times"/>
              </a:rPr>
              <a:t>Перерасчет рисков</a:t>
            </a:r>
            <a:endParaRPr/>
          </a:p>
        </p:txBody>
      </p:sp>
      <p:sp>
        <p:nvSpPr>
          <p:cNvPr id="286" name="Google Shape;286;p16"/>
          <p:cNvSpPr txBox="1"/>
          <p:nvPr/>
        </p:nvSpPr>
        <p:spPr>
          <a:xfrm>
            <a:off x="8625841" y="4702730"/>
            <a:ext cx="4591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6"/>
          <p:cNvSpPr txBox="1"/>
          <p:nvPr/>
        </p:nvSpPr>
        <p:spPr>
          <a:xfrm>
            <a:off x="0" y="0"/>
            <a:ext cx="914400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Чу, Чан, Доан - N3447, N3446, N3445. КСЗИ для предприятия ООО «MedCare»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88" name="Google Shape;288;p16"/>
          <p:cNvGraphicFramePr/>
          <p:nvPr/>
        </p:nvGraphicFramePr>
        <p:xfrm>
          <a:off x="457200" y="10883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{4DDEDAB3-06AB-47A0-A87F-5D024C44BCA6}</a:tableStyleId>
              </a:tblPr>
              <a:tblGrid>
                <a:gridCol w="908550"/>
                <a:gridCol w="4342125"/>
                <a:gridCol w="1457325"/>
                <a:gridCol w="1567350"/>
              </a:tblGrid>
              <a:tr h="479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УБИ.104</a:t>
                      </a:r>
                      <a:endParaRPr sz="800" u="none" cap="none" strike="noStrike"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31950" marB="31950" marR="31950" marL="31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Угроза определения топологии вычислительной сети</a:t>
                      </a:r>
                      <a:endParaRPr sz="800" u="none" cap="none" strike="noStrike"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31950" marB="31950" marR="31950" marL="319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374 000</a:t>
                      </a:r>
                      <a:endParaRPr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800" marB="50800" marR="50800" marL="508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220 000</a:t>
                      </a:r>
                      <a:endParaRPr sz="800" u="none" cap="none" strike="noStrike"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31950" marB="31950" marR="31950" marL="31950"/>
                </a:tc>
              </a:tr>
              <a:tr h="468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УБИ.156</a:t>
                      </a:r>
                      <a:endParaRPr sz="800" u="none" cap="none" strike="noStrike"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31950" marB="31950" marR="31950" marL="31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Угроза утраты носителей информации</a:t>
                      </a:r>
                      <a:endParaRPr sz="800" u="none" cap="none" strike="noStrike"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31950" marB="31950" marR="31950" marL="319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168 000</a:t>
                      </a:r>
                      <a:endParaRPr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800" marB="50800" marR="50800" marL="508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120 000</a:t>
                      </a:r>
                      <a:endParaRPr sz="800" u="none" cap="none" strike="noStrike"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31950" marB="31950" marR="31950" marL="31950"/>
                </a:tc>
              </a:tr>
              <a:tr h="468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УБИ.006</a:t>
                      </a:r>
                      <a:endParaRPr sz="800" u="none" cap="none" strike="noStrike"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31950" marB="31950" marR="31950" marL="31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Угроза внедрения кода или данных</a:t>
                      </a:r>
                      <a:endParaRPr sz="800" u="none" cap="none" strike="noStrike"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31950" marB="31950" marR="31950" marL="319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326 700</a:t>
                      </a:r>
                      <a:endParaRPr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800" marB="50800" marR="50800" marL="508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280 500</a:t>
                      </a:r>
                      <a:endParaRPr sz="800" u="none" cap="none" strike="noStrike"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31950" marB="31950" marR="31950" marL="31950"/>
                </a:tc>
              </a:tr>
              <a:tr h="503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УБИ.083</a:t>
                      </a:r>
                      <a:endParaRPr sz="800" u="none" cap="none" strike="noStrike"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31950" marB="31950" marR="31950" marL="31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Угроза несанкционированного доступа к системе по беспроводным каналам</a:t>
                      </a:r>
                      <a:endParaRPr sz="800" u="none" cap="none" strike="noStrike"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31950" marB="31950" marR="31950" marL="319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298 000</a:t>
                      </a:r>
                      <a:endParaRPr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800" marB="50800" marR="50800" marL="508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190 000</a:t>
                      </a:r>
                      <a:endParaRPr sz="800" u="none" cap="none" strike="noStrike"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31950" marB="31950" marR="31950" marL="31950"/>
                </a:tc>
              </a:tr>
              <a:tr h="468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УБИ.139</a:t>
                      </a:r>
                      <a:endParaRPr sz="800" u="none" cap="none" strike="noStrike"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31950" marB="31950" marR="31950" marL="31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Угроза преодоления физической защиты</a:t>
                      </a:r>
                      <a:endParaRPr sz="800" u="none" cap="none" strike="noStrike"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31950" marB="31950" marR="31950" marL="319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250 800</a:t>
                      </a:r>
                      <a:endParaRPr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800" marB="50800" marR="50800" marL="508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187 000</a:t>
                      </a:r>
                      <a:endParaRPr sz="800" u="none" cap="none" strike="noStrike"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31950" marB="31950" marR="31950" marL="31950"/>
                </a:tc>
              </a:tr>
              <a:tr h="468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УБИ.175</a:t>
                      </a:r>
                      <a:endParaRPr sz="800" u="none" cap="none" strike="noStrike"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31950" marB="31950" marR="31950" marL="31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Угроза «фишинга»</a:t>
                      </a:r>
                      <a:endParaRPr sz="800" u="none" cap="none" strike="noStrike"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31950" marB="31950" marR="31950" marL="319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226 000</a:t>
                      </a:r>
                      <a:endParaRPr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800" marB="50800" marR="50800" marL="508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150 000</a:t>
                      </a:r>
                      <a:endParaRPr sz="800" u="none" cap="none" strike="noStrike"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31950" marB="31950" marR="31950" marL="31950"/>
                </a:tc>
              </a:tr>
              <a:tr h="479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УБИ.189</a:t>
                      </a:r>
                      <a:endParaRPr sz="800" u="none" cap="none" strike="noStrike"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31950" marB="31950" marR="31950" marL="31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Угроза маскирования действий вредоносного кода</a:t>
                      </a:r>
                      <a:endParaRPr sz="800" u="none" cap="none" strike="noStrike"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31950" marB="31950" marR="31950" marL="319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514 800</a:t>
                      </a:r>
                      <a:endParaRPr sz="8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800" marB="50800" marR="50800" marL="508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346 500</a:t>
                      </a:r>
                      <a:endParaRPr sz="800" u="none" cap="none" strike="noStrike"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31950" marB="31950" marR="31950" marL="31950"/>
                </a:tc>
              </a:tr>
              <a:tr h="277600">
                <a:tc gridSpan="2"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Итого риск</a:t>
                      </a:r>
                      <a:endParaRPr sz="800" u="none" cap="none" strike="noStrike"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31950" marB="31950" marR="31950" marL="31950"/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3 346 200</a:t>
                      </a:r>
                      <a:endParaRPr sz="800" u="none" cap="none" strike="noStrike"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31950" marB="31950" marR="31950" marL="319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2 229 500</a:t>
                      </a:r>
                      <a:endParaRPr sz="800" u="none" cap="none" strike="noStrike"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31950" marB="31950" marR="31950" marL="31950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7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"/>
              <a:buNone/>
            </a:pPr>
            <a:r>
              <a:rPr lang="en-US" sz="2800">
                <a:latin typeface="Times"/>
                <a:ea typeface="Times"/>
                <a:cs typeface="Times"/>
                <a:sym typeface="Times"/>
              </a:rPr>
              <a:t>Выводы</a:t>
            </a:r>
            <a:endParaRPr/>
          </a:p>
        </p:txBody>
      </p:sp>
      <p:sp>
        <p:nvSpPr>
          <p:cNvPr id="294" name="Google Shape;294;p17"/>
          <p:cNvSpPr txBox="1"/>
          <p:nvPr/>
        </p:nvSpPr>
        <p:spPr>
          <a:xfrm>
            <a:off x="8625841" y="4702730"/>
            <a:ext cx="4591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7"/>
          <p:cNvSpPr txBox="1"/>
          <p:nvPr/>
        </p:nvSpPr>
        <p:spPr>
          <a:xfrm>
            <a:off x="0" y="0"/>
            <a:ext cx="914400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Чу, Чан, Доан - N3447, N3446, N3445. КСЗИ для предприятия ООО «MedCare»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7"/>
          <p:cNvSpPr txBox="1"/>
          <p:nvPr/>
        </p:nvSpPr>
        <p:spPr>
          <a:xfrm>
            <a:off x="875109" y="1857732"/>
            <a:ext cx="73938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В соответствии с приведенными выше расчетами, итоговый риск снижен</a:t>
            </a:r>
            <a:r>
              <a:rPr lang="en-US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на </a:t>
            </a:r>
            <a:r>
              <a:rPr b="1" i="0" lang="en-US" sz="18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1 116 700 руб.</a:t>
            </a:r>
            <a:endParaRPr b="1" i="0" sz="1800" u="none" cap="none" strike="noStrik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На основе данных о доходах организации, приведенных в п.1.1, равными </a:t>
            </a:r>
            <a:r>
              <a:rPr b="1" i="0" lang="en-US" sz="18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3 500 000 руб./мес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, общей стоимости КСЗИ + пусконаладочные работы, указанной в п.6.6 и рассчитанной как </a:t>
            </a:r>
            <a:r>
              <a:rPr b="1" i="0" lang="en-US" sz="18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885 966 руб.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, полагаем затраты на представленную КСЗИ оправданными.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8"/>
          <p:cNvSpPr txBox="1"/>
          <p:nvPr>
            <p:ph type="title"/>
          </p:nvPr>
        </p:nvSpPr>
        <p:spPr>
          <a:xfrm>
            <a:off x="457200" y="1801813"/>
            <a:ext cx="8229600" cy="620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Times"/>
              <a:buNone/>
            </a:pPr>
            <a:r>
              <a:rPr lang="en-US" sz="4400">
                <a:latin typeface="Times"/>
                <a:ea typeface="Times"/>
                <a:cs typeface="Times"/>
                <a:sym typeface="Times"/>
              </a:rPr>
              <a:t>Спасибо</a:t>
            </a:r>
            <a:br>
              <a:rPr lang="en-US" sz="4400">
                <a:latin typeface="Times"/>
                <a:ea typeface="Times"/>
                <a:cs typeface="Times"/>
                <a:sym typeface="Times"/>
              </a:rPr>
            </a:br>
            <a:r>
              <a:rPr lang="en-US" sz="4400">
                <a:latin typeface="Times"/>
                <a:ea typeface="Times"/>
                <a:cs typeface="Times"/>
                <a:sym typeface="Times"/>
              </a:rPr>
              <a:t>за внимание!</a:t>
            </a:r>
            <a:endParaRPr sz="44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02" name="Google Shape;302;p18"/>
          <p:cNvSpPr txBox="1"/>
          <p:nvPr/>
        </p:nvSpPr>
        <p:spPr>
          <a:xfrm>
            <a:off x="5035050" y="4183950"/>
            <a:ext cx="4109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Чу Ван Доан – N3447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Чан Бао Линь – N3446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Доан Тхи Хоай Тхыонг – N3445</a:t>
            </a:r>
            <a:endParaRPr b="0" i="0" sz="1800" u="none" cap="none" strike="noStrike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2014-06-27T12:30:22Z</dcterms:created>
  <dc:creator>Al</dc:creator>
</cp:coreProperties>
</file>