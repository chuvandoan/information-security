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6858000" cx="9144000"/>
  <p:notesSz cx="7102475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hYbZ/ber4Z3DpeIIESUGXhKjTZ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EED808-36F1-42CF-AE07-91229200A0E2}">
  <a:tblStyle styleId="{68EED808-36F1-42CF-AE07-91229200A0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BD0B879-9FA9-4FFC-BD6A-A4E62F9BEDF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1247775" y="1279525"/>
            <a:ext cx="460692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0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1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1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2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2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3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3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4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24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5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5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6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26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7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27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8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8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9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9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0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30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1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31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2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32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3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33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4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34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5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35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36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36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7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37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8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38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9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39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40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40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41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41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42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42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43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43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4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44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45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45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46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46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47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47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48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48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49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p49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50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50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51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51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52:notes"/>
          <p:cNvSpPr txBox="1"/>
          <p:nvPr>
            <p:ph idx="1" type="body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52:notes"/>
          <p:cNvSpPr txBox="1"/>
          <p:nvPr>
            <p:ph idx="12" type="sldNum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3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53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4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54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5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56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7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57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5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9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59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0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60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1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61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2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62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3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63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4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64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6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текст и клип" type="txAndClipArt">
  <p:cSld name="TEXT_AND_CLIPAR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/>
          <p:nvPr>
            <p:ph idx="2" type="clipArt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6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7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7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7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p7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7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899592" y="249289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Информационная безопасность баз данных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ctrTitle"/>
          </p:nvPr>
        </p:nvSpPr>
        <p:spPr>
          <a:xfrm>
            <a:off x="614971" y="980728"/>
            <a:ext cx="7295226" cy="320688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Вид промежуточной аттестации – Диф. зачет</a:t>
            </a: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Практика (6 работ) – максимум 60 баллов за практики</a:t>
            </a: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Посещение лекций (8 лекций) – максимум 5 баллов</a:t>
            </a: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Своевременное выполнение практических работ – ( 5 бонусных баллов + 10 баллов личностные качества) – максимум 15 баллов</a:t>
            </a: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Зачет - 20 баллов</a:t>
            </a: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Формат зачета – устный зачет по списку вопросов</a:t>
            </a:r>
            <a:b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14971" y="404664"/>
            <a:ext cx="7886700" cy="378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Основная информация по дисциплине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Литература по курсу дисциплины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 flipH="1">
            <a:off x="762560" y="1437474"/>
            <a:ext cx="758712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Крёнке Д. Теория и практика построения баз данных. 8-е изд //СПб.: Питер. – 2003.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Дейт К. Д. Введение в системы баз данных, 6-е издание./Дейт К. Дж. Дейт //СПб.:«Вильямс. – 2008.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441325" y="27463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Содержание дисциплины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17" name="Google Shape;117;p4"/>
          <p:cNvSpPr txBox="1"/>
          <p:nvPr/>
        </p:nvSpPr>
        <p:spPr>
          <a:xfrm flipH="1">
            <a:off x="441324" y="980728"/>
            <a:ext cx="8379147" cy="5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ANSI/SPARC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Реляционная модель БД. Операции реляционной алгебры: объединение, пересечение, разность и декартово произведение отношений. Индексирование: понятие индекса, типы индексных файлов. Создание, активация и удаление индекса.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Выборка данных. Сортировка, поиск, фильтрация данных и навигация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 механизмов обеспечения целостности БД.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виды угроз в СУБД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 представления данных (инфологический, даталогический и физический уровни);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Подходы к моделированию данных (плоская, иерархическая, сетевая модель, модель сущность-связь, реляционная модель)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 первичного ключа в реляционной модели базы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Правила и условия контроля целостности в реляционной модели базы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Транзакции. Свойства транзакций (атомарность, консистентность, изолированность и устойчивость)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Аномалии при выполнении транзакции (Потерянное обновление, «Грязное» чтение, Неповторяющееся чтение, Фантомное чтение)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Уровни изоляции транзакции (Чтение неподтверждённых данных, Чтение подтверждённых данных, Повторяющееся чтение, Снимок, Сериализация)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Нормализация и нормальные формы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 управления доступом. Способы реализации контроля доступа к БД.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Синтаксис по разграничению доступа к объектам с помощью команды Методы аутентификации и способы хранения аутентификационных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Журналы транзакций. Типы журнальных записей.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Стратегии ведения журнала транзакций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Аудит событий СУБД. Какие события важны с точки зрения ИБ.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Особенности криптографической защиты в СУБД. Перечислите основные подходы к шифрованию в распределенных СУБД.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Шифрование на уровне устройств хранения информации.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457200" y="274638"/>
            <a:ext cx="8229600" cy="73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 u="sng"/>
              <a:t>Неструктурированная информация.</a:t>
            </a:r>
            <a:br>
              <a:rPr lang="ru-RU" sz="4000" u="sng"/>
            </a:br>
            <a:r>
              <a:rPr lang="ru-RU" sz="4000" u="sng"/>
              <a:t>Системы обработки и хранения файлов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609589" y="1484784"/>
            <a:ext cx="792088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Ограничения систем обработки и хранения файлов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разделение и изоляция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дублирование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зависимость от данных и программ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физическая структура и способы хранения записей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несовместимость файлов (форматов)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фиксированные запросы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09589" y="3717032"/>
            <a:ext cx="678875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Достоинства систем обработки файлов: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обеспечение эффективного доступа к файлам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 носителей данных большого объема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 от несанкционированного доступа к данным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сохранение целостности данных (восстановление данных, отсутствие нарушений согласованности данных)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441325" y="23533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 u="sng"/>
              <a:t>БД и СУБД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199" y="1736046"/>
            <a:ext cx="81978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это программное обеспечение, с помощью которого пользователи могут определять, создавать и поддерживать базу данных, а также осуществлять к ней контролируемый доступ.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2780928"/>
            <a:ext cx="82296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 функций СУБД: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вставлять, обновлять, удалять и извлекать информацию из базы данных, что обычно осуществляется с помощью языка управления данными (DML).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предоставляет контролируемый доступ к базе данных с помощью: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58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а) системы обеспечения безопасности, предотвращающей несанкционированный доступ к базе данных со стороны пользователей;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58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б) системы управления параллельной работой приложений, контролирующей процессы их совместного доступа к базе данных;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58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в) системы восстановления, позволяющей восстановить базу данных до предыдущего непротиворечивого состояния, нарушенного в результате сбоя аппаратного или программного обеспечения;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958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г) системы поддержки целостности данных, обеспечивающей непротиворечивое состояние хранимых данных; 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41325" y="812716"/>
            <a:ext cx="80932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данных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набор совместно используемых логически связанных данных, сопровождаемый описанием этих данных, предназначенный для удовлетворения информационных потребностей групп пользователей.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 u="sng"/>
              <a:t>Структурированная информация.</a:t>
            </a:r>
            <a:br>
              <a:rPr lang="ru-RU" sz="4000" u="sng"/>
            </a:br>
            <a:r>
              <a:rPr lang="ru-RU" sz="4000" u="sng"/>
              <a:t>Достоинства и недостатки БД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595685" y="1700808"/>
            <a:ext cx="792088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Достоинства: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контроль за избыточностью данных,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непротиворечивость данных,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больше полезной информации про том же объеме,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совместное использование данных,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отсутствие конфликтов,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6) повышенная безопасность,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7) стандартизация,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8) повышение эффективности с ростом масштабов,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9) удобство для конечных пользователей,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10) упрощение сопровождения системы,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11) улучшенное управление параллельностью,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12) службы резервного копирования/восстановления.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611560" y="1628800"/>
            <a:ext cx="4572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Недостатки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сложность системы,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размер,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стоимость,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затраты на аппаратное обеспечение,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затраты на преобразование,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6) производительность,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7) проблемы в случае сбоя.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 u="sng"/>
              <a:t>Структурированная информация.</a:t>
            </a:r>
            <a:br>
              <a:rPr lang="ru-RU" sz="4000" u="sng"/>
            </a:br>
            <a:r>
              <a:rPr lang="ru-RU" sz="4000" u="sng"/>
              <a:t>Достоинства и недостатки БД</a:t>
            </a:r>
            <a:endParaRPr sz="40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u="sng"/>
              <a:t>Архитектура ANSI/SPARC</a:t>
            </a:r>
            <a:r>
              <a:rPr lang="ru-RU"/>
              <a:t> 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611560" y="1493838"/>
            <a:ext cx="79209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Включает 3 уровня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b="0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b="0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b="0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Концептуальный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u="sng">
                <a:solidFill>
                  <a:schemeClr val="dk1"/>
                </a:solidFill>
              </a:rPr>
              <a:t>Логическая архитектура СУБД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3640684" y="4115294"/>
            <a:ext cx="1944216" cy="504056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Концептуальная схема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2034143" y="2595536"/>
            <a:ext cx="1944216" cy="504056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Внешняя схема 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0"/>
          <p:cNvCxnSpPr>
            <a:stCxn id="157" idx="2"/>
            <a:endCxn id="156" idx="0"/>
          </p:cNvCxnSpPr>
          <p:nvPr/>
        </p:nvCxnSpPr>
        <p:spPr>
          <a:xfrm>
            <a:off x="3006251" y="3099592"/>
            <a:ext cx="1606500" cy="101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sp>
        <p:nvSpPr>
          <p:cNvPr id="159" name="Google Shape;159;p10"/>
          <p:cNvSpPr/>
          <p:nvPr/>
        </p:nvSpPr>
        <p:spPr>
          <a:xfrm>
            <a:off x="5322097" y="2595536"/>
            <a:ext cx="1944216" cy="504056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Внешняя схема 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936278" y="1318296"/>
            <a:ext cx="1112972" cy="878598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А1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676498" y="1318296"/>
            <a:ext cx="1112972" cy="878598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А2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419334" y="1297883"/>
            <a:ext cx="1112972" cy="878598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В1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159554" y="1297883"/>
            <a:ext cx="1112972" cy="878598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В2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020272" y="3544211"/>
            <a:ext cx="1938756" cy="1441679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Система управления базами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334406" y="5398585"/>
            <a:ext cx="6556773" cy="113842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815681" y="5693768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2460474" y="5710795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131532" y="5694788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758520" y="5710795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404630" y="5693768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046949" y="5710795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674140" y="5710795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329965" y="5710795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7008740" y="5693768"/>
            <a:ext cx="432048" cy="576064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3137885" y="5797248"/>
            <a:ext cx="38694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Внутреннее представление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0"/>
          <p:cNvCxnSpPr/>
          <p:nvPr/>
        </p:nvCxnSpPr>
        <p:spPr>
          <a:xfrm>
            <a:off x="936278" y="3374567"/>
            <a:ext cx="639946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77" name="Google Shape;177;p10"/>
          <p:cNvCxnSpPr/>
          <p:nvPr/>
        </p:nvCxnSpPr>
        <p:spPr>
          <a:xfrm>
            <a:off x="936278" y="5097199"/>
            <a:ext cx="639946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sp>
        <p:nvSpPr>
          <p:cNvPr id="178" name="Google Shape;178;p10"/>
          <p:cNvSpPr txBox="1"/>
          <p:nvPr/>
        </p:nvSpPr>
        <p:spPr>
          <a:xfrm>
            <a:off x="0" y="2655006"/>
            <a:ext cx="12448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Внешний уровень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8188" y="3959915"/>
            <a:ext cx="18601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Концептуальный уровень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-1" y="5352496"/>
            <a:ext cx="14703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Внутренний уровень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0"/>
          <p:cNvCxnSpPr>
            <a:stCxn id="156" idx="0"/>
            <a:endCxn id="159" idx="2"/>
          </p:cNvCxnSpPr>
          <p:nvPr/>
        </p:nvCxnSpPr>
        <p:spPr>
          <a:xfrm flipH="1" rot="10800000">
            <a:off x="4612792" y="3099494"/>
            <a:ext cx="1681500" cy="101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2" name="Google Shape;182;p10"/>
          <p:cNvCxnSpPr>
            <a:stCxn id="165" idx="0"/>
            <a:endCxn id="156" idx="2"/>
          </p:cNvCxnSpPr>
          <p:nvPr/>
        </p:nvCxnSpPr>
        <p:spPr>
          <a:xfrm rot="10800000">
            <a:off x="4612793" y="4619485"/>
            <a:ext cx="0" cy="77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3" name="Google Shape;183;p10"/>
          <p:cNvCxnSpPr>
            <a:stCxn id="160" idx="2"/>
            <a:endCxn id="157" idx="0"/>
          </p:cNvCxnSpPr>
          <p:nvPr/>
        </p:nvCxnSpPr>
        <p:spPr>
          <a:xfrm>
            <a:off x="1492764" y="2196894"/>
            <a:ext cx="1513500" cy="39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4" name="Google Shape;184;p10"/>
          <p:cNvCxnSpPr>
            <a:stCxn id="161" idx="2"/>
            <a:endCxn id="157" idx="0"/>
          </p:cNvCxnSpPr>
          <p:nvPr/>
        </p:nvCxnSpPr>
        <p:spPr>
          <a:xfrm flipH="1">
            <a:off x="3006184" y="2196894"/>
            <a:ext cx="226800" cy="39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5" name="Google Shape;185;p10"/>
          <p:cNvCxnSpPr>
            <a:stCxn id="162" idx="2"/>
            <a:endCxn id="159" idx="0"/>
          </p:cNvCxnSpPr>
          <p:nvPr/>
        </p:nvCxnSpPr>
        <p:spPr>
          <a:xfrm>
            <a:off x="4975820" y="2176481"/>
            <a:ext cx="1318500" cy="41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6" name="Google Shape;186;p10"/>
          <p:cNvCxnSpPr>
            <a:stCxn id="163" idx="2"/>
            <a:endCxn id="159" idx="0"/>
          </p:cNvCxnSpPr>
          <p:nvPr/>
        </p:nvCxnSpPr>
        <p:spPr>
          <a:xfrm flipH="1">
            <a:off x="6294240" y="2176481"/>
            <a:ext cx="421800" cy="41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7" name="Google Shape;187;p10"/>
          <p:cNvCxnSpPr>
            <a:stCxn id="164" idx="0"/>
          </p:cNvCxnSpPr>
          <p:nvPr/>
        </p:nvCxnSpPr>
        <p:spPr>
          <a:xfrm rot="10800000">
            <a:off x="7440650" y="3099611"/>
            <a:ext cx="549000" cy="44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8" name="Google Shape;188;p10"/>
          <p:cNvCxnSpPr>
            <a:stCxn id="164" idx="2"/>
          </p:cNvCxnSpPr>
          <p:nvPr/>
        </p:nvCxnSpPr>
        <p:spPr>
          <a:xfrm rot="10800000">
            <a:off x="6505172" y="4265051"/>
            <a:ext cx="5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89" name="Google Shape;189;p10"/>
          <p:cNvCxnSpPr>
            <a:stCxn id="164" idx="4"/>
          </p:cNvCxnSpPr>
          <p:nvPr/>
        </p:nvCxnSpPr>
        <p:spPr>
          <a:xfrm flipH="1">
            <a:off x="7335650" y="4985890"/>
            <a:ext cx="654000" cy="30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type="title"/>
          </p:nvPr>
        </p:nvSpPr>
        <p:spPr>
          <a:xfrm>
            <a:off x="457200" y="188640"/>
            <a:ext cx="8229600" cy="89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u="sng">
                <a:solidFill>
                  <a:schemeClr val="dk1"/>
                </a:solidFill>
              </a:rPr>
              <a:t>Окружение СУБД</a:t>
            </a:r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755575" y="1196752"/>
            <a:ext cx="79152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1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Самодокументированное собрание интегрированных записей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1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Администратор баз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Группа лиц, выполняющих задачи по администрированию БД, резервному копированию, управлению данными, работой со схемой БД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1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Прикладные программисты, конечные пользователи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1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Язык SQL</a:t>
            </a:r>
            <a:endParaRPr b="0" i="1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Язык манипулирования данными в базе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u="sng">
                <a:solidFill>
                  <a:schemeClr val="dk1"/>
                </a:solidFill>
              </a:rPr>
              <a:t>Архитектура клиент-сервер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755576" y="1417638"/>
            <a:ext cx="691276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Сервер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Клиент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2843808" y="5085184"/>
            <a:ext cx="3240360" cy="1512168"/>
          </a:xfrm>
          <a:prstGeom prst="flowChartMagneticDisk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2843808" y="3883695"/>
            <a:ext cx="3240360" cy="864096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СУБД (сервер)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2843808" y="2588031"/>
            <a:ext cx="3240360" cy="864096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Приложения (клиенты)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815916" y="1332194"/>
            <a:ext cx="1296144" cy="976933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2"/>
          <p:cNvCxnSpPr>
            <a:stCxn id="204" idx="0"/>
            <a:endCxn id="205" idx="4"/>
          </p:cNvCxnSpPr>
          <p:nvPr/>
        </p:nvCxnSpPr>
        <p:spPr>
          <a:xfrm rot="10800000">
            <a:off x="4463988" y="2309031"/>
            <a:ext cx="0" cy="27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207" name="Google Shape;207;p12"/>
          <p:cNvCxnSpPr>
            <a:stCxn id="203" idx="0"/>
            <a:endCxn id="204" idx="2"/>
          </p:cNvCxnSpPr>
          <p:nvPr/>
        </p:nvCxnSpPr>
        <p:spPr>
          <a:xfrm rot="10800000">
            <a:off x="4463988" y="3451995"/>
            <a:ext cx="0" cy="43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208" name="Google Shape;208;p12"/>
          <p:cNvCxnSpPr>
            <a:stCxn id="202" idx="1"/>
            <a:endCxn id="203" idx="2"/>
          </p:cNvCxnSpPr>
          <p:nvPr/>
        </p:nvCxnSpPr>
        <p:spPr>
          <a:xfrm rot="10800000">
            <a:off x="4463988" y="4747684"/>
            <a:ext cx="0" cy="33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>
            <p:ph type="title"/>
          </p:nvPr>
        </p:nvSpPr>
        <p:spPr>
          <a:xfrm>
            <a:off x="441325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 u="sng"/>
              <a:t>Основные термины из реляционных БД</a:t>
            </a:r>
            <a:endParaRPr sz="4000" u="sng">
              <a:solidFill>
                <a:schemeClr val="dk1"/>
              </a:solidFill>
            </a:endParaRPr>
          </a:p>
        </p:txBody>
      </p:sp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636" y="1268760"/>
            <a:ext cx="6552728" cy="4848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u="sng">
                <a:solidFill>
                  <a:schemeClr val="dk1"/>
                </a:solidFill>
              </a:rPr>
              <a:t>Реляционная модель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892351" y="4509120"/>
            <a:ext cx="6912768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отношения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Ячейки содержат одиночные значения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Все записи в одном атрибуте должны иметь один и тот же тип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Каждый столбец имеет уникальное имя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Не должно быть одинаковых строк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1" name="Google Shape;221;p14"/>
          <p:cNvGraphicFramePr/>
          <p:nvPr/>
        </p:nvGraphicFramePr>
        <p:xfrm>
          <a:off x="1508125" y="255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{68EED808-36F1-42CF-AE07-91229200A0E2}</a:tableStyleId>
              </a:tblPr>
              <a:tblGrid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Реляционная модель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Программист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Пользователь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Отношение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Файл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Таблица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Кортеж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Запись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Строка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Атрибут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Поле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Столбец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2" name="Google Shape;222;p14"/>
          <p:cNvSpPr txBox="1"/>
          <p:nvPr/>
        </p:nvSpPr>
        <p:spPr>
          <a:xfrm>
            <a:off x="907976" y="1321118"/>
            <a:ext cx="691276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Отношения ( двумерная таблица)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Кортежи ( строки таблицы)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ru-RU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Атрибуты ( столбцы строк)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u="sng">
                <a:solidFill>
                  <a:schemeClr val="dk1"/>
                </a:solidFill>
              </a:rPr>
              <a:t>Пример БД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899592" y="1268760"/>
            <a:ext cx="763284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 состоит из: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Данные пользователя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Метаданные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Индексы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Метаданные приложений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обработки баз данных используется СУБД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15"/>
          <p:cNvGraphicFramePr/>
          <p:nvPr/>
        </p:nvGraphicFramePr>
        <p:xfrm>
          <a:off x="899592" y="33671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{68EED808-36F1-42CF-AE07-91229200A0E2}</a:tableStyleId>
              </a:tblPr>
              <a:tblGrid>
                <a:gridCol w="2032000"/>
                <a:gridCol w="2032000"/>
                <a:gridCol w="227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студента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Наз исследования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руководителя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Иванов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Безопасность ОС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Федоров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Петров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Криптография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Никитин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Сидоров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Безопасность БД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Никитин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Кузнецов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Защита программ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Федоров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0" name="Google Shape;230;p15"/>
          <p:cNvGraphicFramePr/>
          <p:nvPr/>
        </p:nvGraphicFramePr>
        <p:xfrm>
          <a:off x="899592" y="5445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{68EED808-36F1-42CF-AE07-91229200A0E2}</a:tableStyleId>
              </a:tblPr>
              <a:tblGrid>
                <a:gridCol w="3168350"/>
                <a:gridCol w="3168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руководителя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Должность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Федоров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Доцент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Никитин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Профессор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>
            <p:ph type="title"/>
          </p:nvPr>
        </p:nvSpPr>
        <p:spPr>
          <a:xfrm>
            <a:off x="441325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u="sng">
                <a:solidFill>
                  <a:schemeClr val="dk1"/>
                </a:solidFill>
              </a:rPr>
              <a:t>Пример БД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899592" y="1268760"/>
            <a:ext cx="76328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Метаданные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7" name="Google Shape;237;p16"/>
          <p:cNvGraphicFramePr/>
          <p:nvPr/>
        </p:nvGraphicFramePr>
        <p:xfrm>
          <a:off x="899592" y="1705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{68EED808-36F1-42CF-AE07-91229200A0E2}</a:tableStyleId>
              </a:tblPr>
              <a:tblGrid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столбца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таблицы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Тип данных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Студента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Студент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Наз исследования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Студент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руководителя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Студент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руководителя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Руководитель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Должность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Руководитель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Наз дисциплины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Дисциплина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Преподаватель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Дисциплина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Text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8" name="Google Shape;238;p16"/>
          <p:cNvGraphicFramePr/>
          <p:nvPr/>
        </p:nvGraphicFramePr>
        <p:xfrm>
          <a:off x="899592" y="4869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{68EED808-36F1-42CF-AE07-91229200A0E2}</a:tableStyleId>
              </a:tblPr>
              <a:tblGrid>
                <a:gridCol w="2032000"/>
                <a:gridCol w="2032000"/>
                <a:gridCol w="2032000"/>
              </a:tblGrid>
              <a:tr h="15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таблицы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Число столбцов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Первичный ключ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Студент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студента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Руководитель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Имя руководителя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Дисциплина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Название дисципл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/>
        </p:nvSpPr>
        <p:spPr>
          <a:xfrm>
            <a:off x="838200" y="2282825"/>
            <a:ext cx="7772400" cy="220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Защита информации в системах управления базами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Лекция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Модели представления данных</a:t>
            </a:r>
            <a:endParaRPr/>
          </a:p>
        </p:txBody>
      </p:sp>
      <p:sp>
        <p:nvSpPr>
          <p:cNvPr id="249" name="Google Shape;249;p18"/>
          <p:cNvSpPr txBox="1"/>
          <p:nvPr>
            <p:ph idx="1" type="body"/>
          </p:nvPr>
        </p:nvSpPr>
        <p:spPr>
          <a:xfrm>
            <a:off x="311700" y="932578"/>
            <a:ext cx="8520600" cy="26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ru-RU" sz="1800"/>
              <a:t>Модель данных</a:t>
            </a:r>
            <a:r>
              <a:rPr lang="ru-RU" sz="1800"/>
              <a:t> - абстракция, которая по отношению к некоторым данным позволяет позволяет воспринимать их уже как сведения учитывающие сами данные и их логические взаимодействия.</a:t>
            </a:r>
            <a:endParaRPr sz="1800"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/>
              <a:t>Все модели можно разделить на 3 группы:</a:t>
            </a:r>
            <a:endParaRPr sz="1800"/>
          </a:p>
          <a:p>
            <a:pPr indent="-3429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-RU" sz="1800"/>
              <a:t>Инфологические;</a:t>
            </a:r>
            <a:endParaRPr sz="1800"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-RU" sz="1800"/>
              <a:t>Концептуальные (даталогические или логические);</a:t>
            </a:r>
            <a:endParaRPr sz="1800"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-RU" sz="1800"/>
              <a:t>Физические.</a:t>
            </a:r>
            <a:endParaRPr sz="1800"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250" name="Google Shape;250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626" y="3315053"/>
            <a:ext cx="5050434" cy="3124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258" name="Google Shape;258;p1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Модели инфологического уровня</a:t>
            </a:r>
            <a:endParaRPr b="1" i="0" sz="1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259266" y="1154691"/>
            <a:ext cx="8501151" cy="36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Представляет собой сведения о предметной области в естественной форме и удобной для восприятия.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Используется на ранних стадиях проектирования для описания структуры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 ним относятся: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диаграммы Бахмана;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ER-диаграммы (диаграммы “сущность - связь”).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301976" y="305041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Инфологический уровень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268" name="Google Shape;268;p2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43899" y="46620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 даталогического и физического уровня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91742" y="1018501"/>
            <a:ext cx="8360515" cy="145854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 даталогического уровня зависят от СУБД и делятся на 2 вида: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Документальные;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Фактографические.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43899" y="2756962"/>
            <a:ext cx="8595968" cy="19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 физического уровня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Модели, основанные на файловых структурах;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Модели, основанные на странично-сегментной организации внешней памяти.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278" name="Google Shape;278;p2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77074" y="83242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базам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392279" y="1734850"/>
            <a:ext cx="8414837" cy="145652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адекватность предметной области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удобство использования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производительность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защищенность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287" name="Google Shape;287;p2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577075" y="52865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Моделирование данных 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577075" y="1018501"/>
            <a:ext cx="8154608" cy="311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Моделирование включает в себя опрос пользователей, документирование требований и построение модели данных и прототипов на основе этих требований. Это процесс создания логического представления структуры базы данных.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Подходы к моделированию данных: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Плоская модель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Иерархическая модель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Сетевая модель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Модель «сущность-связь»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Реляционная модель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77074" y="78461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Плоская модель базы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236" y="1486276"/>
            <a:ext cx="4503528" cy="224031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861718" y="4109288"/>
            <a:ext cx="7567863" cy="9694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один двумерный массив элементов данных, где все члены данного столбца считаются одинаковыми значениями, и предполагается, что все члены строки связаны друг с другом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06" name="Google Shape;306;p2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577074" y="88231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Иерархическая модель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76" y="1700017"/>
            <a:ext cx="7343447" cy="3102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15" name="Google Shape;315;p2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577074" y="49767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Сетевая модель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7691" y="866542"/>
            <a:ext cx="4128618" cy="404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24" name="Google Shape;324;p2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01829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Реляционный подход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338206" y="1734850"/>
            <a:ext cx="8228279" cy="46253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Реляционный - от слова “relation” - отношение (между информационными объектами). Отношение (таблица) - динамическая модель некоторого реального объекта внешнего мира.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338205" y="2830430"/>
            <a:ext cx="8501151" cy="24353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Реляционную модель условно можно разделить на три части: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Целостная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Манипуляционная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34" name="Google Shape;334;p2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446218" y="85094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Структурная часть реляционной модели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530" y="1580694"/>
            <a:ext cx="6281906" cy="4153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43" name="Google Shape;343;p2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357441" y="101850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Функции первичного ключа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 txBox="1"/>
          <p:nvPr/>
        </p:nvSpPr>
        <p:spPr>
          <a:xfrm>
            <a:off x="259266" y="1583363"/>
            <a:ext cx="8688367" cy="36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57175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исключение дублирующих данных;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упорядочивание кортежей для ускорения работы с данными (индексирование);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организация связей между отношениями.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Установка связей между отношениями в реляционной модели осуществляется с помощью внешних ключей.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52" name="Google Shape;352;p2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335703" y="122714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Функции внешнего ключа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259266" y="1670014"/>
            <a:ext cx="8688367" cy="84759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реляционной модели, первичный ключ главного отношения должен присутствовать, в качестве внешнего ключа, в подчиненном отношении.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" name="Google Shape;355;p29"/>
          <p:cNvGraphicFramePr/>
          <p:nvPr/>
        </p:nvGraphicFramePr>
        <p:xfrm>
          <a:off x="854283" y="3187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08400"/>
                <a:gridCol w="1402425"/>
                <a:gridCol w="918425"/>
              </a:tblGrid>
              <a:tr h="2786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Книги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4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№ книги *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Название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Автор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Математика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Математика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3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Физика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6" name="Google Shape;356;p29"/>
          <p:cNvGraphicFramePr/>
          <p:nvPr/>
        </p:nvGraphicFramePr>
        <p:xfrm>
          <a:off x="5208061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925750"/>
                <a:gridCol w="1515200"/>
              </a:tblGrid>
              <a:tr h="2786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Авторы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№ автора *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ru-RU" sz="1500" u="none" cap="none" strike="noStrike"/>
                        <a:t>ФИО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Эйнштейн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ru-RU" sz="1500" u="none" cap="none" strike="noStrike"/>
                        <a:t>Пифагор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57" name="Google Shape;357;p29"/>
          <p:cNvCxnSpPr/>
          <p:nvPr/>
        </p:nvCxnSpPr>
        <p:spPr>
          <a:xfrm rot="10800000">
            <a:off x="3657600" y="3764100"/>
            <a:ext cx="1552749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29"/>
          <p:cNvSpPr txBox="1"/>
          <p:nvPr/>
        </p:nvSpPr>
        <p:spPr>
          <a:xfrm>
            <a:off x="3978361" y="3306367"/>
            <a:ext cx="1634210" cy="33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ru-RU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Публикует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65" name="Google Shape;365;p3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561626" y="110429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вида реляционных связей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561627" y="1734851"/>
            <a:ext cx="3321896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- 1:М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М:М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Связь 1:1 или М:М устанавливается, когда невозможно выделить главное или подчиненное отношение.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Связь М:М характеризуется как слабый тип связи или ее отсутствие.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3523" y="1706750"/>
            <a:ext cx="5038619" cy="381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75" name="Google Shape;375;p3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577074" y="115469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Связь M:M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003" y="1734851"/>
            <a:ext cx="7167994" cy="362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84" name="Google Shape;384;p3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326174" y="115469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Целостность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326174" y="1575433"/>
            <a:ext cx="8453025" cy="140795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Примеры нарушений целостности данных: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существование записей-сирот (дочерних записей, не имеющих связи с родительскими записями);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существование одинаковых первичных ключей.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2194" y="2911341"/>
            <a:ext cx="4339613" cy="3037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394" name="Google Shape;394;p3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326173" y="115469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Реляционная алгебра в моделях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326173" y="1734851"/>
            <a:ext cx="8440994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Реляционная алгебра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(РА) - множество реляционных объектов с данной совокупностью применимых к ним операций.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Базовый вариант РА включает в себя 8 основных операций над отношениями, делящиеся на 2 группы: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Теоретико-множественные (объединение, вычитание, пересечение, произведение);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Специальные реляционные операции (выборка, проекция, деление, соединение) - развитие обычных теоретико-множественных операций, применительно к конкретным задачам манипулирования данными.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03" name="Google Shape;403;p3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373116" y="122267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Объединение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59266" y="1734851"/>
            <a:ext cx="8662876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Объединением 2-ух совместимых отношений R1 и R2 одинаковой размерности (R1 UNION R2) является отношение R, содержащее все элементы исходных отношений.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5" y="3227237"/>
            <a:ext cx="1997684" cy="12792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7" name="Google Shape;407;p34"/>
          <p:cNvGraphicFramePr/>
          <p:nvPr/>
        </p:nvGraphicFramePr>
        <p:xfrm>
          <a:off x="3039995" y="3045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810550"/>
                <a:gridCol w="694800"/>
              </a:tblGrid>
              <a:tr h="2064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ru-RU" sz="1100" u="none" cap="none" strike="noStrike"/>
                        <a:t>Новости</a:t>
                      </a:r>
                      <a:endParaRPr b="1"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ru-RU" sz="1100" u="none" cap="none" strike="noStrike"/>
                        <a:t>Заголовок</a:t>
                      </a:r>
                      <a:endParaRPr b="1"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ru-RU" sz="1100" u="none" cap="none" strike="noStrike"/>
                        <a:t>Превью</a:t>
                      </a:r>
                      <a:endParaRPr b="1"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ru-RU" sz="1100" u="none" cap="none" strike="noStrike"/>
                        <a:t>Заголовок 1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ru-RU" sz="1100" u="none" cap="none" strike="noStrike"/>
                        <a:t>Превью 1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ru-RU" sz="1100" u="none" cap="none" strike="noStrike"/>
                        <a:t>Заголовок 2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ru-RU" sz="1100" u="none" cap="none" strike="noStrike"/>
                        <a:t>Превью 2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ru-RU" sz="1100" u="none" cap="none" strike="noStrike"/>
                        <a:t>Заголовок 3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ru-RU" sz="1100" u="none" cap="none" strike="noStrike"/>
                        <a:t>Превью 3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8" name="Google Shape;408;p34"/>
          <p:cNvGraphicFramePr/>
          <p:nvPr/>
        </p:nvGraphicFramePr>
        <p:xfrm>
          <a:off x="4969233" y="3227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502625"/>
                <a:gridCol w="597475"/>
              </a:tblGrid>
              <a:tr h="2000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-RU" sz="1000" u="none" cap="none" strike="noStrike"/>
                        <a:t>Пользователи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-RU" sz="1000" u="none" cap="none" strike="noStrike"/>
                        <a:t>Логин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-RU" sz="1000" u="none" cap="none" strike="noStrike"/>
                        <a:t>Пароль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Логин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Пароль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Логин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Пароль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Логин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Пароль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9" name="Google Shape;409;p34"/>
          <p:cNvGraphicFramePr/>
          <p:nvPr/>
        </p:nvGraphicFramePr>
        <p:xfrm>
          <a:off x="6782730" y="30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87050"/>
                <a:gridCol w="718300"/>
              </a:tblGrid>
              <a:tr h="3653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-RU" sz="1000" u="none" cap="none" strike="noStrike"/>
                        <a:t>Новости UNION Пользователи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-RU" sz="1000" u="none" cap="none" strike="noStrike"/>
                        <a:t>Заголовок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-RU" sz="1000" u="none" cap="none" strike="noStrike"/>
                        <a:t>Превью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Заголовок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Превью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Заголовок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Превью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Заголовок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Превью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Логин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Пароль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Логин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Пароль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Логин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ru-RU" sz="1000" u="none" cap="none" strike="noStrike"/>
                        <a:t>Пароль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16" name="Google Shape;416;p3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414248" y="125988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Вычитание (разность)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414248" y="1773644"/>
            <a:ext cx="8404899" cy="367104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Вычитанием двух совместимых отношений R1 и R2 одинаковой размерности (R1 MINUS R2) является отношение R, тело которого состоит из множества кортежей, принадлежащих R1, но не принадлежащих R2.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8801" y="3167314"/>
            <a:ext cx="3366398" cy="218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26" name="Google Shape;426;p3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27" name="Google Shape;427;p36"/>
          <p:cNvSpPr txBox="1"/>
          <p:nvPr/>
        </p:nvSpPr>
        <p:spPr>
          <a:xfrm>
            <a:off x="326174" y="12281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Пересечение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326174" y="1710083"/>
            <a:ext cx="8525215" cy="36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Пересечение двух совместимых отношений R1 и R2 одинаковой размерности (R1 INSERT R2) порождает отношение R с телом, включающим в себя кортежи принадлежащие одновременно двум отношениям.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9014" y="2959199"/>
            <a:ext cx="4002979" cy="2442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36" name="Google Shape;436;p3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37" name="Google Shape;437;p37"/>
          <p:cNvSpPr txBox="1"/>
          <p:nvPr/>
        </p:nvSpPr>
        <p:spPr>
          <a:xfrm>
            <a:off x="428462" y="123345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Правила контроля целостности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7"/>
          <p:cNvSpPr txBox="1"/>
          <p:nvPr/>
        </p:nvSpPr>
        <p:spPr>
          <a:xfrm>
            <a:off x="259267" y="1720800"/>
            <a:ext cx="8513183" cy="19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Каждой записи главной таблице соответствует &gt;= 0 записей подчиненной таблицы;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подчиненной таблице нет записей не имеющих родительской записи в главной таблице;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Каждая запись подчиненной таблицы имеет только 1 запись главной таблицы.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45" name="Google Shape;445;p3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577074" y="124048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Условие сохранения целостности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421105" y="1734851"/>
            <a:ext cx="8085221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Данные вводятся сначала в главную таблицу, потом - в подчиненную.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Запрещен ввод в поле связи в подчиненной таблице значений не совпадающих ни с одним значением поля связи главной таблицы.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Редактировать поля связи главной таблицы разрешено только если у этой записи нет подчиненных. Либо оно должно производиться каскадно - в главной и подчиненной таблице одновременно.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Можно удалять те записи главной таблицы, у которых нет подчиненных. Либо необходимо производить каскадное удаление.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54" name="Google Shape;454;p3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375196" y="123345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Избыточность. Аномалии операций с данными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259267" y="1720800"/>
            <a:ext cx="8513183" cy="19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Виды аномалий операций с данными: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Аномалия вставки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Аномалия удаления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Аномалия обновления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Аномалия выборки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63" name="Google Shape;463;p4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64" name="Google Shape;464;p40"/>
          <p:cNvSpPr txBox="1"/>
          <p:nvPr/>
        </p:nvSpPr>
        <p:spPr>
          <a:xfrm>
            <a:off x="499483" y="101850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Аномалия удаления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605" y="1564107"/>
            <a:ext cx="7158791" cy="398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72" name="Google Shape;472;p4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73" name="Google Shape;473;p41"/>
          <p:cNvSpPr txBox="1"/>
          <p:nvPr/>
        </p:nvSpPr>
        <p:spPr>
          <a:xfrm>
            <a:off x="279973" y="123386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Метод нормальных форм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 txBox="1"/>
          <p:nvPr/>
        </p:nvSpPr>
        <p:spPr>
          <a:xfrm>
            <a:off x="233775" y="1721606"/>
            <a:ext cx="8525215" cy="3782478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Классический метод проектирования реляционных баз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Основан на анализе </a:t>
            </a: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функциональных зависимостей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(ФЗ) между атрибутами отношений.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Функциональные зависимости описывают устойчивые отношения между объектами и их свойствами в рассматриваемой предметной области.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279973" y="3760755"/>
            <a:ext cx="8432816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Атрибут В </a:t>
            </a: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функционально зависит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от атрибута А (</a:t>
            </a: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 -&gt; В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если каждому значению А соответствует в точности одно значение В. То есть, во всех кортежах с одинаковым значением А, В будет также иметь одно и то же значение. А и В </a:t>
            </a:r>
            <a:r>
              <a:rPr b="0" i="0" lang="ru-RU" sz="2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могут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состоять из &gt;=2 атрибутов, то есть быть составными.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82" name="Google Shape;482;p4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577074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Нормальные формы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4" name="Google Shape;4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856" y="1556961"/>
            <a:ext cx="6762289" cy="4443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491" name="Google Shape;491;p4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92" name="Google Shape;492;p43"/>
          <p:cNvSpPr txBox="1"/>
          <p:nvPr/>
        </p:nvSpPr>
        <p:spPr>
          <a:xfrm>
            <a:off x="506053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1НФ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3"/>
          <p:cNvSpPr txBox="1"/>
          <p:nvPr/>
        </p:nvSpPr>
        <p:spPr>
          <a:xfrm>
            <a:off x="326174" y="1630021"/>
            <a:ext cx="8356772" cy="22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1: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отношение находится в 1НФ, если все его атрибуты являются простыми (имеют единственное значение). Исходное отношение всегда находится в 1НФ.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Переменная отношения находится в первой нормальной форме тогда и только тогда, когда в любом допустимом значении отношения каждый его кортеж содержит только одно значение для каждого из атрибутов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" name="Google Shape;494;p43"/>
          <p:cNvGraphicFramePr/>
          <p:nvPr/>
        </p:nvGraphicFramePr>
        <p:xfrm>
          <a:off x="1453219" y="4240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985850"/>
                <a:gridCol w="1321600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Номер телефона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283-56-82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390-57-34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 П. П.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708-62-34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5" name="Google Shape;495;p43"/>
          <p:cNvGraphicFramePr/>
          <p:nvPr/>
        </p:nvGraphicFramePr>
        <p:xfrm>
          <a:off x="4572000" y="4221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1000125"/>
                <a:gridCol w="12858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Номер телефона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283-56-82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390-57-34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 П. П.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708-62-34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6" name="Google Shape;496;p43"/>
          <p:cNvSpPr txBox="1"/>
          <p:nvPr/>
        </p:nvSpPr>
        <p:spPr>
          <a:xfrm>
            <a:off x="1298794" y="3948196"/>
            <a:ext cx="2776725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1 - НЕнормализованная форма (НЕ 1НФ)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3"/>
          <p:cNvSpPr txBox="1"/>
          <p:nvPr/>
        </p:nvSpPr>
        <p:spPr>
          <a:xfrm>
            <a:off x="4422038" y="3948196"/>
            <a:ext cx="2585925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2 - нормализованное отношение (1НФ)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04" name="Google Shape;504;p4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385105" y="121140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2НФ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233775" y="1721606"/>
            <a:ext cx="8688367" cy="1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1: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отношение находится во 2НФ, если оно находится в 1НФ и каждый неключевой атрибут функционально полно зависит от первичного ключа (составного).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переменная отношения находится во второй нормальной форме тогда и только тогда, когда она находится в первой нормальной форме и каждый неключевой атрибут неприводимо зависит от её потенциального ключа.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44"/>
          <p:cNvGraphicFramePr/>
          <p:nvPr/>
        </p:nvGraphicFramePr>
        <p:xfrm>
          <a:off x="385105" y="4342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57250"/>
                <a:gridCol w="757250"/>
                <a:gridCol w="621500"/>
                <a:gridCol w="12358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Зарплата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компьютера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Есть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8" name="Google Shape;508;p44"/>
          <p:cNvSpPr txBox="1"/>
          <p:nvPr/>
        </p:nvSpPr>
        <p:spPr>
          <a:xfrm>
            <a:off x="326174" y="4122700"/>
            <a:ext cx="30946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3 - НЕнормализованное отношение (НЕ 2НФ)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9" name="Google Shape;509;p44"/>
          <p:cNvGraphicFramePr/>
          <p:nvPr/>
        </p:nvGraphicFramePr>
        <p:xfrm>
          <a:off x="5163422" y="393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85825"/>
                <a:gridCol w="757250"/>
                <a:gridCol w="65722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Зарплата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0" name="Google Shape;510;p44"/>
          <p:cNvSpPr txBox="1"/>
          <p:nvPr/>
        </p:nvSpPr>
        <p:spPr>
          <a:xfrm>
            <a:off x="5252879" y="3613388"/>
            <a:ext cx="188100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4 - Сотрудники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1" name="Google Shape;511;p44"/>
          <p:cNvGraphicFramePr/>
          <p:nvPr/>
        </p:nvGraphicFramePr>
        <p:xfrm>
          <a:off x="5163422" y="5083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800100"/>
                <a:gridCol w="14001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компьютера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Есть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2" name="Google Shape;512;p44"/>
          <p:cNvSpPr txBox="1"/>
          <p:nvPr/>
        </p:nvSpPr>
        <p:spPr>
          <a:xfrm>
            <a:off x="5204270" y="4683024"/>
            <a:ext cx="20011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5 - Наличие компьютера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19" name="Google Shape;519;p4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20" name="Google Shape;520;p45"/>
          <p:cNvSpPr txBox="1"/>
          <p:nvPr/>
        </p:nvSpPr>
        <p:spPr>
          <a:xfrm>
            <a:off x="387076" y="129088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3НФ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5"/>
          <p:cNvSpPr txBox="1"/>
          <p:nvPr/>
        </p:nvSpPr>
        <p:spPr>
          <a:xfrm>
            <a:off x="233775" y="1721606"/>
            <a:ext cx="8688367" cy="12604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1: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отношение находится в ЗНФ, если оно находится в 2НФ и каждый неключевой атрибут нетранзитивно зависит от первичного ключа.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отношение находится в ЗНФ в том и только в том случае, если все неключевые атрибуты отношения взаимно независимы и полностью зависят от первичного ключа.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2" name="Google Shape;522;p45"/>
          <p:cNvGraphicFramePr/>
          <p:nvPr/>
        </p:nvGraphicFramePr>
        <p:xfrm>
          <a:off x="509361" y="398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92950"/>
                <a:gridCol w="778675"/>
                <a:gridCol w="8929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Телефон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44-55-66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3" name="Google Shape;523;p45"/>
          <p:cNvSpPr txBox="1"/>
          <p:nvPr/>
        </p:nvSpPr>
        <p:spPr>
          <a:xfrm>
            <a:off x="326174" y="3641237"/>
            <a:ext cx="29515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6 - НЕнормализованное отношение (НЕ 3НФ)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4" name="Google Shape;524;p45"/>
          <p:cNvGraphicFramePr/>
          <p:nvPr/>
        </p:nvGraphicFramePr>
        <p:xfrm>
          <a:off x="5359231" y="378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64375"/>
                <a:gridCol w="857250"/>
              </a:tblGrid>
              <a:tr h="200025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Телефон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44-55-66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5" name="Google Shape;525;p45"/>
          <p:cNvGraphicFramePr/>
          <p:nvPr/>
        </p:nvGraphicFramePr>
        <p:xfrm>
          <a:off x="5309225" y="497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{FBD0B879-9FA9-4FFC-BD6A-A4E62F9BEDFB}</a:tableStyleId>
              </a:tblPr>
              <a:tblGrid>
                <a:gridCol w="792950"/>
                <a:gridCol w="928700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6" name="Google Shape;526;p45"/>
          <p:cNvSpPr txBox="1"/>
          <p:nvPr/>
        </p:nvSpPr>
        <p:spPr>
          <a:xfrm>
            <a:off x="5435637" y="3347126"/>
            <a:ext cx="165330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7 - Отделы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5"/>
          <p:cNvSpPr txBox="1"/>
          <p:nvPr/>
        </p:nvSpPr>
        <p:spPr>
          <a:xfrm>
            <a:off x="5435637" y="4594532"/>
            <a:ext cx="13459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8 - Сотрудники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34" name="Google Shape;534;p4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35" name="Google Shape;535;p46"/>
          <p:cNvSpPr txBox="1"/>
          <p:nvPr/>
        </p:nvSpPr>
        <p:spPr>
          <a:xfrm>
            <a:off x="509882" y="124048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Язык SQL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6"/>
          <p:cNvSpPr/>
          <p:nvPr/>
        </p:nvSpPr>
        <p:spPr>
          <a:xfrm>
            <a:off x="421105" y="1734851"/>
            <a:ext cx="8085221" cy="2497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-средства манипулирования данными (Data Manipulation Language, DML);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средства определения данных (Data Definition Language, DDL);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-расширения, предусмотренные стандартом, но не входящие в основное ядро языка;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-дополнительные средства, обеспечивающие описание особенностей, специфических для конкретной СУБД.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43" name="Google Shape;543;p4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44" name="Google Shape;544;p47"/>
          <p:cNvSpPr txBox="1"/>
          <p:nvPr/>
        </p:nvSpPr>
        <p:spPr>
          <a:xfrm>
            <a:off x="577074" y="124048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Простые типы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421105" y="1734850"/>
            <a:ext cx="8085221" cy="3189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Целые числа (int, integer)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Вещественные числа (real, double precision)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Десятичные числа (decimal, numeric)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Строки фиксированной длины (char)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Строки переменной длины (varchar, tex)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Дата (date)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Время суток (time)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Отметки времени (timestamp)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Логический тип (boolean)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52" name="Google Shape;552;p4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53" name="Google Shape;553;p48"/>
          <p:cNvSpPr txBox="1"/>
          <p:nvPr/>
        </p:nvSpPr>
        <p:spPr>
          <a:xfrm>
            <a:off x="577075" y="124688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конструкции и синтаксис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8"/>
          <p:cNvSpPr/>
          <p:nvPr/>
        </p:nvSpPr>
        <p:spPr>
          <a:xfrm>
            <a:off x="577075" y="2516778"/>
            <a:ext cx="700623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Например: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current_date;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current_date 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2023-02-15 (1 row) 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8"/>
          <p:cNvSpPr/>
          <p:nvPr/>
        </p:nvSpPr>
        <p:spPr>
          <a:xfrm>
            <a:off x="561626" y="1822606"/>
            <a:ext cx="780032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Оператор SQL = вид оператора + clause (предложение)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62" name="Google Shape;562;p4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63" name="Google Shape;563;p49"/>
          <p:cNvSpPr txBox="1"/>
          <p:nvPr/>
        </p:nvSpPr>
        <p:spPr>
          <a:xfrm>
            <a:off x="577074" y="118317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Описание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4" name="Google Shape;5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5" y="1660566"/>
            <a:ext cx="3334217" cy="129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8065" y="1660567"/>
            <a:ext cx="4358861" cy="129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26" y="3429000"/>
            <a:ext cx="3077601" cy="70084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9"/>
          <p:cNvSpPr txBox="1"/>
          <p:nvPr/>
        </p:nvSpPr>
        <p:spPr>
          <a:xfrm>
            <a:off x="561627" y="4129839"/>
            <a:ext cx="3865995" cy="1544989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74" name="Google Shape;574;p5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75" name="Google Shape;575;p50"/>
          <p:cNvSpPr txBox="1"/>
          <p:nvPr/>
        </p:nvSpPr>
        <p:spPr>
          <a:xfrm>
            <a:off x="499483" y="139689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Заполнение таблиц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091" y="2047671"/>
            <a:ext cx="6617062" cy="1658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83" name="Google Shape;583;p5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84" name="Google Shape;584;p51"/>
          <p:cNvSpPr txBox="1"/>
          <p:nvPr/>
        </p:nvSpPr>
        <p:spPr>
          <a:xfrm>
            <a:off x="577074" y="126975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Чтение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396" y="1734851"/>
            <a:ext cx="5390451" cy="1703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2396" y="3652824"/>
            <a:ext cx="5026271" cy="1838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None/>
            </a:pPr>
            <a:r>
              <a:rPr b="1" lang="ru-RU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данного слайда</a:t>
            </a:r>
            <a:endParaRPr/>
          </a:p>
        </p:txBody>
      </p:sp>
      <p:sp>
        <p:nvSpPr>
          <p:cNvPr id="593" name="Google Shape;593;p5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594" name="Google Shape;594;p52"/>
          <p:cNvSpPr txBox="1"/>
          <p:nvPr/>
        </p:nvSpPr>
        <p:spPr>
          <a:xfrm>
            <a:off x="490606" y="125200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Модификация данных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152" y="1734851"/>
            <a:ext cx="4787696" cy="17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3916" y="3683842"/>
            <a:ext cx="4921504" cy="1439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3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Основные понятия</a:t>
            </a:r>
            <a:endParaRPr/>
          </a:p>
        </p:txBody>
      </p:sp>
      <p:sp>
        <p:nvSpPr>
          <p:cNvPr id="602" name="Google Shape;602;p53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Метод «сущность-связь» основывается на одноименной инфологической модели, которая также получила название Entity Relationship или модель ER-диаграмм. Основными понятиями этой модели являются: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сущность;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атрибут сущности;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ключ сущности;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связь между сущностями;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степень связи;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класс принадлежности экземпляров сущности;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/>
              <a:t>диаграммы ЕR -типа.</a:t>
            </a:r>
            <a:endParaRPr/>
          </a:p>
        </p:txBody>
      </p:sp>
      <p:sp>
        <p:nvSpPr>
          <p:cNvPr id="603" name="Google Shape;603;p53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4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Сущность</a:t>
            </a:r>
            <a:endParaRPr/>
          </a:p>
        </p:txBody>
      </p:sp>
      <p:sp>
        <p:nvSpPr>
          <p:cNvPr id="609" name="Google Shape;609;p54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Сущность представляет собой объект, информация о котором хранится в БД. Экземпляры сущности отличаются друг от друга и однозначно идентифицируются.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Названиями сущностей являются, как правило, существительные.</a:t>
            </a:r>
            <a:endParaRPr/>
          </a:p>
        </p:txBody>
      </p:sp>
      <p:sp>
        <p:nvSpPr>
          <p:cNvPr id="610" name="Google Shape;610;p54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5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Атрибут и связь</a:t>
            </a:r>
            <a:endParaRPr/>
          </a:p>
        </p:txBody>
      </p:sp>
      <p:sp>
        <p:nvSpPr>
          <p:cNvPr id="616" name="Google Shape;616;p55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Атрибут представляет собой свойство сущности. Это понятие аналогично понятию атрибута в отношении.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Ключ сущности - атрибут или набор атрибутов, используемый для идентификации экземпляра сущности. Как видно из определения, понятие ключа сущности аналогично понятию ключа отношения.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Связь двух или более сущностей - предполагает зависимость между атрибутами этих сущностей. Название связи обычно представляется глаголом.</a:t>
            </a:r>
            <a:endParaRPr/>
          </a:p>
        </p:txBody>
      </p:sp>
      <p:sp>
        <p:nvSpPr>
          <p:cNvPr id="617" name="Google Shape;617;p55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6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Степень и класс</a:t>
            </a:r>
            <a:endParaRPr/>
          </a:p>
        </p:txBody>
      </p:sp>
      <p:sp>
        <p:nvSpPr>
          <p:cNvPr id="623" name="Google Shape;623;p56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ru-RU">
                <a:solidFill>
                  <a:schemeClr val="dk1"/>
                </a:solidFill>
              </a:rPr>
              <a:t>Степень связи</a:t>
            </a:r>
            <a:r>
              <a:rPr lang="ru-RU">
                <a:solidFill>
                  <a:schemeClr val="dk1"/>
                </a:solidFill>
              </a:rPr>
              <a:t> является характеристикой связи между сущностями, которая может быть типа: 1:1, 1:М, М:1, М:М (где 1 - один (-), а М - много (⋗)).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ru-RU">
                <a:solidFill>
                  <a:schemeClr val="dk1"/>
                </a:solidFill>
              </a:rPr>
              <a:t>Класс принадлежности</a:t>
            </a:r>
            <a:r>
              <a:rPr lang="ru-RU">
                <a:solidFill>
                  <a:schemeClr val="dk1"/>
                </a:solidFill>
              </a:rPr>
              <a:t> сущности может быть: обязательным ( | ) и необязательным (        ).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>
                <a:solidFill>
                  <a:schemeClr val="dk1"/>
                </a:solidFill>
              </a:rPr>
              <a:t>Класс принадлежности сущности является обязательным, если все экземпляры этой сущности обязательно участвуют в рассматриваемой связи, в противном случае класс принадлежности сущности является необязательным.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2479900" y="3193467"/>
            <a:ext cx="169500" cy="2259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6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7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Процесс проектирования</a:t>
            </a:r>
            <a:endParaRPr/>
          </a:p>
        </p:txBody>
      </p:sp>
      <p:sp>
        <p:nvSpPr>
          <p:cNvPr id="631" name="Google Shape;631;p57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Процесс проектирования базы данных итерационный, допускающий возврат к предыдущим этапам для пересмотра ранее принятых решений и включает следующие этапы: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выделение сущностей и связей между ними;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построение диаграмм ЕR-типа с учетом всех сущностей и их связей;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формирование набора предварительных отношений с указанием предполагаемого первичного ключа для каждого отношения и использованием диаграмм ЕR-типа;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добавление неключевых атрибутов в отношения;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приведение предварительных отношений к нормальной форме Бойса-Кодда, например, с помощью метода нормальных форм;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пересмотр ЕR-диаграмм в следующих случаях: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некоторые отношения не приводятся к нормальной форме Бойса-Кодда;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400"/>
              <a:t>некоторым атрибутам не находится логически обоснованных мест в предварительных отношениях.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400"/>
              <a:t>После преобразования ЕR-диаграмм, осуществляется повторное выполнение предыдущих этапов проектирования (возврат к этапу 1).</a:t>
            </a:r>
            <a:endParaRPr sz="1400"/>
          </a:p>
        </p:txBody>
      </p:sp>
      <p:sp>
        <p:nvSpPr>
          <p:cNvPr id="632" name="Google Shape;632;p57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Формирование предварительных отношений</a:t>
            </a:r>
            <a:endParaRPr/>
          </a:p>
        </p:txBody>
      </p:sp>
      <p:sp>
        <p:nvSpPr>
          <p:cNvPr id="638" name="Google Shape;638;p58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Одним из узловых этапов проектирования является этап формирования отношений. В зависимости от класса принадлежности и степени связи выделяют 6 правил формирования предварительных отношений из исходной ЕR-диаграммы.</a:t>
            </a:r>
            <a:endParaRPr/>
          </a:p>
        </p:txBody>
      </p:sp>
      <p:sp>
        <p:nvSpPr>
          <p:cNvPr id="639" name="Google Shape;639;p58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9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1 правило</a:t>
            </a:r>
            <a:endParaRPr/>
          </a:p>
        </p:txBody>
      </p:sp>
      <p:sp>
        <p:nvSpPr>
          <p:cNvPr id="645" name="Google Shape;645;p59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Правило 1. Если степень бинарной связи 1:1 и класс принадлежности обеих сущностей обязательный, то формируется одно отношение. Первичным ключом этого отношения может быть ключ любой из двух сущностей.</a:t>
            </a:r>
            <a:endParaRPr/>
          </a:p>
        </p:txBody>
      </p:sp>
      <p:pic>
        <p:nvPicPr>
          <p:cNvPr id="646" name="Google Shape;64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8825" y="4065533"/>
            <a:ext cx="50863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9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0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2 правило</a:t>
            </a:r>
            <a:endParaRPr/>
          </a:p>
        </p:txBody>
      </p:sp>
      <p:sp>
        <p:nvSpPr>
          <p:cNvPr id="653" name="Google Shape;653;p60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Правило 2. Если степень связи 1:1 и класс принадлежности одной сущности обязательный, а второй - необязательный, то под каждую из сущностей формируется по отношению с первичными ключами, являющимися ключами соответствующих сущностей. Далее к отношению, сущность которого имеет обязательный класс принадлежности, добавляется в качестве атрибута ключ сущности с необязательным классом принадлежности.</a:t>
            </a:r>
            <a:endParaRPr/>
          </a:p>
        </p:txBody>
      </p:sp>
      <p:pic>
        <p:nvPicPr>
          <p:cNvPr id="654" name="Google Shape;6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525" y="4621333"/>
            <a:ext cx="61626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60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1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3 правило</a:t>
            </a:r>
            <a:endParaRPr/>
          </a:p>
        </p:txBody>
      </p:sp>
      <p:sp>
        <p:nvSpPr>
          <p:cNvPr id="661" name="Google Shape;661;p61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Правило 3. Если степень связи 1:1 и класс принадлежности обеих сущностей является необязательным, то необходимо использовать три отношения. Два отношения соответствуют связываемым сущностям, ключи которых являются первичными в этих отношениях. Третье отношение является связным между первыми двумя, поэтому его ключ объединяет ключевые атрибуты связываемых отношений.</a:t>
            </a:r>
            <a:endParaRPr/>
          </a:p>
        </p:txBody>
      </p:sp>
      <p:pic>
        <p:nvPicPr>
          <p:cNvPr id="662" name="Google Shape;66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988" y="4659000"/>
            <a:ext cx="62960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2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4 правило</a:t>
            </a:r>
            <a:endParaRPr/>
          </a:p>
        </p:txBody>
      </p:sp>
      <p:sp>
        <p:nvSpPr>
          <p:cNvPr id="669" name="Google Shape;669;p62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Правило 4. Если степень связи между сущностями 1:М (или М:1) и класс принадлежности М-связной сущности обязательный, то достаточно формирование двух отношений (по одному на каждую из сущностей). При этом первичными ключами этих отношений являются ключи их сущностей. Кроме того, ключ 1-связной сущности добавляется как атрибут (внешний ключ) в отношение, соответствующее М-связной сущности.</a:t>
            </a:r>
            <a:endParaRPr/>
          </a:p>
        </p:txBody>
      </p:sp>
      <p:pic>
        <p:nvPicPr>
          <p:cNvPr id="670" name="Google Shape;67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6650" y="4589167"/>
            <a:ext cx="618172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2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3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5 правило</a:t>
            </a:r>
            <a:endParaRPr/>
          </a:p>
        </p:txBody>
      </p:sp>
      <p:sp>
        <p:nvSpPr>
          <p:cNvPr id="677" name="Google Shape;677;p63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Правило 5. Если степень связи 1:М (М:1) и класс принадлежности М-связной сущности является необязательным, то необходимо формирование трех отношений. Два отношения соответствуют связываемым сущностям, ключи которых являются первичными в этих отношениях. Третье отношение является связным между первыми двумя (его ключ объединяет ключевые атрибуты связываемых отношений).</a:t>
            </a:r>
            <a:endParaRPr/>
          </a:p>
        </p:txBody>
      </p:sp>
      <p:pic>
        <p:nvPicPr>
          <p:cNvPr id="678" name="Google Shape;67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625" y="4772067"/>
            <a:ext cx="62960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3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4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6 правило</a:t>
            </a:r>
            <a:endParaRPr/>
          </a:p>
        </p:txBody>
      </p:sp>
      <p:sp>
        <p:nvSpPr>
          <p:cNvPr id="685" name="Google Shape;685;p64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Правило 6. Если степень связи М:М, то независимо от класса принадлежности сущностей формируются три отношения. Два отношения соответствуют связываемым сущностям и их ключи являются первичными ключами этих отношений. Третье отношение является связным между первыми двумя, а его ключ объединяет ключевые атрибуты связываемых отношений.</a:t>
            </a:r>
            <a:endParaRPr/>
          </a:p>
        </p:txBody>
      </p:sp>
      <p:pic>
        <p:nvPicPr>
          <p:cNvPr id="686" name="Google Shape;68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175" y="4659000"/>
            <a:ext cx="62960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64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5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/>
              <a:t>Пример ER-диаграммы</a:t>
            </a:r>
            <a:endParaRPr/>
          </a:p>
        </p:txBody>
      </p:sp>
      <p:pic>
        <p:nvPicPr>
          <p:cNvPr id="693" name="Google Shape;69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1975" y="1503200"/>
            <a:ext cx="59817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5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2021-08-31T10:18:59Z</dcterms:created>
  <dc:creator>User</dc:creator>
</cp:coreProperties>
</file>