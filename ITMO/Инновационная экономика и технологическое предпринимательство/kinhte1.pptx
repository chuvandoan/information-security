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Golos Text"/>
      <p:regular r:id="rId17"/>
      <p:bold r:id="rId18"/>
    </p:embeddedFont>
    <p:embeddedFont>
      <p:font typeface="Golos Text SemiBold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TqWgFuuft04Sh6xC8n0JU+pOC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losTextSemi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GolosTex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GolosTextSemiBold-regular.fntdata"/><Relationship Id="rId6" Type="http://schemas.openxmlformats.org/officeDocument/2006/relationships/slide" Target="slides/slide1.xml"/><Relationship Id="rId18" Type="http://schemas.openxmlformats.org/officeDocument/2006/relationships/font" Target="fonts/GolosTex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c9b2bccc7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c9b2bccc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2c9b2bccc71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c135fb65a6_1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c135fb65a6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2c135fb65a6_1_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c135fb65a6_1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c135fb65a6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2c135fb65a6_1_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c135fb65a6_1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c135fb65a6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2c135fb65a6_1_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c135fb65a6_1_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c135fb65a6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2c135fb65a6_1_8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c135fb65a6_1_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c135fb65a6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2c135fb65a6_1_9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c135fb65a6_1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c135fb65a6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2c135fb65a6_1_10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1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1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1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1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0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3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3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73" name="Google Shape;73;p24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7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85" name="Google Shape;85;p2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7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8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28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91" name="Google Shape;91;p28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9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9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9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29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7" name="Google Shape;97;p29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8" name="Google Shape;98;p29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9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0" name="Google Shape;100;p29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1" name="Google Shape;101;p29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102" name="Google Shape;102;p29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0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0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30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7" name="Google Shape;107;p30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08" name="Google Shape;108;p30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9" name="Google Shape;109;p30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1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1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31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4" name="Google Shape;114;p31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115" name="Google Shape;115;p31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116" name="Google Shape;116;p31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117" name="Google Shape;117;p31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2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32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32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32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2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124" name="Google Shape;124;p32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125" name="Google Shape;125;p32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126" name="Google Shape;126;p32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32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32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32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130" name="Google Shape;130;p32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131" name="Google Shape;131;p32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0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/>
          <p:nvPr>
            <p:ph type="title"/>
          </p:nvPr>
        </p:nvSpPr>
        <p:spPr>
          <a:xfrm>
            <a:off x="1371600" y="2442525"/>
            <a:ext cx="64008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4400">
                <a:solidFill>
                  <a:schemeClr val="lt1"/>
                </a:solidFill>
              </a:rPr>
              <a:t>Фруктосия</a:t>
            </a:r>
            <a:endParaRPr sz="44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2377727" y="3925197"/>
            <a:ext cx="64008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olos Text"/>
              <a:buNone/>
            </a:pPr>
            <a:r>
              <a:rPr b="0" i="0" lang="ru-RU" sz="14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ФИО</a:t>
            </a:r>
            <a:r>
              <a:rPr lang="ru-RU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: Чу Ван Доан - Нгуен Хоанг Ву - Дау Минь Шы</a:t>
            </a:r>
            <a:br>
              <a:rPr b="0" i="0" lang="ru-RU" sz="14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</a:br>
            <a:r>
              <a:rPr lang="ru-RU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ИТМО</a:t>
            </a:r>
            <a:r>
              <a:rPr b="0" i="0" lang="ru-RU" sz="1400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, </a:t>
            </a:r>
            <a:r>
              <a:rPr lang="ru-RU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ФБИТ - ФСУ и Р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c9b2bccc71_0_0"/>
          <p:cNvSpPr txBox="1"/>
          <p:nvPr>
            <p:ph type="title"/>
          </p:nvPr>
        </p:nvSpPr>
        <p:spPr>
          <a:xfrm>
            <a:off x="457200" y="293560"/>
            <a:ext cx="68244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Ценность компании</a:t>
            </a:r>
            <a:endParaRPr/>
          </a:p>
        </p:txBody>
      </p:sp>
      <p:sp>
        <p:nvSpPr>
          <p:cNvPr id="144" name="Google Shape;144;g2c9b2bccc71_0_0"/>
          <p:cNvSpPr txBox="1"/>
          <p:nvPr>
            <p:ph idx="1" type="body"/>
          </p:nvPr>
        </p:nvSpPr>
        <p:spPr>
          <a:xfrm>
            <a:off x="457200" y="1211943"/>
            <a:ext cx="7467600" cy="344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Экологичность: Подчеркните использование экологически чистого сырья.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Здоровье: Акцентируйте внимание на пользе продуктов для здоровья благодаря сохранению всех витаминов и минералов в процессе производства.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Удобство: Подчеркните лёгкость и удобство использования продукта в повседневной жизни.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Инновационность: Отметьте применение инновационных технологий для сохранения максимальной питательной ценности.</a:t>
            </a:r>
            <a:endParaRPr/>
          </a:p>
          <a:p>
            <a:pPr indent="0" lvl="0" marL="457200" rtl="0" algn="l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/>
              <a:t>Производственный план</a:t>
            </a:r>
            <a:endParaRPr/>
          </a:p>
        </p:txBody>
      </p:sp>
      <p:sp>
        <p:nvSpPr>
          <p:cNvPr id="150" name="Google Shape;150;p2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latin typeface="Golos Text"/>
                <a:ea typeface="Golos Text"/>
                <a:cs typeface="Golos Text"/>
                <a:sym typeface="Golos Text"/>
              </a:rPr>
              <a:t>1. Ингредиенты</a:t>
            </a:r>
            <a:endParaRPr sz="1600"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/>
              <a:t>2. Замораживание</a:t>
            </a:r>
            <a:endParaRPr sz="16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/>
              <a:t>3. Фаза сублимации</a:t>
            </a:r>
            <a:endParaRPr sz="16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/>
              <a:t>4. Фаза горячей сушки</a:t>
            </a:r>
            <a:endParaRPr sz="16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/>
              <a:t>5. Измельчение в порошок</a:t>
            </a:r>
            <a:endParaRPr sz="16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/>
              <a:t>6. Проверка качества</a:t>
            </a:r>
            <a:endParaRPr sz="16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/>
              <a:t>7. Упаковка - консервация</a:t>
            </a:r>
            <a:endParaRPr sz="16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8168185" y="4312271"/>
            <a:ext cx="3193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Выбирайте спелые, свежие фрукты</a:t>
            </a:r>
            <a:endParaRPr/>
          </a:p>
        </p:txBody>
      </p:sp>
      <p:sp>
        <p:nvSpPr>
          <p:cNvPr id="157" name="Google Shape;157;p4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Фрукты вымыть, удалить семена и несъедобные части</a:t>
            </a:r>
            <a:endParaRPr/>
          </a:p>
        </p:txBody>
      </p:sp>
      <p:sp>
        <p:nvSpPr>
          <p:cNvPr id="158" name="Google Shape;158;p4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olos Text SemiBold"/>
              <a:buNone/>
            </a:pPr>
            <a:r>
              <a:rPr lang="ru-RU">
                <a:solidFill>
                  <a:srgbClr val="000000"/>
                </a:solidFill>
              </a:rPr>
              <a:t>Ингредиенты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8168185" y="4312271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4</a:t>
            </a:r>
            <a:endParaRPr/>
          </a:p>
        </p:txBody>
      </p:sp>
      <p:pic>
        <p:nvPicPr>
          <p:cNvPr id="160" name="Google Shape;16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4500" y="951525"/>
            <a:ext cx="4356202" cy="394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c135fb65a6_1_21"/>
          <p:cNvSpPr txBox="1"/>
          <p:nvPr>
            <p:ph idx="1" type="body"/>
          </p:nvPr>
        </p:nvSpPr>
        <p:spPr>
          <a:xfrm>
            <a:off x="457201" y="1059322"/>
            <a:ext cx="3897000" cy="173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О</a:t>
            </a:r>
            <a:r>
              <a:rPr lang="ru-RU"/>
              <a:t>т -30 до -50 градусов Цельсия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6-7 часов</a:t>
            </a:r>
            <a:endParaRPr/>
          </a:p>
        </p:txBody>
      </p:sp>
      <p:sp>
        <p:nvSpPr>
          <p:cNvPr id="167" name="Google Shape;167;g2c135fb65a6_1_21"/>
          <p:cNvSpPr txBox="1"/>
          <p:nvPr>
            <p:ph idx="2" type="body"/>
          </p:nvPr>
        </p:nvSpPr>
        <p:spPr>
          <a:xfrm>
            <a:off x="457202" y="3105836"/>
            <a:ext cx="3897000" cy="164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С</a:t>
            </a:r>
            <a:r>
              <a:rPr lang="ru-RU"/>
              <a:t>экономить время</a:t>
            </a:r>
            <a:endParaRPr/>
          </a:p>
        </p:txBody>
      </p:sp>
      <p:sp>
        <p:nvSpPr>
          <p:cNvPr id="168" name="Google Shape;168;g2c135fb65a6_1_21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ru-RU">
                <a:highlight>
                  <a:schemeClr val="lt1"/>
                </a:highlight>
              </a:rPr>
              <a:t>Замораживание</a:t>
            </a:r>
            <a:endParaRPr>
              <a:highlight>
                <a:schemeClr val="lt1"/>
              </a:highlight>
            </a:endParaRPr>
          </a:p>
        </p:txBody>
      </p:sp>
      <p:pic>
        <p:nvPicPr>
          <p:cNvPr id="169" name="Google Shape;169;g2c135fb65a6_1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2475" y="951525"/>
            <a:ext cx="4433650" cy="394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c135fb65a6_1_29"/>
          <p:cNvSpPr txBox="1"/>
          <p:nvPr>
            <p:ph idx="1" type="body"/>
          </p:nvPr>
        </p:nvSpPr>
        <p:spPr>
          <a:xfrm>
            <a:off x="457201" y="1059322"/>
            <a:ext cx="3897000" cy="173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Удаляет</a:t>
            </a:r>
            <a:r>
              <a:rPr lang="ru-RU"/>
              <a:t> весь воздух из камеры, кристаллы льда</a:t>
            </a:r>
            <a:endParaRPr/>
          </a:p>
        </p:txBody>
      </p:sp>
      <p:sp>
        <p:nvSpPr>
          <p:cNvPr id="176" name="Google Shape;176;g2c135fb65a6_1_29"/>
          <p:cNvSpPr txBox="1"/>
          <p:nvPr>
            <p:ph idx="2" type="body"/>
          </p:nvPr>
        </p:nvSpPr>
        <p:spPr>
          <a:xfrm>
            <a:off x="457202" y="3105836"/>
            <a:ext cx="3897000" cy="164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Около 90% водяного пара, содержащегося в пище, удаляется и реабсорбируется в части, называемой водяной ловушкой.</a:t>
            </a:r>
            <a:endParaRPr/>
          </a:p>
        </p:txBody>
      </p:sp>
      <p:sp>
        <p:nvSpPr>
          <p:cNvPr id="177" name="Google Shape;177;g2c135fb65a6_1_29"/>
          <p:cNvSpPr txBox="1"/>
          <p:nvPr>
            <p:ph idx="3" type="body"/>
          </p:nvPr>
        </p:nvSpPr>
        <p:spPr>
          <a:xfrm>
            <a:off x="4789714" y="1059322"/>
            <a:ext cx="3632100" cy="3686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2c135fb65a6_1_29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Фаза сублимации</a:t>
            </a:r>
            <a:endParaRPr/>
          </a:p>
        </p:txBody>
      </p:sp>
      <p:pic>
        <p:nvPicPr>
          <p:cNvPr id="179" name="Google Shape;179;g2c135fb65a6_1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4450" y="924875"/>
            <a:ext cx="4398250" cy="396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135fb65a6_1_37"/>
          <p:cNvSpPr txBox="1"/>
          <p:nvPr>
            <p:ph idx="1" type="body"/>
          </p:nvPr>
        </p:nvSpPr>
        <p:spPr>
          <a:xfrm>
            <a:off x="457201" y="1059322"/>
            <a:ext cx="3897000" cy="173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Подвергается</a:t>
            </a:r>
            <a:r>
              <a:rPr lang="ru-RU"/>
              <a:t> вторичной сушке для полного испарения влаги</a:t>
            </a:r>
            <a:endParaRPr/>
          </a:p>
          <a:p>
            <a:pPr indent="0" lvl="0" marL="45720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2c135fb65a6_1_37"/>
          <p:cNvSpPr txBox="1"/>
          <p:nvPr>
            <p:ph idx="2" type="body"/>
          </p:nvPr>
        </p:nvSpPr>
        <p:spPr>
          <a:xfrm>
            <a:off x="457202" y="3105836"/>
            <a:ext cx="3897000" cy="164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До 70°С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Около 1~4%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2c135fb65a6_1_37"/>
          <p:cNvSpPr txBox="1"/>
          <p:nvPr>
            <p:ph idx="3" type="body"/>
          </p:nvPr>
        </p:nvSpPr>
        <p:spPr>
          <a:xfrm>
            <a:off x="4789714" y="1059322"/>
            <a:ext cx="3632100" cy="3686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2c135fb65a6_1_37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Фаза горячей сушки</a:t>
            </a:r>
            <a:endParaRPr/>
          </a:p>
        </p:txBody>
      </p:sp>
      <p:pic>
        <p:nvPicPr>
          <p:cNvPr id="189" name="Google Shape;189;g2c135fb65a6_1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7750" y="964825"/>
            <a:ext cx="4202351" cy="393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c135fb65a6_1_80"/>
          <p:cNvSpPr txBox="1"/>
          <p:nvPr>
            <p:ph idx="1" type="body"/>
          </p:nvPr>
        </p:nvSpPr>
        <p:spPr>
          <a:xfrm>
            <a:off x="457201" y="1059322"/>
            <a:ext cx="3897000" cy="173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Тонкий помол</a:t>
            </a:r>
            <a:endParaRPr/>
          </a:p>
        </p:txBody>
      </p:sp>
      <p:sp>
        <p:nvSpPr>
          <p:cNvPr id="196" name="Google Shape;196;g2c135fb65a6_1_80"/>
          <p:cNvSpPr txBox="1"/>
          <p:nvPr>
            <p:ph idx="2" type="body"/>
          </p:nvPr>
        </p:nvSpPr>
        <p:spPr>
          <a:xfrm>
            <a:off x="457202" y="3105836"/>
            <a:ext cx="3897000" cy="164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Просеивание</a:t>
            </a:r>
            <a:endParaRPr/>
          </a:p>
        </p:txBody>
      </p:sp>
      <p:sp>
        <p:nvSpPr>
          <p:cNvPr id="197" name="Google Shape;197;g2c135fb65a6_1_80"/>
          <p:cNvSpPr txBox="1"/>
          <p:nvPr>
            <p:ph idx="3" type="body"/>
          </p:nvPr>
        </p:nvSpPr>
        <p:spPr>
          <a:xfrm>
            <a:off x="4789714" y="1059322"/>
            <a:ext cx="3632100" cy="3686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2c135fb65a6_1_80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Измельчение в порошок</a:t>
            </a:r>
            <a:endParaRPr/>
          </a:p>
        </p:txBody>
      </p:sp>
      <p:pic>
        <p:nvPicPr>
          <p:cNvPr id="199" name="Google Shape;199;g2c135fb65a6_1_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4450" y="939950"/>
            <a:ext cx="4231925" cy="395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c135fb65a6_1_90"/>
          <p:cNvSpPr txBox="1"/>
          <p:nvPr>
            <p:ph idx="1" type="body"/>
          </p:nvPr>
        </p:nvSpPr>
        <p:spPr>
          <a:xfrm>
            <a:off x="457201" y="1059322"/>
            <a:ext cx="3897000" cy="173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Физические и химические испытания</a:t>
            </a:r>
            <a:endParaRPr/>
          </a:p>
        </p:txBody>
      </p:sp>
      <p:sp>
        <p:nvSpPr>
          <p:cNvPr id="206" name="Google Shape;206;g2c135fb65a6_1_90"/>
          <p:cNvSpPr txBox="1"/>
          <p:nvPr>
            <p:ph idx="2" type="body"/>
          </p:nvPr>
        </p:nvSpPr>
        <p:spPr>
          <a:xfrm>
            <a:off x="457202" y="3105836"/>
            <a:ext cx="3897000" cy="164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Дегустационное тестирование</a:t>
            </a:r>
            <a:endParaRPr/>
          </a:p>
        </p:txBody>
      </p:sp>
      <p:sp>
        <p:nvSpPr>
          <p:cNvPr id="207" name="Google Shape;207;g2c135fb65a6_1_90"/>
          <p:cNvSpPr txBox="1"/>
          <p:nvPr>
            <p:ph idx="3" type="body"/>
          </p:nvPr>
        </p:nvSpPr>
        <p:spPr>
          <a:xfrm>
            <a:off x="4789714" y="1059322"/>
            <a:ext cx="3632100" cy="3686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2c135fb65a6_1_90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Проверка качества</a:t>
            </a:r>
            <a:endParaRPr/>
          </a:p>
        </p:txBody>
      </p:sp>
      <p:pic>
        <p:nvPicPr>
          <p:cNvPr id="209" name="Google Shape;209;g2c135fb65a6_1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1100" y="951800"/>
            <a:ext cx="4198151" cy="393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c135fb65a6_1_107"/>
          <p:cNvSpPr txBox="1"/>
          <p:nvPr>
            <p:ph idx="1" type="body"/>
          </p:nvPr>
        </p:nvSpPr>
        <p:spPr>
          <a:xfrm>
            <a:off x="457201" y="1059322"/>
            <a:ext cx="3897000" cy="173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Упаковка	</a:t>
            </a:r>
            <a:endParaRPr/>
          </a:p>
        </p:txBody>
      </p:sp>
      <p:sp>
        <p:nvSpPr>
          <p:cNvPr id="216" name="Google Shape;216;g2c135fb65a6_1_107"/>
          <p:cNvSpPr txBox="1"/>
          <p:nvPr>
            <p:ph idx="2" type="body"/>
          </p:nvPr>
        </p:nvSpPr>
        <p:spPr>
          <a:xfrm>
            <a:off x="457202" y="3105836"/>
            <a:ext cx="3897000" cy="164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280"/>
              </a:spcBef>
              <a:spcAft>
                <a:spcPts val="0"/>
              </a:spcAft>
              <a:buSzPts val="1400"/>
              <a:buChar char="-"/>
            </a:pPr>
            <a:r>
              <a:rPr lang="ru-RU"/>
              <a:t>К</a:t>
            </a:r>
            <a:r>
              <a:rPr lang="ru-RU"/>
              <a:t>онсервация</a:t>
            </a:r>
            <a:endParaRPr/>
          </a:p>
        </p:txBody>
      </p:sp>
      <p:sp>
        <p:nvSpPr>
          <p:cNvPr id="217" name="Google Shape;217;g2c135fb65a6_1_107"/>
          <p:cNvSpPr txBox="1"/>
          <p:nvPr>
            <p:ph idx="3" type="body"/>
          </p:nvPr>
        </p:nvSpPr>
        <p:spPr>
          <a:xfrm>
            <a:off x="4789714" y="1059322"/>
            <a:ext cx="3632100" cy="3686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2c135fb65a6_1_107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Упаковка - консервация</a:t>
            </a:r>
            <a:endParaRPr/>
          </a:p>
        </p:txBody>
      </p:sp>
      <p:pic>
        <p:nvPicPr>
          <p:cNvPr id="219" name="Google Shape;219;g2c135fb65a6_1_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1150" y="931575"/>
            <a:ext cx="4221426" cy="3959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"/>
          <p:cNvSpPr txBox="1"/>
          <p:nvPr>
            <p:ph type="title"/>
          </p:nvPr>
        </p:nvSpPr>
        <p:spPr>
          <a:xfrm>
            <a:off x="457200" y="18018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2014-06-27T12:30:22Z</dcterms:created>
  <dc:creator>Al</dc:creator>
</cp:coreProperties>
</file>