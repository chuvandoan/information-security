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7102475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hheKxbvX8YndPjqb+VxbHX/ws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5" name="Google Shape;175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1" name="Google Shape;23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3" name="Google Shape;243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0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0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0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0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0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38200" y="2282825"/>
            <a:ext cx="7772400" cy="2200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ИББД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Лекция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561627" y="1131274"/>
            <a:ext cx="7745091" cy="4682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Физическая защита и контроль доступа к серверам и помещениям;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Контроль входных и выходных значений;</a:t>
            </a:r>
            <a:endParaRPr/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Контроль потоков данных</a:t>
            </a:r>
            <a:endParaRPr/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Удаленные подключения через VPN;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Безопасность сетевого окружения.</a:t>
            </a:r>
            <a:endParaRPr/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Разграничение доступа к БД</a:t>
            </a:r>
            <a:endParaRPr/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Шифрование данных</a:t>
            </a:r>
            <a:endParaRPr/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Резервное копирование данных</a:t>
            </a:r>
            <a:endParaRPr/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Аудит и мониторинг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561627" y="58358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Построение защищенной СУБД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561627" y="1131274"/>
            <a:ext cx="7745091" cy="1915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(Identifies) - Идентификация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(Authentificate) - Аутентификация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(Authorised) - Авторизация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(Accountability) - Мониторинг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561627" y="58358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-RU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IAAA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561627" y="1131274"/>
            <a:ext cx="7745091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Общие требования к идентификаторам: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системе должны создаваться и присваиваться уникальные идентификаторы для каждого отдельного субъекта (пользователя или процесса).</a:t>
            </a:r>
            <a:endParaRPr/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 время аутентификации должен использоваться именно выданный идентификатор, например, логин, указанный с точностью до бита. </a:t>
            </a:r>
            <a:endParaRPr/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выданные идентификаторы не должны никому распространяться. То есть сам логин, как и пароль должен храниться в секрете. 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561627" y="58358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Идентификация (идентификаторы)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561627" y="1131274"/>
            <a:ext cx="774509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Метрики для аутентификации: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то, что субъект знает (пароль, секретное слово, seed-фраза)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то, что есть у субъекта в наличии/во владении (аппаратный токен)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неотъемлемая метрика субъекта (отпечатки пальцев, голос, радужка глаза)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то, где субъект находится (конкретные помещение, здание, офис, филиал)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561627" y="58358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Аутентификация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561627" y="1131274"/>
            <a:ext cx="7745091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Авторизация – это предоставление субъекту прав на выполнение определённых действий; а также процесс проверки данных прав при попытке выполнения этих действий.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Аутентификация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Выдача прав в соответствии с правилами разграничения доступа в системе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Генерация токена доступа для субъекта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Регулярная проверка валидности токена доступа при каждом доступе к ресурсам</a:t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561627" y="58358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Авторизация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/>
        </p:nvSpPr>
        <p:spPr>
          <a:xfrm>
            <a:off x="561627" y="583587"/>
            <a:ext cx="7987462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Авторизация. Мандатная модель разграничения доступа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885" y="1203121"/>
            <a:ext cx="857250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/>
        </p:nvSpPr>
        <p:spPr>
          <a:xfrm>
            <a:off x="561627" y="583587"/>
            <a:ext cx="8384758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Авторизация. Избирательная модель разграничения доступа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148" y="1156771"/>
            <a:ext cx="5469703" cy="3309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/>
        </p:nvSpPr>
        <p:spPr>
          <a:xfrm>
            <a:off x="561627" y="583587"/>
            <a:ext cx="8384758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Авторизация. Ролевая модель разграничения доступа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561627" y="1131274"/>
            <a:ext cx="7745091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Простая процедура выдачи прав сотрудникам. Обычно ролей значительно меньше, чем работников. Очень удобно иметь готовую модель полномочий под конкретные должности. </a:t>
            </a:r>
            <a:endParaRPr/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Возможность разом поменять права для обладателей одной роли.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Исключение несовместимых полномочий.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/>
        </p:nvSpPr>
        <p:spPr>
          <a:xfrm>
            <a:off x="495525" y="473418"/>
            <a:ext cx="8384758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Авторизация. Атрибутивная модель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726" y="1012546"/>
            <a:ext cx="6269574" cy="27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1"/>
          <p:cNvSpPr/>
          <p:nvPr/>
        </p:nvSpPr>
        <p:spPr>
          <a:xfrm>
            <a:off x="280923" y="4230851"/>
            <a:ext cx="8384758" cy="2153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Доступ в атрибутивной модели строится не с точки зрения действий пользователя, а с точки зрения атрибутов: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субъекта: его имени, должности, рабочего времени;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ресурса, к которому он получает доступ;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действия;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окружающей среды: IP-адресов, городов, времени.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 txBox="1"/>
          <p:nvPr/>
        </p:nvSpPr>
        <p:spPr>
          <a:xfrm>
            <a:off x="561627" y="583587"/>
            <a:ext cx="8384758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Авторизация. Связь моделей разграничения доступа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561627" y="1395679"/>
            <a:ext cx="77450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 -&gt; DAC -&gt; RBAC -&gt; ABAC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/>
        </p:nvSpPr>
        <p:spPr>
          <a:xfrm>
            <a:off x="561627" y="583587"/>
            <a:ext cx="8384758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Мониторинг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561627" y="1395679"/>
            <a:ext cx="7745091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Логирование: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Факт доступа к объекту;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 стороны какого конкретного субъекта;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какое время;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 какому конкретному объекту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 какого офиса, помещения, IP-адреса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 резервируются на внешних носителях и шифруются при необходимости.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561627" y="484436"/>
            <a:ext cx="8439154" cy="55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Методы реализации IAAA в СУБД.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Идентификация и аутентификация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61627" y="1395679"/>
            <a:ext cx="774509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Логин и пароль. Идентификатор – логин, аутентификация через логин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Инфраструктура открытых ключей (PKI). Идентификатор – открытый ключ и сертификат, аутентификация успешная проверка открытым ключом подписи, сгенерированной закрытым ключом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Методы на уровне приложений (протокол LDAP, службы каталогов)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/>
        </p:nvSpPr>
        <p:spPr>
          <a:xfrm>
            <a:off x="341523" y="484436"/>
            <a:ext cx="8659258" cy="55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Авторизация в СУБД. Ролевая модель разграничения доступа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61627" y="1395679"/>
            <a:ext cx="7745091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Мандатная модель (модуль sepgsql с SELinux)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Избирательная модель (разграничение доступа на уровне ОС, примеры, LDAP, Active Directory)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Ролевая модель разграничения доступа:</a:t>
            </a:r>
            <a:endParaRPr/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схемы авторизации;</a:t>
            </a:r>
            <a:endParaRPr/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представления;</a:t>
            </a:r>
            <a:endParaRPr/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разграничения доступа с помощью команды GRANT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управление доступом на уровне строк (политики безопасности, row level security)</a:t>
            </a:r>
            <a:endParaRPr/>
          </a:p>
          <a:p>
            <a:pPr indent="-1714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Атрибутивная модель (XACML)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341523" y="484436"/>
            <a:ext cx="8659258" cy="55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Роль PostgreSQL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545335" y="1197817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ROLE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 ROLE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 ROLE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545335" y="2294700"/>
            <a:ext cx="4572000" cy="1695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ROLE name [with OPTION]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OPTION: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[SUPERUSER|NOSUPERUSER]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[LOGIN|NOLOGIN]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[CREATEDB|NOCREATEDB]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[CREATEROLE|NOCREATEROLE]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545335" y="4580280"/>
            <a:ext cx="4572000" cy="1465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ROLE сотрудник1 LOGIN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ROLE сотрудник2 LOGIN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ROLE бухгалтеры NOLOGIN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GRANT …. TO бухгалтеры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GRANT бухгалтеры TO сотрудник1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REVOKE бухгалтеры FROM сотрудник1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569351" y="420563"/>
            <a:ext cx="8005298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Объекты и субъекты доступа, привилегии в БД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569351" y="827723"/>
            <a:ext cx="8299268" cy="52976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Объекты: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вся база данных;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некоторое множество отношений;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одно отношение;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некоторое количество столбцов одного отношения;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некоторое количество строк одного отношения;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некоторое количество строк и столбцов одного отношения.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функции;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представления.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Привилегии: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чтение;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запись</a:t>
            </a:r>
            <a:endParaRPr/>
          </a:p>
          <a:p>
            <a:pPr indent="-228631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удаление</a:t>
            </a:r>
            <a:endParaRPr/>
          </a:p>
          <a:p>
            <a:pPr indent="-105283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186" name="Google Shape;186;p2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577074" y="568112"/>
            <a:ext cx="7322020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Оператор GRANT. Механизм предоставления прав</a:t>
            </a:r>
            <a:endParaRPr b="1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770" y="1484028"/>
            <a:ext cx="5033451" cy="45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70" y="1942841"/>
            <a:ext cx="34575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082" y="2401654"/>
            <a:ext cx="50768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082" y="2841417"/>
            <a:ext cx="54578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531" y="3271655"/>
            <a:ext cx="54197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7438" y="4791661"/>
            <a:ext cx="3355907" cy="611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4082" y="4000222"/>
            <a:ext cx="6026035" cy="61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201" name="Google Shape;201;p2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473492" y="537686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Перечень привилегий. Оператор GRANT</a:t>
            </a:r>
            <a:endParaRPr b="1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1154691"/>
            <a:ext cx="75438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561627" y="48869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Оператор REVOKE</a:t>
            </a:r>
            <a:endParaRPr b="1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627" y="826168"/>
            <a:ext cx="5342634" cy="506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627" y="1422935"/>
            <a:ext cx="44005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627" y="2393033"/>
            <a:ext cx="44005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7075" y="3645565"/>
            <a:ext cx="57340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1627" y="4845292"/>
            <a:ext cx="40767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1627" y="5251834"/>
            <a:ext cx="510540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224" name="Google Shape;224;p2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561627" y="488694"/>
            <a:ext cx="7921361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Разграничение доступа на основе схем авторизации</a:t>
            </a:r>
            <a:endParaRPr b="1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561627" y="1090827"/>
            <a:ext cx="79213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SCHEMA schema_name [ AUTHORIZATION user_name ]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1941028"/>
            <a:ext cx="75438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34" name="Google Shape;234;p2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410706" y="576550"/>
            <a:ext cx="8328180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Разграничение доступа с помощью представлений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266" y="1154691"/>
            <a:ext cx="4545768" cy="496246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8"/>
          <p:cNvSpPr/>
          <p:nvPr/>
        </p:nvSpPr>
        <p:spPr>
          <a:xfrm>
            <a:off x="4805034" y="4274071"/>
            <a:ext cx="4288785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TABLE phone_data (person text, phone text, private boolean);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VIEW person_data AS SELECT person FROM phone_data;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GRANT SELECT ON person_data TO secretary;</a:t>
            </a: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4805034" y="2739297"/>
            <a:ext cx="4221307" cy="779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MATERIALIZED VIEW matview_name AS SELECT * FROM table_name;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REFRESH MATERIALIZED VIEW matview_name;</a:t>
            </a:r>
            <a:endParaRPr/>
          </a:p>
        </p:txBody>
      </p:sp>
      <p:sp>
        <p:nvSpPr>
          <p:cNvPr id="239" name="Google Shape;239;p28"/>
          <p:cNvSpPr/>
          <p:nvPr/>
        </p:nvSpPr>
        <p:spPr>
          <a:xfrm>
            <a:off x="4805034" y="1637789"/>
            <a:ext cx="3788217" cy="281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VIEW view_name AS SELECT * FROM table_name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46" name="Google Shape;246;p2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439152" y="660327"/>
            <a:ext cx="8451460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Row Level Security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162" y="1290882"/>
            <a:ext cx="8067675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/>
          <p:nvPr/>
        </p:nvSpPr>
        <p:spPr>
          <a:xfrm>
            <a:off x="577075" y="3563620"/>
            <a:ext cx="7595761" cy="1154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TABLE accounts (manager text, company text, contact_email text);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accounts ENABLE ROW LEVEL SECURITY;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POLICY account_managers ON accounts TO managers USING (manager = current_user);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256" name="Google Shape;256;p3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446217" y="50131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Триггеры. Мониторинг соблюдения установленных правил разграничения доступа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7922" y="1955803"/>
            <a:ext cx="3093244" cy="432911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0"/>
          <p:cNvSpPr/>
          <p:nvPr/>
        </p:nvSpPr>
        <p:spPr>
          <a:xfrm>
            <a:off x="1995813" y="1092368"/>
            <a:ext cx="5152373" cy="6924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TRIGGER emp_audit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INSERT OR UPDATE OR DELETE ON emp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ROW EXECUTE PROCEDURE process_emp_audit();</a:t>
            </a:r>
            <a:r>
              <a:rPr b="0" i="0" lang="ru-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2021-08-31T10:18:59Z</dcterms:created>
  <dc:creator>User</dc:creator>
</cp:coreProperties>
</file>