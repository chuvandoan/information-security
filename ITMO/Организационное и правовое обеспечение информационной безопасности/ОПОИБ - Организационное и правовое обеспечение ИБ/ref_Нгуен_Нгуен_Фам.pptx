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  <p:sldMasterId id="2147483665" r:id="rId2"/>
  </p:sldMasterIdLst>
  <p:notesMasterIdLst>
    <p:notesMasterId r:id="rId13"/>
  </p:notesMasterIdLst>
  <p:sldIdLst>
    <p:sldId id="256" r:id="rId3"/>
    <p:sldId id="257" r:id="rId4"/>
    <p:sldId id="270" r:id="rId5"/>
    <p:sldId id="260" r:id="rId6"/>
    <p:sldId id="272" r:id="rId7"/>
    <p:sldId id="271" r:id="rId8"/>
    <p:sldId id="275" r:id="rId9"/>
    <p:sldId id="278" r:id="rId10"/>
    <p:sldId id="276" r:id="rId11"/>
    <p:sldId id="269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48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080E"/>
    <a:srgbClr val="3B52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8" autoAdjust="0"/>
    <p:restoredTop sz="94660"/>
  </p:normalViewPr>
  <p:slideViewPr>
    <p:cSldViewPr snapToGrid="0">
      <p:cViewPr varScale="1">
        <p:scale>
          <a:sx n="81" d="100"/>
          <a:sy n="81" d="100"/>
        </p:scale>
        <p:origin x="1493" y="62"/>
      </p:cViewPr>
      <p:guideLst>
        <p:guide orient="horz" pos="2148"/>
        <p:guide pos="287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5977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38412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19948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25006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50501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63519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dk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371600" y="6132447"/>
            <a:ext cx="6400800" cy="30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5098416" y="653699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0801" y="569652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1371600" y="3901767"/>
            <a:ext cx="6400800" cy="940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2"/>
          </p:nvPr>
        </p:nvSpPr>
        <p:spPr>
          <a:xfrm>
            <a:off x="1371600" y="4849606"/>
            <a:ext cx="6400800" cy="617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ct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9" name="Google Shape;19;p2" descr="ITMO_logo1_RU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27282" y="1277169"/>
            <a:ext cx="4089436" cy="169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dk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6132447"/>
            <a:ext cx="6400800" cy="30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5098416" y="653699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5910801" y="569652"/>
            <a:ext cx="18466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3" descr="ITMO_logo1_RU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77188" y="1886465"/>
            <a:ext cx="4789624" cy="1987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764693" y="1329895"/>
            <a:ext cx="5965438" cy="1985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765696" y="3429000"/>
            <a:ext cx="5965825" cy="220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28" name="Google Shape;28;p4" descr="ITMO_logo2_RU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6353"/>
            <a:ext cx="3601115" cy="785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743140" y="1236509"/>
            <a:ext cx="2713244" cy="219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  <a:defRPr sz="2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bg>
      <p:bgPr>
        <a:solidFill>
          <a:schemeClr val="dk1"/>
        </a:solid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457200" y="2680371"/>
            <a:ext cx="8229600" cy="82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457200" y="3716939"/>
            <a:ext cx="8229600" cy="792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ctr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5" name="Google Shape;35;p6" descr="ITMO_logo1_RU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6331" y="763789"/>
            <a:ext cx="2971338" cy="1233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8"/>
          <p:cNvSpPr>
            <a:spLocks noGrp="1"/>
          </p:cNvSpPr>
          <p:nvPr>
            <p:ph type="pic" idx="2"/>
          </p:nvPr>
        </p:nvSpPr>
        <p:spPr>
          <a:xfrm>
            <a:off x="457200" y="234632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8"/>
          <p:cNvSpPr>
            <a:spLocks noGrp="1"/>
          </p:cNvSpPr>
          <p:nvPr>
            <p:ph type="pic" idx="3"/>
          </p:nvPr>
        </p:nvSpPr>
        <p:spPr>
          <a:xfrm>
            <a:off x="3276148" y="234632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>
            <a:spLocks noGrp="1"/>
          </p:cNvSpPr>
          <p:nvPr>
            <p:ph type="pic" idx="4"/>
          </p:nvPr>
        </p:nvSpPr>
        <p:spPr>
          <a:xfrm>
            <a:off x="6097917" y="234632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8"/>
          <p:cNvSpPr>
            <a:spLocks noGrp="1"/>
          </p:cNvSpPr>
          <p:nvPr>
            <p:ph type="pic" idx="5"/>
          </p:nvPr>
        </p:nvSpPr>
        <p:spPr>
          <a:xfrm>
            <a:off x="457200" y="443211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>
            <a:spLocks noGrp="1"/>
          </p:cNvSpPr>
          <p:nvPr>
            <p:ph type="pic" idx="6"/>
          </p:nvPr>
        </p:nvSpPr>
        <p:spPr>
          <a:xfrm>
            <a:off x="3276148" y="443211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>
            <a:spLocks noGrp="1"/>
          </p:cNvSpPr>
          <p:nvPr>
            <p:ph type="pic" idx="7"/>
          </p:nvPr>
        </p:nvSpPr>
        <p:spPr>
          <a:xfrm>
            <a:off x="6097917" y="443211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457200" y="386556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8"/>
          </p:nvPr>
        </p:nvSpPr>
        <p:spPr>
          <a:xfrm>
            <a:off x="3275818" y="386556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9"/>
          </p:nvPr>
        </p:nvSpPr>
        <p:spPr>
          <a:xfrm>
            <a:off x="6085705" y="386556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13"/>
          </p:nvPr>
        </p:nvSpPr>
        <p:spPr>
          <a:xfrm>
            <a:off x="457200" y="596368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4"/>
          </p:nvPr>
        </p:nvSpPr>
        <p:spPr>
          <a:xfrm>
            <a:off x="3275818" y="596368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15"/>
          </p:nvPr>
        </p:nvSpPr>
        <p:spPr>
          <a:xfrm>
            <a:off x="6085705" y="596368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body" idx="1"/>
          </p:nvPr>
        </p:nvSpPr>
        <p:spPr>
          <a:xfrm>
            <a:off x="457200" y="2328177"/>
            <a:ext cx="6273900" cy="3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60" name="Google Shape;60;p9" descr="слоган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49542" y="5076407"/>
            <a:ext cx="2412865" cy="1799997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457199" y="2346582"/>
            <a:ext cx="5018400" cy="3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659438" y="2346325"/>
            <a:ext cx="3027300" cy="18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10"/>
          <p:cNvSpPr>
            <a:spLocks noGrp="1"/>
          </p:cNvSpPr>
          <p:nvPr>
            <p:ph type="pic" idx="3"/>
          </p:nvPr>
        </p:nvSpPr>
        <p:spPr>
          <a:xfrm>
            <a:off x="5659438" y="4384675"/>
            <a:ext cx="3027300" cy="18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457200" y="1236663"/>
            <a:ext cx="8229600" cy="8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body" idx="1"/>
          </p:nvPr>
        </p:nvSpPr>
        <p:spPr>
          <a:xfrm>
            <a:off x="457200" y="2346582"/>
            <a:ext cx="4038600" cy="3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2"/>
          </p:nvPr>
        </p:nvSpPr>
        <p:spPr>
          <a:xfrm>
            <a:off x="4648200" y="2346582"/>
            <a:ext cx="4038600" cy="37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5" name="Google Shape;75;p12"/>
          <p:cNvSpPr>
            <a:spLocks noGrp="1"/>
          </p:cNvSpPr>
          <p:nvPr>
            <p:ph type="pic" idx="2"/>
          </p:nvPr>
        </p:nvSpPr>
        <p:spPr>
          <a:xfrm>
            <a:off x="457200" y="234632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2"/>
          <p:cNvSpPr>
            <a:spLocks noGrp="1"/>
          </p:cNvSpPr>
          <p:nvPr>
            <p:ph type="pic" idx="3"/>
          </p:nvPr>
        </p:nvSpPr>
        <p:spPr>
          <a:xfrm>
            <a:off x="3276148" y="234632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2"/>
          <p:cNvSpPr>
            <a:spLocks noGrp="1"/>
          </p:cNvSpPr>
          <p:nvPr>
            <p:ph type="pic" idx="4"/>
          </p:nvPr>
        </p:nvSpPr>
        <p:spPr>
          <a:xfrm>
            <a:off x="6097917" y="2346325"/>
            <a:ext cx="2589000" cy="1417500"/>
          </a:xfrm>
          <a:prstGeom prst="round1Rect">
            <a:avLst>
              <a:gd name="adj" fmla="val 37649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>
            <a:off x="457200" y="386556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5"/>
          </p:nvPr>
        </p:nvSpPr>
        <p:spPr>
          <a:xfrm>
            <a:off x="3275818" y="386556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6"/>
          </p:nvPr>
        </p:nvSpPr>
        <p:spPr>
          <a:xfrm>
            <a:off x="6085705" y="3865563"/>
            <a:ext cx="2589300" cy="3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body" idx="7"/>
          </p:nvPr>
        </p:nvSpPr>
        <p:spPr>
          <a:xfrm>
            <a:off x="457200" y="4426297"/>
            <a:ext cx="4038600" cy="16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8"/>
          </p:nvPr>
        </p:nvSpPr>
        <p:spPr>
          <a:xfrm>
            <a:off x="4648200" y="4426297"/>
            <a:ext cx="4038600" cy="16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199" y="2346582"/>
            <a:ext cx="5018400" cy="39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>
            <a:spLocks noGrp="1"/>
          </p:cNvSpPr>
          <p:nvPr>
            <p:ph type="pic" idx="2"/>
          </p:nvPr>
        </p:nvSpPr>
        <p:spPr>
          <a:xfrm>
            <a:off x="5659438" y="2360173"/>
            <a:ext cx="3036600" cy="38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subTitle" idx="1"/>
          </p:nvPr>
        </p:nvSpPr>
        <p:spPr>
          <a:xfrm>
            <a:off x="1371600" y="6132447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3" name="Google Shape;93;p15"/>
          <p:cNvSpPr txBox="1"/>
          <p:nvPr/>
        </p:nvSpPr>
        <p:spPr>
          <a:xfrm>
            <a:off x="5098416" y="65369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5"/>
          <p:cNvSpPr txBox="1"/>
          <p:nvPr/>
        </p:nvSpPr>
        <p:spPr>
          <a:xfrm>
            <a:off x="5910801" y="569652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5" descr="ITMO_logo1_RU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177188" y="1886465"/>
            <a:ext cx="4789623" cy="19876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solidFill>
          <a:schemeClr val="dk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subTitle" idx="1"/>
          </p:nvPr>
        </p:nvSpPr>
        <p:spPr>
          <a:xfrm>
            <a:off x="1371600" y="6132447"/>
            <a:ext cx="6400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320"/>
              </a:spcBef>
              <a:spcAft>
                <a:spcPts val="0"/>
              </a:spcAft>
              <a:buClr>
                <a:srgbClr val="888CC5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CC5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CC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5098416" y="65369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5910801" y="569652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 txBox="1">
            <a:spLocks noGrp="1"/>
          </p:cNvSpPr>
          <p:nvPr>
            <p:ph type="title"/>
          </p:nvPr>
        </p:nvSpPr>
        <p:spPr>
          <a:xfrm>
            <a:off x="1371600" y="3901767"/>
            <a:ext cx="6400800" cy="9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body" idx="2"/>
          </p:nvPr>
        </p:nvSpPr>
        <p:spPr>
          <a:xfrm>
            <a:off x="1371600" y="4849606"/>
            <a:ext cx="64008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ct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2" name="Google Shape;102;p16" descr="ITMO_logo1_RU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27282" y="1277169"/>
            <a:ext cx="4089435" cy="1697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bg>
      <p:bgPr>
        <a:solidFill>
          <a:schemeClr val="dk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457200" y="2680371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1"/>
          </p:nvPr>
        </p:nvSpPr>
        <p:spPr>
          <a:xfrm>
            <a:off x="457200" y="3716939"/>
            <a:ext cx="8229600" cy="7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ctr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spcBef>
                <a:spcPts val="32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106" name="Google Shape;106;p17" descr="ITMO_logo1_RU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086331" y="763789"/>
            <a:ext cx="2971338" cy="12331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457200" y="2259930"/>
            <a:ext cx="8229600" cy="3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1" name="Google Shape;111;p1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2259930"/>
            <a:ext cx="8229600" cy="3866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ftr" idx="11"/>
          </p:nvPr>
        </p:nvSpPr>
        <p:spPr>
          <a:xfrm>
            <a:off x="4030768" y="439283"/>
            <a:ext cx="46560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9144000" cy="791400"/>
          </a:xfrm>
          <a:prstGeom prst="rect">
            <a:avLst/>
          </a:prstGeom>
          <a:solidFill>
            <a:srgbClr val="0230A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457200" y="1236509"/>
            <a:ext cx="8229600" cy="8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457200" y="2259930"/>
            <a:ext cx="8229600" cy="38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/>
          <p:nvPr/>
        </p:nvSpPr>
        <p:spPr>
          <a:xfrm>
            <a:off x="-865051" y="5512166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" name="Google Shape;41;p7" descr="ITMO_logo3_RU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3630255" cy="791396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>
            <a:spLocks noGrp="1"/>
          </p:cNvSpPr>
          <p:nvPr>
            <p:ph type="subTitle" idx="1"/>
          </p:nvPr>
        </p:nvSpPr>
        <p:spPr>
          <a:xfrm>
            <a:off x="1371600" y="6132447"/>
            <a:ext cx="6400800" cy="30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rPr lang="en-US" sz="1400" b="0" i="0" u="none" strike="noStrike" cap="none" dirty="0" err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Санкт-Петербург</a:t>
            </a:r>
            <a:r>
              <a:rPr lang="en-US" sz="14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, 2020</a:t>
            </a: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Google Shape;118;p19"/>
          <p:cNvSpPr txBox="1">
            <a:spLocks noGrp="1"/>
          </p:cNvSpPr>
          <p:nvPr>
            <p:ph type="title"/>
          </p:nvPr>
        </p:nvSpPr>
        <p:spPr>
          <a:xfrm>
            <a:off x="1371600" y="3408491"/>
            <a:ext cx="6400800" cy="1147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Calibri"/>
              <a:buNone/>
            </a:pPr>
            <a:br>
              <a:rPr lang="en-US" sz="288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vi-VN" sz="2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Служба безопасности предприятия и её правовой статус</a:t>
            </a:r>
            <a:br>
              <a:rPr lang="en-US" sz="288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6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 txBox="1">
            <a:spLocks noGrp="1"/>
          </p:cNvSpPr>
          <p:nvPr>
            <p:ph type="body" idx="2"/>
          </p:nvPr>
        </p:nvSpPr>
        <p:spPr>
          <a:xfrm>
            <a:off x="1371599" y="4656841"/>
            <a:ext cx="6400801" cy="1475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: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en-US" sz="1600" b="0" i="0" u="none" strike="noStrike" cap="none" dirty="0" err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Cтуденты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</a:t>
            </a:r>
            <a:r>
              <a:rPr lang="en-US" sz="1600" b="0" i="0" u="none" strike="noStrike" cap="none" dirty="0" err="1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группы</a:t>
            </a:r>
            <a:r>
              <a:rPr lang="en-US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 N3450 </a:t>
            </a:r>
            <a:endParaRPr lang="ru-RU"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0" marR="0" lvl="0" indent="0" algn="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ru-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Нгуен.В.К </a:t>
            </a:r>
          </a:p>
          <a:p>
            <a:pPr marL="0" marR="0" lvl="0" indent="0" algn="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ru-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Фам.С.К </a:t>
            </a:r>
          </a:p>
          <a:p>
            <a:pPr marL="0" marR="0" lvl="0" indent="0" algn="r" rtl="0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None/>
            </a:pPr>
            <a:r>
              <a:rPr lang="ru-RU" sz="1600" b="0" i="0" u="none" strike="noStrike" cap="none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Calibri"/>
              </a:rPr>
              <a:t>Нгуен.В..Т.А</a:t>
            </a:r>
            <a:endParaRPr sz="1600" b="0" i="0" u="none" strike="noStrike" cap="none" dirty="0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457199" y="1236509"/>
            <a:ext cx="7511144" cy="827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Calibri"/>
              <a:buNone/>
            </a:pPr>
            <a:r>
              <a:rPr lang="vi-VN" sz="3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Служба безопасности предприятия</a:t>
            </a:r>
            <a:br>
              <a:rPr lang="en-US" sz="252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6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457199" y="2055197"/>
            <a:ext cx="7828845" cy="3797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vi-VN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Служба безопасности предприятия - это совокупность сил и средств, осуществляющая взаимосвязанные мероприятия организационно-правового характера в целях предпринимательской и производственной деятельности от реальных или физических лиц, которые приводят к существенным потерям в результате нарушения информационной безопасности фирмы.</a:t>
            </a:r>
          </a:p>
          <a:p>
            <a:pPr marL="0" marR="0" indent="2286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vi-VN" sz="18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774900" y="1004817"/>
            <a:ext cx="7511144" cy="1253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Calibri"/>
              <a:buNone/>
            </a:pPr>
            <a:r>
              <a:rPr lang="vi-VN" b="1" spc="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Правовые основы деятельности службы безопасности</a:t>
            </a:r>
            <a:br>
              <a:rPr lang="en-US" sz="252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6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457199" y="2055197"/>
            <a:ext cx="7828845" cy="3797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vi-VN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В основу деятельности службы безопасности положены:</a:t>
            </a:r>
            <a:endParaRPr lang="vi-VN" sz="1800" dirty="0">
              <a:solidFill>
                <a:srgbClr val="06080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Закон Российской Федерации «О безопасности»;</a:t>
            </a:r>
            <a:endParaRPr lang="vi-VN" sz="1800" dirty="0">
              <a:solidFill>
                <a:srgbClr val="06080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Законы и регламенты России, обеспечивающие безопасность деятельности и сохранность коммерческой тайны;</a:t>
            </a:r>
            <a:endParaRPr lang="vi-VN" sz="1800" dirty="0">
              <a:solidFill>
                <a:srgbClr val="06080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Закон о предприятиях и предпринимательской деятельности;</a:t>
            </a:r>
            <a:endParaRPr lang="vi-VN" sz="1800" dirty="0">
              <a:solidFill>
                <a:srgbClr val="06080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Трудовой кодекс;</a:t>
            </a:r>
            <a:endParaRPr lang="vi-VN" sz="1800" dirty="0">
              <a:solidFill>
                <a:srgbClr val="06080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vi-VN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Устав предприятия, коллективный договор, трудовые договоры, правила внутреннего трудового распорядка сотрудников, должностные обязанности руководителей, специалистов, рабочих и служащих.</a:t>
            </a:r>
            <a:endParaRPr lang="vi-VN" sz="1800" dirty="0">
              <a:solidFill>
                <a:srgbClr val="06080E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marR="0" indent="228600" algn="just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vi-VN" sz="1800" dirty="0">
              <a:solidFill>
                <a:srgbClr val="06080E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328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Колонтитул</a:t>
            </a:r>
            <a:endParaRPr sz="1400" b="0" i="0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0" y="612643"/>
            <a:ext cx="9144000" cy="94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vi-VN" sz="3200" b="1" spc="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Основные задачи службы безопасности</a:t>
            </a:r>
            <a:endParaRPr sz="3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A8FFD-2650-49DF-8A58-509D3B2F2C7D}"/>
              </a:ext>
            </a:extLst>
          </p:cNvPr>
          <p:cNvSpPr txBox="1"/>
          <p:nvPr/>
        </p:nvSpPr>
        <p:spPr>
          <a:xfrm>
            <a:off x="461913" y="1501391"/>
            <a:ext cx="835215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экономической безопасности, защиты собственности предприятия.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делопроизводства.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мер защиты при использовании средств связи (телетайп, телекс, телефакс, телефон).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 противодействия техническим средствам разведки на объектах предприятия.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Обеспечение внутри объектового и пропускного режима, охрана имущества и персонала предприятия.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за выполнением нормативных документов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Контроль за состоянием противопожарной безопасности на объектах предприятия.</a:t>
            </a:r>
          </a:p>
          <a:p>
            <a:endParaRPr lang="vi-V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3"/>
          <p:cNvSpPr txBox="1">
            <a:spLocks noGrp="1"/>
          </p:cNvSpPr>
          <p:nvPr>
            <p:ph type="ftr" idx="11"/>
          </p:nvPr>
        </p:nvSpPr>
        <p:spPr>
          <a:xfrm>
            <a:off x="4030768" y="247518"/>
            <a:ext cx="465603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Колонтитул</a:t>
            </a:r>
            <a:endParaRPr sz="1400" b="0" i="0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3"/>
          <p:cNvSpPr/>
          <p:nvPr/>
        </p:nvSpPr>
        <p:spPr>
          <a:xfrm>
            <a:off x="0" y="612643"/>
            <a:ext cx="9144000" cy="942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vi-VN" sz="3200" b="1" spc="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Общие функции службы безопасности</a:t>
            </a:r>
            <a:endParaRPr sz="3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3DA8FFD-2650-49DF-8A58-509D3B2F2C7D}"/>
              </a:ext>
            </a:extLst>
          </p:cNvPr>
          <p:cNvSpPr txBox="1"/>
          <p:nvPr/>
        </p:nvSpPr>
        <p:spPr>
          <a:xfrm>
            <a:off x="641023" y="1501391"/>
            <a:ext cx="7975076" cy="4987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организует и обеспечивает пропускной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 работами по правовому и организационному регулированию отношений по защите коммерческой тайны;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участвует в разработке основополагающих документов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разрабатывает и осуществляет совместно с другими подразделениями мероприятия по обеспечению работы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организует и проводит служебные расследования по фактам разглашения сведений, утрат документов и других нарушений безопасности предприятия;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нормативные акты, регламентирующие порядок обеспечения безопасности и защиты информации;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ru-RU" sz="1800" b="0" i="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организует и регулярно проводит учебу сотрудников предприятия</a:t>
            </a:r>
          </a:p>
        </p:txBody>
      </p:sp>
    </p:spTree>
    <p:extLst>
      <p:ext uri="{BB962C8B-B14F-4D97-AF65-F5344CB8AC3E}">
        <p14:creationId xmlns:p14="http://schemas.microsoft.com/office/powerpoint/2010/main" val="1444981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0" y="816281"/>
            <a:ext cx="7511144" cy="1253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Calibri"/>
              <a:buNone/>
            </a:pPr>
            <a:r>
              <a:rPr lang="ru-RU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Состав службы безопасности</a:t>
            </a:r>
            <a:br>
              <a:rPr lang="en-US" sz="252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16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1341FF8-2C1F-4FE4-9ED8-E61E83507D2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740" y="1734531"/>
            <a:ext cx="6161664" cy="48925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423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0" y="1117939"/>
            <a:ext cx="9144000" cy="47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2880"/>
            </a:pPr>
            <a:r>
              <a:rPr lang="ru-RU" sz="2800" b="1" spc="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Правой статус службы безопасности предприятия</a:t>
            </a:r>
            <a:b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565608" y="1696116"/>
            <a:ext cx="7852529" cy="404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Руководитель такой организации должен предоставить в службу внутренних дел следующие документы: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Устав службы безопасности.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Заявление об создании устава службы безопасности.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Лицензия на персонал и руководителя службы безопасности.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Информация о целях и направлениях на работу службы безопасности</a:t>
            </a:r>
          </a:p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о составе и численности персонала, средств и тд.</a:t>
            </a:r>
            <a:endParaRPr lang="vi-VN" dirty="0">
              <a:solidFill>
                <a:srgbClr val="06080E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2672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0" y="1117939"/>
            <a:ext cx="9144000" cy="47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2880"/>
            </a:pPr>
            <a:r>
              <a:rPr lang="ru-RU" sz="2800" b="1" spc="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Правой статус службы безопасности предприятия</a:t>
            </a:r>
            <a:b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386498" y="1593130"/>
            <a:ext cx="7852529" cy="4748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При этом считать службу ИБ юридической нельзя, ибо у нее нету обособленного имущества. Следующие функции должны быть распределены для эффективной работы службы ИБ относительно подразделений охранных и детективных подслужб: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обозначение коммерческой тайны;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структура, состояние и динамика нарушений в организации;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наличие материальных ценностей;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факты промышленного шпионажа;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потенциальная и реальная суммы нанесенного ущерба организации;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фактическая помощь от правоохранительных органов;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отношения с конкурентами;</a:t>
            </a:r>
          </a:p>
          <a:p>
            <a:pPr marL="28575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ru-RU" sz="1800" dirty="0">
                <a:solidFill>
                  <a:srgbClr val="06080E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  уровень подготовки сотрудников по вопросам безопасности.</a:t>
            </a:r>
            <a:endParaRPr lang="vi-VN" sz="1800" dirty="0">
              <a:solidFill>
                <a:srgbClr val="06080E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8798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>
            <a:spLocks noGrp="1"/>
          </p:cNvSpPr>
          <p:nvPr>
            <p:ph type="title"/>
          </p:nvPr>
        </p:nvSpPr>
        <p:spPr>
          <a:xfrm>
            <a:off x="0" y="1117939"/>
            <a:ext cx="9144000" cy="475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2880"/>
            </a:pPr>
            <a:r>
              <a:rPr lang="ru-RU" sz="2800" b="1" spc="1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Правой статус службы безопасности предприятия</a:t>
            </a:r>
            <a:br>
              <a:rPr lang="en-US" sz="2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0"/>
          <p:cNvSpPr txBox="1">
            <a:spLocks noGrp="1"/>
          </p:cNvSpPr>
          <p:nvPr>
            <p:ph type="body" idx="1"/>
          </p:nvPr>
        </p:nvSpPr>
        <p:spPr>
          <a:xfrm>
            <a:off x="735290" y="1696116"/>
            <a:ext cx="7852529" cy="4648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indent="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Перечень возможных действий службы безопасности по пресечению, устранению или нейтрализации угроз в рамках основных видов безопасности: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Физическая безопасность 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Информационная безопасность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Экономическая безопасность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Экологическая безопасность 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Пожарная безопасность 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Техногенная безопасность 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Психологическая </a:t>
            </a:r>
          </a:p>
          <a:p>
            <a:pPr marL="285750" marR="0" indent="-285750"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ru-RU" sz="1800" spc="10" dirty="0">
                <a:solidFill>
                  <a:srgbClr val="06080E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Научно-техническая безопасность</a:t>
            </a:r>
            <a:endParaRPr lang="vi-VN" sz="1800" dirty="0">
              <a:solidFill>
                <a:srgbClr val="06080E"/>
              </a:solidFill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897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2" descr="RÃ©sultat de recherche d'images pour &quot;ÑÐ¿Ð°ÑÐ¸Ð±Ð¾ Ð·Ð° Ð²Ð½Ð¸Ð¼Ð°Ð½Ð¸Ðµ&quot;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ver">
  <a:themeElements>
    <a:clrScheme name="Custom 1">
      <a:dk1>
        <a:srgbClr val="0230AC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over">
  <a:themeElements>
    <a:clrScheme name="Custom 1">
      <a:dk1>
        <a:srgbClr val="0230AC"/>
      </a:dk1>
      <a:lt1>
        <a:srgbClr val="FFFFFF"/>
      </a:lt1>
      <a:dk2>
        <a:srgbClr val="0230AC"/>
      </a:dk2>
      <a:lt2>
        <a:srgbClr val="FFFFFF"/>
      </a:lt2>
      <a:accent1>
        <a:srgbClr val="EC0044"/>
      </a:accent1>
      <a:accent2>
        <a:srgbClr val="0230AC"/>
      </a:accent2>
      <a:accent3>
        <a:srgbClr val="8F32AC"/>
      </a:accent3>
      <a:accent4>
        <a:srgbClr val="0057AC"/>
      </a:accent4>
      <a:accent5>
        <a:srgbClr val="EC5A00"/>
      </a:accent5>
      <a:accent6>
        <a:srgbClr val="ECEC00"/>
      </a:accent6>
      <a:hlink>
        <a:srgbClr val="4BBCFF"/>
      </a:hlink>
      <a:folHlink>
        <a:srgbClr val="C000C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480</Words>
  <Application>Microsoft Office PowerPoint</Application>
  <PresentationFormat>On-screen Show (4:3)</PresentationFormat>
  <Paragraphs>62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Symbol</vt:lpstr>
      <vt:lpstr>Times New Roman</vt:lpstr>
      <vt:lpstr>Verdana</vt:lpstr>
      <vt:lpstr>Wingdings</vt:lpstr>
      <vt:lpstr>Cover</vt:lpstr>
      <vt:lpstr>1_Cover</vt:lpstr>
      <vt:lpstr> Служба безопасности предприятия и её правовой статус </vt:lpstr>
      <vt:lpstr>Служба безопасности предприятия </vt:lpstr>
      <vt:lpstr>Правовые основы деятельности службы безопасности </vt:lpstr>
      <vt:lpstr>PowerPoint Presentation</vt:lpstr>
      <vt:lpstr>PowerPoint Presentation</vt:lpstr>
      <vt:lpstr>Состав службы безопасности </vt:lpstr>
      <vt:lpstr>Правой статус службы безопасности предприятия </vt:lpstr>
      <vt:lpstr>Правой статус службы безопасности предприятия </vt:lpstr>
      <vt:lpstr>Правой статус службы безопасности предприятия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Служба безопасности предприятия и её правовой статус </dc:title>
  <cp:lastModifiedBy>Nguyen Van Quang</cp:lastModifiedBy>
  <cp:revision>10</cp:revision>
  <dcterms:modified xsi:type="dcterms:W3CDTF">2020-11-19T00:08:32Z</dcterms:modified>
</cp:coreProperties>
</file>