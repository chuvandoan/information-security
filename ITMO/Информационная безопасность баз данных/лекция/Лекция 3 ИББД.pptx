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y="6858000" cx="9144000"/>
  <p:notesSz cx="7102475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hMTokFC0PQ0tL5C5jZSbbk2P5v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6020B1-9896-43C6-983A-D6E9C28AAE51}">
  <a:tblStyle styleId="{C16020B1-9896-43C6-983A-D6E9C28AAE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customschemas.google.com/relationships/presentationmetadata" Target="metadata"/><Relationship Id="rId23" Type="http://schemas.openxmlformats.org/officeDocument/2006/relationships/slide" Target="slides/slide16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3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3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18c5e933e9_0_258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118c5e933e9_0_258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5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40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41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5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15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18c5e933e9_0_643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118c5e933e9_0_643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8c5e933e9_0_661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118c5e933e9_0_661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18c5e933e9_0_680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118c5e933e9_0_680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8c5e933e9_0_687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118c5e933e9_0_687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18c5e933e9_0_694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118c5e933e9_0_694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18c5e933e9_0_701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118c5e933e9_0_701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18c5e933e9_0_708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118c5e933e9_0_708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18c5e933e9_0_715:notes"/>
          <p:cNvSpPr/>
          <p:nvPr>
            <p:ph idx="2" type="sldImg"/>
          </p:nvPr>
        </p:nvSpPr>
        <p:spPr>
          <a:xfrm>
            <a:off x="993775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118c5e933e9_0_715:notes"/>
          <p:cNvSpPr txBox="1"/>
          <p:nvPr>
            <p:ph idx="1" type="body"/>
          </p:nvPr>
        </p:nvSpPr>
        <p:spPr>
          <a:xfrm>
            <a:off x="710247" y="4861435"/>
            <a:ext cx="5682000" cy="4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116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7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1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18c5e933e9_0_36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118c5e933e9_0_36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118c5e933e9_0_3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18c5e933e9_0_28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118c5e933e9_0_28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g118c5e933e9_0_2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18c5e933e9_0_37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118c5e933e9_0_37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g118c5e933e9_0_37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18c5e933e9_0_39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118c5e933e9_0_39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g118c5e933e9_0_3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18c5e933e9_0_39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118c5e933e9_0_39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g118c5e933e9_0_3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18c5e933e9_0_415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118c5e933e9_0_41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g118c5e933e9_0_4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18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1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p1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9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1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1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20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2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p1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2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1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2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2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4" name="Google Shape;474;p1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23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12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p1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0" name="Google Shape;20;p1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1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8c5e933e9_0_4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g118c5e933e9_0_4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g118c5e933e9_0_4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8c5e933e9_0_44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g118c5e933e9_0_44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g118c5e933e9_0_4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12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2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1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8c5e933e9_0_44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g118c5e933e9_0_4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8c5e933e9_0_4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g118c5e933e9_0_453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g118c5e933e9_0_453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g118c5e933e9_0_4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18c5e933e9_0_4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g118c5e933e9_0_4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8c5e933e9_0_46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g118c5e933e9_0_46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g118c5e933e9_0_4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8c5e933e9_0_465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g118c5e933e9_0_4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8c5e933e9_0_46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18c5e933e9_0_46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" name="Google Shape;123;g118c5e933e9_0_46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g118c5e933e9_0_46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g118c5e933e9_0_4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8c5e933e9_0_47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8" name="Google Shape;128;g118c5e933e9_0_4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8c5e933e9_0_477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g118c5e933e9_0_477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g118c5e933e9_0_4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18c5e933e9_0_4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18c5e933e9_0_4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118c5e933e9_0_4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118c5e933e9_0_4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Relationship Id="rId4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Relationship Id="rId4" Type="http://schemas.openxmlformats.org/officeDocument/2006/relationships/image" Target="../media/image52.png"/><Relationship Id="rId5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jpg"/><Relationship Id="rId4" Type="http://schemas.openxmlformats.org/officeDocument/2006/relationships/image" Target="../media/image4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Relationship Id="rId6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Relationship Id="rId4" Type="http://schemas.openxmlformats.org/officeDocument/2006/relationships/image" Target="../media/image30.png"/><Relationship Id="rId5" Type="http://schemas.openxmlformats.org/officeDocument/2006/relationships/image" Target="../media/image51.png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/>
          <p:nvPr/>
        </p:nvSpPr>
        <p:spPr>
          <a:xfrm>
            <a:off x="838200" y="2282825"/>
            <a:ext cx="7772400" cy="2200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ИББД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Лекция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259266" y="53116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Аномалии операций с данными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315408" y="1018501"/>
            <a:ext cx="8513183" cy="19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85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Виды аномалий операций с данными:</a:t>
            </a:r>
            <a:endParaRPr/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вставки</a:t>
            </a:r>
            <a:endParaRPr/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удаления</a:t>
            </a:r>
            <a:endParaRPr/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обновления</a:t>
            </a:r>
            <a:endParaRPr/>
          </a:p>
          <a:p>
            <a:pPr indent="-342900" lvl="0" marL="428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Аномалия выборки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55" name="Google Shape;155;p1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464759" y="495973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Примеры аномалий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351" y="1290882"/>
            <a:ext cx="7158791" cy="3988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64" name="Google Shape;164;p16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372570" y="66694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 нормальных форм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338812" y="1370053"/>
            <a:ext cx="8525215" cy="3782478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Классический метод проектирования реляционных баз данных.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Основан на анализе </a:t>
            </a: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функциональных зависимостей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(ФЗ) между атрибутами отношений.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Функциональные зависимости описывают устойчивые отношения между объектами и их свойствами в рассматриваемой предметной области.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73" name="Google Shape;173;p1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372570" y="66694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Зависимости между атрибутами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372570" y="1154691"/>
            <a:ext cx="8525215" cy="3782478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Атрибут В </a:t>
            </a: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функционально зависит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от атрибута А, если каждому значению А соответствует в точности одно значение В. 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29625" y="2009725"/>
            <a:ext cx="4245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arenR"/>
            </a:pPr>
            <a:r>
              <a:rPr b="0" i="0" lang="ru-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каждому рейсу соответствует определенное время вылета;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arenR"/>
            </a:pPr>
            <a:r>
              <a:rPr b="0" i="0" lang="ru-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для каждого пилота, даты и времени вылета возможен только один рейс;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arenR"/>
            </a:pPr>
            <a:r>
              <a:rPr b="0" i="0" lang="ru-RU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на определенный день и рейс назначается определенный пилот.</a:t>
            </a:r>
            <a:endParaRPr/>
          </a:p>
        </p:txBody>
      </p:sp>
      <p:graphicFrame>
        <p:nvGraphicFramePr>
          <p:cNvPr id="177" name="Google Shape;177;p17"/>
          <p:cNvGraphicFramePr/>
          <p:nvPr/>
        </p:nvGraphicFramePr>
        <p:xfrm>
          <a:off x="5062750" y="20097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609600"/>
                <a:gridCol w="438150"/>
                <a:gridCol w="1028700"/>
                <a:gridCol w="116205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200" u="none" cap="none" strike="noStrike"/>
                        <a:t>Пилот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200" u="none" cap="none" strike="noStrike"/>
                        <a:t>Рейс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200" u="none" cap="none" strike="noStrike"/>
                        <a:t>Дата вылета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200" u="none" cap="none" strike="noStrike"/>
                        <a:t>Время вылета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Иванов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08.07.2017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10:20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Иванов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102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09.07.2017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13:30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Исаев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90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07.07.2017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6:00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Исаев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11.07.2017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10:20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Исаев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103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19:30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Петров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12.07.2017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10:20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Петров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102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11.07.2017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13:30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Фролов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90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08.07.2017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6:00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Фролов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90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12.07.2017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6:00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Фролов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104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14.07.2017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 u="none" cap="none" strike="noStrike"/>
                        <a:t>13:30</a:t>
                      </a:r>
                      <a:endParaRPr sz="1200" u="none" cap="none" strike="noStrike"/>
                    </a:p>
                  </a:txBody>
                  <a:tcPr marT="19050" marB="19050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17"/>
          <p:cNvSpPr txBox="1"/>
          <p:nvPr/>
        </p:nvSpPr>
        <p:spPr>
          <a:xfrm>
            <a:off x="763050" y="4930375"/>
            <a:ext cx="59136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Вопросы: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кто от кого ФЗ?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что можно взять в качестве ключа?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219102" y="33000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2400"/>
              <a:t>Ответ на пример</a:t>
            </a:r>
            <a:endParaRPr b="1" sz="2400"/>
          </a:p>
        </p:txBody>
      </p:sp>
      <p:sp>
        <p:nvSpPr>
          <p:cNvPr id="184" name="Google Shape;184;p10"/>
          <p:cNvSpPr txBox="1"/>
          <p:nvPr>
            <p:ph idx="1" type="body"/>
          </p:nvPr>
        </p:nvSpPr>
        <p:spPr>
          <a:xfrm>
            <a:off x="219102" y="99115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520700" rtl="0" algn="l">
              <a:lnSpc>
                <a:spcPct val="10909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/>
            </a:pP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"Время_вылета"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функционально зависим от </a:t>
            </a: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"Рейс"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"Рейс" -&gt; "Время_{} вылета"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2070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/>
            </a:pP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"Рейс"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функционально зависим от </a:t>
            </a: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{"Пилот", "Дата_вылета", "Время_вылета"}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{"Пилот", "Дата_вылета", "Время_вылета"} -&gt; "Рейс"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2070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arenR"/>
            </a:pP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"Пилот"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функционально зависим от </a:t>
            </a: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{"Рейс", "Дата_вылета"}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ru-RU">
                <a:solidFill>
                  <a:srgbClr val="8B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{"Рейс", "Дата_вылета"} -&gt; "Пилот"</a:t>
            </a:r>
            <a:r>
              <a:rPr lang="ru-RU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311699" y="49471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 sz="2400"/>
              <a:t>Зависимости между атрибутами</a:t>
            </a:r>
            <a:endParaRPr sz="2400"/>
          </a:p>
        </p:txBody>
      </p:sp>
      <p:pic>
        <p:nvPicPr>
          <p:cNvPr id="190" name="Google Shape;1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33" y="1469984"/>
            <a:ext cx="8306133" cy="3172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197" name="Google Shape;197;p1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364170" y="458356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1НФ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393614" y="1003868"/>
            <a:ext cx="8356772" cy="22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1: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отношение находится в 1НФ, если все его атрибуты являются простыми (имеют единственное значение). Исходное отношение всегда находится в 1НФ.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Переменная отношения находится в первой нормальной форме тогда и только тогда, когда в любом допустимом значении отношения каждый его кортеж содержит только одно значение для каждого из атрибутов</a:t>
            </a:r>
            <a:endParaRPr/>
          </a:p>
        </p:txBody>
      </p:sp>
      <p:graphicFrame>
        <p:nvGraphicFramePr>
          <p:cNvPr id="200" name="Google Shape;200;p18"/>
          <p:cNvGraphicFramePr/>
          <p:nvPr/>
        </p:nvGraphicFramePr>
        <p:xfrm>
          <a:off x="1816087" y="3894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985850"/>
                <a:gridCol w="1321600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Номер телефона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283-56-82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390-57-34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 П. П.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708-62-34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18"/>
          <p:cNvGraphicFramePr/>
          <p:nvPr/>
        </p:nvGraphicFramePr>
        <p:xfrm>
          <a:off x="4934868" y="3875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1000125"/>
                <a:gridCol w="12858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Номер телефона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283-56-82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 И. И.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390-57-34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 П. П.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629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708-62-34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p18"/>
          <p:cNvSpPr txBox="1"/>
          <p:nvPr/>
        </p:nvSpPr>
        <p:spPr>
          <a:xfrm>
            <a:off x="1661662" y="3602310"/>
            <a:ext cx="2776725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1 - НЕнормализованная форма (НЕ 1НФ)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784906" y="3602310"/>
            <a:ext cx="2585925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2 - нормализованное отношение (1НФ)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385105" y="52339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2НФ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385105" y="1016073"/>
            <a:ext cx="8688367" cy="1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1: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отношение находится во 2НФ, если оно находится в 1НФ и каждый неключевой атрибут функционально полно зависит от первичного ключа (составного).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переменная отношения находится во второй нормальной форме тогда и только тогда, когда она находится в первой нормальной форме и каждый неключевой атрибут неприводимо зависит от её потенциального ключа.</a:t>
            </a:r>
            <a:endParaRPr/>
          </a:p>
        </p:txBody>
      </p:sp>
      <p:graphicFrame>
        <p:nvGraphicFramePr>
          <p:cNvPr id="213" name="Google Shape;213;p22"/>
          <p:cNvGraphicFramePr/>
          <p:nvPr/>
        </p:nvGraphicFramePr>
        <p:xfrm>
          <a:off x="929115" y="420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757250"/>
                <a:gridCol w="757250"/>
                <a:gridCol w="621500"/>
                <a:gridCol w="12358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Зарплата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Наличие компьютера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Есть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2489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2"/>
          <p:cNvSpPr txBox="1"/>
          <p:nvPr/>
        </p:nvSpPr>
        <p:spPr>
          <a:xfrm>
            <a:off x="870184" y="3987844"/>
            <a:ext cx="30946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3 - НЕнормализованное отношение (НЕ 2НФ)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5" name="Google Shape;215;p22"/>
          <p:cNvGraphicFramePr/>
          <p:nvPr/>
        </p:nvGraphicFramePr>
        <p:xfrm>
          <a:off x="5707432" y="38024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785825"/>
                <a:gridCol w="757250"/>
                <a:gridCol w="65722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Зарплата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Иванов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534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25000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2"/>
          <p:cNvSpPr txBox="1"/>
          <p:nvPr/>
        </p:nvSpPr>
        <p:spPr>
          <a:xfrm>
            <a:off x="5796889" y="3478532"/>
            <a:ext cx="188100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4 - Сотрудники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" name="Google Shape;217;p22"/>
          <p:cNvGraphicFramePr/>
          <p:nvPr/>
        </p:nvGraphicFramePr>
        <p:xfrm>
          <a:off x="5707432" y="49489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800100"/>
                <a:gridCol w="14001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Должность*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Наличие компьютера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Кладовщик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Программист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820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Есть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22"/>
          <p:cNvSpPr txBox="1"/>
          <p:nvPr/>
        </p:nvSpPr>
        <p:spPr>
          <a:xfrm>
            <a:off x="5748280" y="4548168"/>
            <a:ext cx="20011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5 - Наличие компьютера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25" name="Google Shape;225;p3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445144" y="56298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3НФ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326174" y="1082058"/>
            <a:ext cx="8688367" cy="126045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1: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отношение находится в ЗНФ, если оно находится в 2НФ и каждый неключевой атрибут нетранзитивно зависит от первичного ключа.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Определение 2: </a:t>
            </a: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отношение находится в ЗНФ в том и только в том случае, если все неключевые атрибуты отношения взаимно независимы и полностью зависят от первичного ключа.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8" name="Google Shape;228;p33"/>
          <p:cNvGraphicFramePr/>
          <p:nvPr/>
        </p:nvGraphicFramePr>
        <p:xfrm>
          <a:off x="1122819" y="39647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792950"/>
                <a:gridCol w="778675"/>
                <a:gridCol w="892975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Телефон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44-55-66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33"/>
          <p:cNvSpPr txBox="1"/>
          <p:nvPr/>
        </p:nvSpPr>
        <p:spPr>
          <a:xfrm>
            <a:off x="939632" y="3621321"/>
            <a:ext cx="29515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6 - НЕнормализованное отношение (НЕ 3НФ)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0" name="Google Shape;230;p33"/>
          <p:cNvGraphicFramePr/>
          <p:nvPr/>
        </p:nvGraphicFramePr>
        <p:xfrm>
          <a:off x="5972689" y="3764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764375"/>
                <a:gridCol w="857250"/>
              </a:tblGrid>
              <a:tr h="200025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Телефон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11-22-33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44-55-66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Google Shape;231;p33"/>
          <p:cNvGraphicFramePr/>
          <p:nvPr/>
        </p:nvGraphicFramePr>
        <p:xfrm>
          <a:off x="5922683" y="4953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{C16020B1-9896-43C6-983A-D6E9C28AAE51}</a:tableStyleId>
              </a:tblPr>
              <a:tblGrid>
                <a:gridCol w="792950"/>
                <a:gridCol w="928700"/>
              </a:tblGrid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Сотрудник*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Отдел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Гришин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Васильев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Бухгалтерия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250">
                <a:tc>
                  <a:txBody>
                    <a:bodyPr/>
                    <a:lstStyle/>
                    <a:p>
                      <a:pPr indent="43949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Петров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15374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-RU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Снабжение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38100" marL="38100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33"/>
          <p:cNvSpPr txBox="1"/>
          <p:nvPr/>
        </p:nvSpPr>
        <p:spPr>
          <a:xfrm>
            <a:off x="6049095" y="3327210"/>
            <a:ext cx="165330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7 - Отделы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6049095" y="4574616"/>
            <a:ext cx="1345950" cy="3561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75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8 - Сотрудники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240" name="Google Shape;240;p34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496051" y="584868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Нормальные формы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070" y="1290882"/>
            <a:ext cx="7167192" cy="470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8c5e933e9_0_258"/>
          <p:cNvSpPr txBox="1"/>
          <p:nvPr>
            <p:ph type="title"/>
          </p:nvPr>
        </p:nvSpPr>
        <p:spPr>
          <a:xfrm>
            <a:off x="311700" y="1690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Индексы</a:t>
            </a:r>
            <a:endParaRPr/>
          </a:p>
        </p:txBody>
      </p:sp>
      <p:sp>
        <p:nvSpPr>
          <p:cNvPr id="248" name="Google Shape;248;g118c5e933e9_0_258"/>
          <p:cNvSpPr txBox="1"/>
          <p:nvPr>
            <p:ph idx="1" type="body"/>
          </p:nvPr>
        </p:nvSpPr>
        <p:spPr>
          <a:xfrm>
            <a:off x="311700" y="737353"/>
            <a:ext cx="8520600" cy="26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-RU"/>
              <a:t>Индекс </a:t>
            </a:r>
            <a:r>
              <a:rPr lang="ru-RU"/>
              <a:t>— специальная структура базы данных, используемая для ускорения поиска записей и физического доступа к записям.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-RU"/>
              <a:t>Преимущества</a:t>
            </a:r>
            <a:r>
              <a:rPr lang="ru-RU"/>
              <a:t> использования индексов: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размер индексов меньше размера индексированных данных;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структура индексов оптимизирована для выполнения операций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поиска;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-RU"/>
              <a:t>Недостатки: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когда индексов много, они занимают ощутимый объём оперативной памяти;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наличие индексов ощутимо замедляет операции модификации данных</a:t>
            </a:r>
            <a:endParaRPr/>
          </a:p>
        </p:txBody>
      </p:sp>
      <p:sp>
        <p:nvSpPr>
          <p:cNvPr id="249" name="Google Shape;249;g118c5e933e9_0_2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311700" y="1690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Разновидности индексов</a:t>
            </a:r>
            <a:endParaRPr/>
          </a:p>
        </p:txBody>
      </p:sp>
      <p:sp>
        <p:nvSpPr>
          <p:cNvPr id="255" name="Google Shape;255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56" name="Google Shape;25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482" y="1665787"/>
            <a:ext cx="3707577" cy="352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5139" y="1339666"/>
            <a:ext cx="3785379" cy="4178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311700" y="1690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Кластерный индекс</a:t>
            </a:r>
            <a:endParaRPr/>
          </a:p>
        </p:txBody>
      </p:sp>
      <p:sp>
        <p:nvSpPr>
          <p:cNvPr id="263" name="Google Shape;263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64" name="Google Shape;26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542" y="888360"/>
            <a:ext cx="7654915" cy="508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title"/>
          </p:nvPr>
        </p:nvSpPr>
        <p:spPr>
          <a:xfrm>
            <a:off x="311700" y="1690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Некластерный индекс</a:t>
            </a:r>
            <a:endParaRPr/>
          </a:p>
        </p:txBody>
      </p:sp>
      <p:sp>
        <p:nvSpPr>
          <p:cNvPr id="270" name="Google Shape;270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1" name="Google Shape;27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242" y="854115"/>
            <a:ext cx="7181515" cy="5149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5"/>
          <p:cNvSpPr txBox="1"/>
          <p:nvPr>
            <p:ph type="title"/>
          </p:nvPr>
        </p:nvSpPr>
        <p:spPr>
          <a:xfrm>
            <a:off x="311700" y="1690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Базовая структура индексов</a:t>
            </a:r>
            <a:endParaRPr/>
          </a:p>
        </p:txBody>
      </p:sp>
      <p:sp>
        <p:nvSpPr>
          <p:cNvPr id="277" name="Google Shape;277;p1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8" name="Google Shape;27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68" y="1841770"/>
            <a:ext cx="2875687" cy="3174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4655" y="1484332"/>
            <a:ext cx="5884733" cy="3889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18c5e933e9_0_643"/>
          <p:cNvSpPr txBox="1"/>
          <p:nvPr>
            <p:ph type="title"/>
          </p:nvPr>
        </p:nvSpPr>
        <p:spPr>
          <a:xfrm>
            <a:off x="311700" y="490214"/>
            <a:ext cx="8520600" cy="5167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Метод «сущность-связь»</a:t>
            </a:r>
            <a:endParaRPr/>
          </a:p>
        </p:txBody>
      </p:sp>
      <p:sp>
        <p:nvSpPr>
          <p:cNvPr id="285" name="Google Shape;285;g118c5e933e9_0_643"/>
          <p:cNvSpPr txBox="1"/>
          <p:nvPr>
            <p:ph idx="1" type="body"/>
          </p:nvPr>
        </p:nvSpPr>
        <p:spPr>
          <a:xfrm>
            <a:off x="311700" y="1284915"/>
            <a:ext cx="8520600" cy="37732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Метод «сущность-связь» основывается на одноименной инфологической модели, которая также получила название Entity Relationship или модель ER-диаграмм. Основными понятиями этой модели являются: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сущность;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атрибут сущности;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ключ сущности;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связь между сущностями;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степень связи;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класс принадлежности экземпляров сущности;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/>
              <a:t>диаграммы ЕR -типа.</a:t>
            </a:r>
            <a:endParaRPr/>
          </a:p>
        </p:txBody>
      </p:sp>
      <p:sp>
        <p:nvSpPr>
          <p:cNvPr id="286" name="Google Shape;286;g118c5e933e9_0_643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18c5e933e9_0_661"/>
          <p:cNvSpPr txBox="1"/>
          <p:nvPr>
            <p:ph type="title"/>
          </p:nvPr>
        </p:nvSpPr>
        <p:spPr>
          <a:xfrm>
            <a:off x="311700" y="478639"/>
            <a:ext cx="8520600" cy="6209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Степень связи и класс принадлежности</a:t>
            </a:r>
            <a:endParaRPr/>
          </a:p>
        </p:txBody>
      </p:sp>
      <p:sp>
        <p:nvSpPr>
          <p:cNvPr id="292" name="Google Shape;292;g118c5e933e9_0_661"/>
          <p:cNvSpPr txBox="1"/>
          <p:nvPr>
            <p:ph idx="1" type="body"/>
          </p:nvPr>
        </p:nvSpPr>
        <p:spPr>
          <a:xfrm>
            <a:off x="311700" y="1227041"/>
            <a:ext cx="8520600" cy="3622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-RU">
                <a:solidFill>
                  <a:schemeClr val="dk1"/>
                </a:solidFill>
              </a:rPr>
              <a:t>Степень связи</a:t>
            </a:r>
            <a:r>
              <a:rPr lang="ru-RU">
                <a:solidFill>
                  <a:schemeClr val="dk1"/>
                </a:solidFill>
              </a:rPr>
              <a:t> является характеристикой связи между сущностями, которая может быть типа: 1:1, 1:М, М:1, М:М (где 1 - один (-), а М - много (⋗)).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ru-RU">
                <a:solidFill>
                  <a:schemeClr val="dk1"/>
                </a:solidFill>
              </a:rPr>
              <a:t>Класс принадлежности</a:t>
            </a:r>
            <a:r>
              <a:rPr lang="ru-RU">
                <a:solidFill>
                  <a:schemeClr val="dk1"/>
                </a:solidFill>
              </a:rPr>
              <a:t> сущности может быть: обязательным ( | ) и необязательным (        ).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>
                <a:solidFill>
                  <a:schemeClr val="dk1"/>
                </a:solidFill>
              </a:rPr>
              <a:t>Класс принадлежности сущности является обязательным, если все экземпляры этой сущности обязательно участвуют в рассматриваемой связи, в противном случае класс принадлежности сущности является необязательным.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3" name="Google Shape;293;g118c5e933e9_0_661"/>
          <p:cNvSpPr/>
          <p:nvPr/>
        </p:nvSpPr>
        <p:spPr>
          <a:xfrm>
            <a:off x="2514624" y="2460673"/>
            <a:ext cx="169500" cy="2259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118c5e933e9_0_661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8c5e933e9_0_680"/>
          <p:cNvSpPr txBox="1"/>
          <p:nvPr>
            <p:ph type="title"/>
          </p:nvPr>
        </p:nvSpPr>
        <p:spPr>
          <a:xfrm>
            <a:off x="311700" y="402307"/>
            <a:ext cx="8520600" cy="5931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1 правило</a:t>
            </a:r>
            <a:endParaRPr/>
          </a:p>
        </p:txBody>
      </p:sp>
      <p:sp>
        <p:nvSpPr>
          <p:cNvPr id="300" name="Google Shape;300;g118c5e933e9_0_680"/>
          <p:cNvSpPr txBox="1"/>
          <p:nvPr>
            <p:ph idx="1" type="body"/>
          </p:nvPr>
        </p:nvSpPr>
        <p:spPr>
          <a:xfrm>
            <a:off x="404298" y="1028783"/>
            <a:ext cx="8520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1. Если степень бинарной связи 1:1 и класс принадлежности обеих сущностей обязательный, то формируется одно отношение. Первичным ключом этого отношения может быть ключ любой из двух сущностей.</a:t>
            </a:r>
            <a:endParaRPr/>
          </a:p>
        </p:txBody>
      </p:sp>
      <p:pic>
        <p:nvPicPr>
          <p:cNvPr id="301" name="Google Shape;301;g118c5e933e9_0_6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3079" y="2552700"/>
            <a:ext cx="50863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118c5e933e9_0_680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8c5e933e9_0_687"/>
          <p:cNvSpPr txBox="1"/>
          <p:nvPr>
            <p:ph type="title"/>
          </p:nvPr>
        </p:nvSpPr>
        <p:spPr>
          <a:xfrm>
            <a:off x="311700" y="282206"/>
            <a:ext cx="8520600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2 правило</a:t>
            </a:r>
            <a:endParaRPr/>
          </a:p>
        </p:txBody>
      </p:sp>
      <p:sp>
        <p:nvSpPr>
          <p:cNvPr id="308" name="Google Shape;308;g118c5e933e9_0_687"/>
          <p:cNvSpPr txBox="1"/>
          <p:nvPr>
            <p:ph idx="1" type="body"/>
          </p:nvPr>
        </p:nvSpPr>
        <p:spPr>
          <a:xfrm>
            <a:off x="311700" y="935259"/>
            <a:ext cx="8520600" cy="21288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2. Если степень связи 1:1 и класс принадлежности одной сущности обязательный, а второй - необязательный, то под каждую из сущностей формируется по отношению с первичными ключами, являющимися ключами соответствующих сущностей. Далее к отношению, сущность которого имеет обязательный класс принадлежности, добавляется в качестве атрибута ключ сущности с необязательным классом принадлежности.</a:t>
            </a:r>
            <a:endParaRPr/>
          </a:p>
        </p:txBody>
      </p:sp>
      <p:pic>
        <p:nvPicPr>
          <p:cNvPr id="309" name="Google Shape;309;g118c5e933e9_0_6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0662" y="3064153"/>
            <a:ext cx="61626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8c5e933e9_0_687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1" name="Google Shape;311;g118c5e933e9_0_6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911" y="4364372"/>
            <a:ext cx="2886075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118c5e933e9_0_6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1200" y="4297697"/>
            <a:ext cx="499110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18c5e933e9_0_694"/>
          <p:cNvSpPr txBox="1"/>
          <p:nvPr>
            <p:ph type="title"/>
          </p:nvPr>
        </p:nvSpPr>
        <p:spPr>
          <a:xfrm>
            <a:off x="392723" y="438085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3 правило</a:t>
            </a:r>
            <a:endParaRPr/>
          </a:p>
        </p:txBody>
      </p:sp>
      <p:sp>
        <p:nvSpPr>
          <p:cNvPr id="318" name="Google Shape;318;g118c5e933e9_0_694"/>
          <p:cNvSpPr txBox="1"/>
          <p:nvPr>
            <p:ph idx="1" type="body"/>
          </p:nvPr>
        </p:nvSpPr>
        <p:spPr>
          <a:xfrm>
            <a:off x="392723" y="1040147"/>
            <a:ext cx="8520600" cy="23177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3. Если степень связи 1:1 и класс принадлежности обеих сущностей является необязательным, то необходимо использовать три отношения. Два отношения соответствуют связываемым сущностям, ключи которых являются первичными в этих отношениях. Третье отношение является связным между первыми двумя, поэтому его ключ объединяет ключевые атрибуты связываемых отношений.</a:t>
            </a:r>
            <a:endParaRPr/>
          </a:p>
        </p:txBody>
      </p:sp>
      <p:pic>
        <p:nvPicPr>
          <p:cNvPr id="319" name="Google Shape;319;g118c5e933e9_0_6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987" y="3165866"/>
            <a:ext cx="629602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118c5e933e9_0_694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21" name="Google Shape;321;g118c5e933e9_0_6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723" y="4486275"/>
            <a:ext cx="27717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118c5e933e9_0_6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5690" y="4541503"/>
            <a:ext cx="470535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18c5e933e9_0_701"/>
          <p:cNvSpPr txBox="1"/>
          <p:nvPr>
            <p:ph type="title"/>
          </p:nvPr>
        </p:nvSpPr>
        <p:spPr>
          <a:xfrm>
            <a:off x="311700" y="339743"/>
            <a:ext cx="8520600" cy="5061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4 правило</a:t>
            </a:r>
            <a:endParaRPr/>
          </a:p>
        </p:txBody>
      </p:sp>
      <p:sp>
        <p:nvSpPr>
          <p:cNvPr id="328" name="Google Shape;328;g118c5e933e9_0_701"/>
          <p:cNvSpPr txBox="1"/>
          <p:nvPr>
            <p:ph idx="1" type="body"/>
          </p:nvPr>
        </p:nvSpPr>
        <p:spPr>
          <a:xfrm>
            <a:off x="311700" y="960824"/>
            <a:ext cx="8520600" cy="21064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4. Если степень связи между сущностями 1:М (или М:1) и класс принадлежности М-связной сущности обязательный, то достаточно формирование двух отношений (по одному на каждую из сущностей). При этом первичными ключами этих отношений являются ключи их сущностей. Кроме того, ключ 1-связной сущности добавляется как атрибут (внешний ключ) в отношение, соответствующее М-связной сущности.</a:t>
            </a:r>
            <a:endParaRPr/>
          </a:p>
        </p:txBody>
      </p:sp>
      <p:pic>
        <p:nvPicPr>
          <p:cNvPr id="329" name="Google Shape;329;g118c5e933e9_0_7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137" y="2943225"/>
            <a:ext cx="618172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118c5e933e9_0_701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31" name="Google Shape;331;g118c5e933e9_0_7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05" y="3975082"/>
            <a:ext cx="286702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118c5e933e9_0_7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235" y="4103669"/>
            <a:ext cx="432435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18c5e933e9_0_708"/>
          <p:cNvSpPr txBox="1"/>
          <p:nvPr>
            <p:ph type="title"/>
          </p:nvPr>
        </p:nvSpPr>
        <p:spPr>
          <a:xfrm>
            <a:off x="311700" y="247146"/>
            <a:ext cx="8520600" cy="528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5 правило</a:t>
            </a:r>
            <a:endParaRPr/>
          </a:p>
        </p:txBody>
      </p:sp>
      <p:sp>
        <p:nvSpPr>
          <p:cNvPr id="338" name="Google Shape;338;g118c5e933e9_0_708"/>
          <p:cNvSpPr txBox="1"/>
          <p:nvPr>
            <p:ph idx="1" type="body"/>
          </p:nvPr>
        </p:nvSpPr>
        <p:spPr>
          <a:xfrm>
            <a:off x="311700" y="784500"/>
            <a:ext cx="8520600" cy="2178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5. Если степень связи 1:М (М:1) и класс принадлежности М-связной сущности является необязательным, то необходимо формирование трех отношений. Два отношения соответствуют связываемым сущностям, ключи которых являются первичными в этих отношениях. Третье отношение является связным между первыми двумя (его ключ объединяет ключевые атрибуты связываемых отношений).</a:t>
            </a:r>
            <a:endParaRPr/>
          </a:p>
        </p:txBody>
      </p:sp>
      <p:pic>
        <p:nvPicPr>
          <p:cNvPr id="339" name="Google Shape;339;g118c5e933e9_0_7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154" y="2963119"/>
            <a:ext cx="62960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118c5e933e9_0_708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18c5e933e9_0_715"/>
          <p:cNvSpPr txBox="1"/>
          <p:nvPr>
            <p:ph type="title"/>
          </p:nvPr>
        </p:nvSpPr>
        <p:spPr>
          <a:xfrm>
            <a:off x="311700" y="281870"/>
            <a:ext cx="8520600" cy="483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6 правило</a:t>
            </a:r>
            <a:endParaRPr/>
          </a:p>
        </p:txBody>
      </p:sp>
      <p:sp>
        <p:nvSpPr>
          <p:cNvPr id="346" name="Google Shape;346;g118c5e933e9_0_715"/>
          <p:cNvSpPr txBox="1"/>
          <p:nvPr>
            <p:ph idx="1" type="body"/>
          </p:nvPr>
        </p:nvSpPr>
        <p:spPr>
          <a:xfrm>
            <a:off x="311700" y="856651"/>
            <a:ext cx="8520600" cy="22569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Правило 6. Если степень связи М:М, то независимо от класса принадлежности сущностей формируются три отношения. Два отношения соответствуют связываемым сущностям и их ключи являются первичными ключами этих отношений. Третье отношение является связным между первыми двумя, а его ключ объединяет ключевые атрибуты связываемых отношений.</a:t>
            </a:r>
            <a:endParaRPr/>
          </a:p>
        </p:txBody>
      </p:sp>
      <p:pic>
        <p:nvPicPr>
          <p:cNvPr id="347" name="Google Shape;347;g118c5e933e9_0_7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831" y="3113589"/>
            <a:ext cx="62960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118c5e933e9_0_715"/>
          <p:cNvSpPr txBox="1"/>
          <p:nvPr>
            <p:ph idx="12" type="sldNum"/>
          </p:nvPr>
        </p:nvSpPr>
        <p:spPr>
          <a:xfrm>
            <a:off x="8472458" y="8290163"/>
            <a:ext cx="54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6"/>
          <p:cNvSpPr txBox="1"/>
          <p:nvPr/>
        </p:nvSpPr>
        <p:spPr>
          <a:xfrm>
            <a:off x="685800" y="1599918"/>
            <a:ext cx="7772400" cy="291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ИББД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Синтаксис SQL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7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60" name="Google Shape;360;p117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61" name="Google Shape;361;p117"/>
          <p:cNvSpPr txBox="1"/>
          <p:nvPr/>
        </p:nvSpPr>
        <p:spPr>
          <a:xfrm>
            <a:off x="509882" y="1240485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Язык SQL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7"/>
          <p:cNvSpPr/>
          <p:nvPr/>
        </p:nvSpPr>
        <p:spPr>
          <a:xfrm>
            <a:off x="421105" y="1734851"/>
            <a:ext cx="8085221" cy="2497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-средства манипулирования данными (Data Manipulation Language, DML);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средства определения данных (Data Definition Language, DDL);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-расширения, предусмотренные стандартом, но не входящие в основное ядро языка;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-дополнительные средства, обеспечивающие описание особенностей, специфических для конкретной СУБД. 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18c5e933e9_0_36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69" name="Google Shape;369;g118c5e933e9_0_36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70" name="Google Shape;370;g118c5e933e9_0_368"/>
          <p:cNvSpPr txBox="1"/>
          <p:nvPr/>
        </p:nvSpPr>
        <p:spPr>
          <a:xfrm>
            <a:off x="577074" y="124048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Простые типы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118c5e933e9_0_368"/>
          <p:cNvSpPr/>
          <p:nvPr/>
        </p:nvSpPr>
        <p:spPr>
          <a:xfrm>
            <a:off x="421105" y="1734850"/>
            <a:ext cx="8085221" cy="3189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Целые числа (integer(4 байта))</a:t>
            </a:r>
            <a:endParaRPr/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Вещественные числа (real, double precision)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Десятичные числа (decimal, numeric)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Строки фиксированной длины (char)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Строки переменной длины (varchar, tex)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Дата (date)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Время суток (time)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Отметки времени (timestamp)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Логический тип (boolean)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18c5e933e9_0_282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78" name="Google Shape;378;g118c5e933e9_0_28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79" name="Google Shape;379;g118c5e933e9_0_282"/>
          <p:cNvSpPr txBox="1"/>
          <p:nvPr/>
        </p:nvSpPr>
        <p:spPr>
          <a:xfrm>
            <a:off x="577075" y="1246889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Основные конструкции и синтаксис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118c5e933e9_0_282"/>
          <p:cNvSpPr/>
          <p:nvPr/>
        </p:nvSpPr>
        <p:spPr>
          <a:xfrm>
            <a:off x="577075" y="2516778"/>
            <a:ext cx="700623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Например: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current_date;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current_date 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--------------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2023-02-15 (1 row) </a:t>
            </a:r>
            <a:endParaRPr b="0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118c5e933e9_0_282"/>
          <p:cNvSpPr/>
          <p:nvPr/>
        </p:nvSpPr>
        <p:spPr>
          <a:xfrm>
            <a:off x="561626" y="1822606"/>
            <a:ext cx="780032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Оператор SQL = вид оператора + clause (предложение)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8c5e933e9_0_37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388" name="Google Shape;388;g118c5e933e9_0_37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389" name="Google Shape;389;g118c5e933e9_0_379"/>
          <p:cNvSpPr txBox="1"/>
          <p:nvPr/>
        </p:nvSpPr>
        <p:spPr>
          <a:xfrm>
            <a:off x="444871" y="58436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Описание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118c5e933e9_0_3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74" y="1201166"/>
            <a:ext cx="3334217" cy="129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118c5e933e9_0_3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8064" y="1246025"/>
            <a:ext cx="4358861" cy="129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118c5e933e9_0_3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074" y="2745793"/>
            <a:ext cx="3077601" cy="70084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118c5e933e9_0_379"/>
          <p:cNvSpPr txBox="1"/>
          <p:nvPr/>
        </p:nvSpPr>
        <p:spPr>
          <a:xfrm>
            <a:off x="706005" y="3966862"/>
            <a:ext cx="3865995" cy="1544989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NULL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UNIQUE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118c5e933e9_0_379"/>
          <p:cNvSpPr/>
          <p:nvPr/>
        </p:nvSpPr>
        <p:spPr>
          <a:xfrm>
            <a:off x="4101494" y="2765063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 TABLE my_table ALTER COLUMN my_column TYPE BIGINT;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118c5e933e9_0_379"/>
          <p:cNvSpPr/>
          <p:nvPr/>
        </p:nvSpPr>
        <p:spPr>
          <a:xfrm>
            <a:off x="4101494" y="3452953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 TABLE table_name DROP COLUMN column_name;</a:t>
            </a:r>
            <a:endParaRPr/>
          </a:p>
        </p:txBody>
      </p:sp>
      <p:sp>
        <p:nvSpPr>
          <p:cNvPr id="396" name="Google Shape;396;g118c5e933e9_0_379"/>
          <p:cNvSpPr/>
          <p:nvPr/>
        </p:nvSpPr>
        <p:spPr>
          <a:xfrm>
            <a:off x="4101494" y="4140843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 TABLE имя_таблицы ADD COLUMN имя_столбца тип_данных;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18c5e933e9_0_390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03" name="Google Shape;403;g118c5e933e9_0_39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04" name="Google Shape;404;g118c5e933e9_0_390"/>
          <p:cNvSpPr txBox="1"/>
          <p:nvPr/>
        </p:nvSpPr>
        <p:spPr>
          <a:xfrm>
            <a:off x="477449" y="74612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Заполнение таблиц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g118c5e933e9_0_3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091" y="1563263"/>
            <a:ext cx="6617062" cy="1658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118c5e933e9_0_3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091" y="3830969"/>
            <a:ext cx="6260580" cy="1376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18c5e933e9_0_39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13" name="Google Shape;413;g118c5e933e9_0_39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14" name="Google Shape;414;g118c5e933e9_0_399"/>
          <p:cNvSpPr txBox="1"/>
          <p:nvPr/>
        </p:nvSpPr>
        <p:spPr>
          <a:xfrm>
            <a:off x="577074" y="746120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Чтение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g118c5e933e9_0_3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074" y="1290882"/>
            <a:ext cx="4733757" cy="1496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118c5e933e9_0_3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074" y="3153578"/>
            <a:ext cx="4392982" cy="1606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118c5e933e9_0_3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074" y="4726920"/>
            <a:ext cx="3589594" cy="1748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18c5e933e9_0_415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24" name="Google Shape;424;g118c5e933e9_0_415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25" name="Google Shape;425;g118c5e933e9_0_415"/>
          <p:cNvSpPr txBox="1"/>
          <p:nvPr/>
        </p:nvSpPr>
        <p:spPr>
          <a:xfrm>
            <a:off x="490606" y="1252004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Модификация и удаление данных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g118c5e933e9_0_4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152" y="1734851"/>
            <a:ext cx="4787696" cy="173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118c5e933e9_0_4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3916" y="3683842"/>
            <a:ext cx="4921504" cy="1439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8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34" name="Google Shape;434;p118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35" name="Google Shape;435;p118"/>
          <p:cNvSpPr txBox="1"/>
          <p:nvPr/>
        </p:nvSpPr>
        <p:spPr>
          <a:xfrm>
            <a:off x="561627" y="43834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Запросы к нескольким таблицам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409" y="3190057"/>
            <a:ext cx="7559417" cy="264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833" y="1617347"/>
            <a:ext cx="25812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2166" y="1598661"/>
            <a:ext cx="3337001" cy="82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9"/>
          <p:cNvSpPr txBox="1"/>
          <p:nvPr>
            <p:ph type="title"/>
          </p:nvPr>
        </p:nvSpPr>
        <p:spPr>
          <a:xfrm>
            <a:off x="577075" y="1018501"/>
            <a:ext cx="6643793" cy="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ru-RU" sz="19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Название данного слайда</a:t>
            </a:r>
            <a:endParaRPr/>
          </a:p>
        </p:txBody>
      </p:sp>
      <p:sp>
        <p:nvSpPr>
          <p:cNvPr id="445" name="Google Shape;445;p119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46" name="Google Shape;446;p119"/>
          <p:cNvSpPr txBox="1"/>
          <p:nvPr/>
        </p:nvSpPr>
        <p:spPr>
          <a:xfrm>
            <a:off x="561627" y="438341"/>
            <a:ext cx="8163732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Запросы к нескольким таблицам с учетом внешнего ключа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439" y="1290882"/>
            <a:ext cx="7504107" cy="200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0261" y="3946759"/>
            <a:ext cx="7572454" cy="2001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20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55" name="Google Shape;455;p120"/>
          <p:cNvSpPr txBox="1"/>
          <p:nvPr/>
        </p:nvSpPr>
        <p:spPr>
          <a:xfrm>
            <a:off x="561627" y="438341"/>
            <a:ext cx="8163732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Объединение таблиц. JOIN и INNER JOIN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205" y="750507"/>
            <a:ext cx="5337615" cy="1362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205" y="2245214"/>
            <a:ext cx="5337615" cy="1398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205" y="3775466"/>
            <a:ext cx="657718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4205" y="5106281"/>
            <a:ext cx="7631227" cy="143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1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66" name="Google Shape;466;p121"/>
          <p:cNvSpPr txBox="1"/>
          <p:nvPr/>
        </p:nvSpPr>
        <p:spPr>
          <a:xfrm>
            <a:off x="561627" y="438341"/>
            <a:ext cx="8163732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Объединение таблиц. LEFT JOIN и LEFT OUTER JOIN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627" y="800502"/>
            <a:ext cx="6235780" cy="162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627" y="2459129"/>
            <a:ext cx="6279847" cy="168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627" y="4140767"/>
            <a:ext cx="66675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89" y="5226617"/>
            <a:ext cx="6220085" cy="149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22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77" name="Google Shape;477;p122"/>
          <p:cNvSpPr txBox="1"/>
          <p:nvPr/>
        </p:nvSpPr>
        <p:spPr>
          <a:xfrm>
            <a:off x="561627" y="438341"/>
            <a:ext cx="8163732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Объединение таблиц. RIGHT JOIN и RIGHT OUTER JOIN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627" y="800502"/>
            <a:ext cx="6235780" cy="162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628" y="2389356"/>
            <a:ext cx="6235780" cy="1669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627" y="4059194"/>
            <a:ext cx="679132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199" y="5083322"/>
            <a:ext cx="6279275" cy="1644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3"/>
          <p:cNvSpPr txBox="1"/>
          <p:nvPr>
            <p:ph idx="12" type="sldNum"/>
          </p:nvPr>
        </p:nvSpPr>
        <p:spPr>
          <a:xfrm>
            <a:off x="50181" y="5674828"/>
            <a:ext cx="2090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488" name="Google Shape;488;p123"/>
          <p:cNvSpPr txBox="1"/>
          <p:nvPr/>
        </p:nvSpPr>
        <p:spPr>
          <a:xfrm>
            <a:off x="561627" y="438341"/>
            <a:ext cx="8163732" cy="272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Объединение таблиц. FULL JOIN и FULL OUTER JOIN</a:t>
            </a:r>
            <a:endParaRPr b="1" i="0" sz="1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627" y="800502"/>
            <a:ext cx="6235780" cy="162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627" y="2389356"/>
            <a:ext cx="6235780" cy="1669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1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627" y="4101958"/>
            <a:ext cx="667702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627" y="5122882"/>
            <a:ext cx="5519684" cy="1651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2021-08-31T10:18:59Z</dcterms:created>
  <dc:creator>User</dc:creator>
</cp:coreProperties>
</file>